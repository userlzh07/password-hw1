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8" r:id="rId3"/>
    <p:sldId id="599" r:id="rId5"/>
    <p:sldId id="285" r:id="rId6"/>
    <p:sldId id="287" r:id="rId7"/>
    <p:sldId id="600" r:id="rId8"/>
    <p:sldId id="601" r:id="rId9"/>
    <p:sldId id="602" r:id="rId10"/>
    <p:sldId id="603" r:id="rId11"/>
    <p:sldId id="604" r:id="rId12"/>
    <p:sldId id="605" r:id="rId13"/>
    <p:sldId id="606" r:id="rId14"/>
    <p:sldId id="607" r:id="rId15"/>
    <p:sldId id="608" r:id="rId16"/>
    <p:sldId id="609" r:id="rId17"/>
    <p:sldId id="610" r:id="rId18"/>
    <p:sldId id="611" r:id="rId19"/>
    <p:sldId id="612" r:id="rId20"/>
    <p:sldId id="613" r:id="rId21"/>
    <p:sldId id="614" r:id="rId22"/>
    <p:sldId id="615" r:id="rId23"/>
    <p:sldId id="616" r:id="rId24"/>
    <p:sldId id="617" r:id="rId25"/>
    <p:sldId id="618" r:id="rId26"/>
    <p:sldId id="619" r:id="rId27"/>
    <p:sldId id="620" r:id="rId28"/>
    <p:sldId id="621" r:id="rId29"/>
    <p:sldId id="622" r:id="rId30"/>
    <p:sldId id="623" r:id="rId31"/>
    <p:sldId id="624" r:id="rId32"/>
    <p:sldId id="625" r:id="rId33"/>
    <p:sldId id="626" r:id="rId34"/>
    <p:sldId id="627" r:id="rId35"/>
    <p:sldId id="628" r:id="rId36"/>
    <p:sldId id="629" r:id="rId37"/>
    <p:sldId id="631" r:id="rId38"/>
    <p:sldId id="630" r:id="rId39"/>
    <p:sldId id="632" r:id="rId40"/>
    <p:sldId id="633" r:id="rId41"/>
    <p:sldId id="634" r:id="rId42"/>
    <p:sldId id="635" r:id="rId43"/>
    <p:sldId id="636" r:id="rId44"/>
    <p:sldId id="637" r:id="rId45"/>
    <p:sldId id="638" r:id="rId46"/>
    <p:sldId id="639" r:id="rId47"/>
    <p:sldId id="640" r:id="rId48"/>
    <p:sldId id="641" r:id="rId49"/>
    <p:sldId id="642" r:id="rId50"/>
    <p:sldId id="643" r:id="rId51"/>
    <p:sldId id="644" r:id="rId52"/>
    <p:sldId id="645" r:id="rId53"/>
    <p:sldId id="678" r:id="rId54"/>
    <p:sldId id="646" r:id="rId55"/>
    <p:sldId id="647" r:id="rId56"/>
    <p:sldId id="648" r:id="rId57"/>
    <p:sldId id="649" r:id="rId58"/>
    <p:sldId id="650" r:id="rId59"/>
    <p:sldId id="651" r:id="rId60"/>
    <p:sldId id="652" r:id="rId61"/>
    <p:sldId id="653" r:id="rId62"/>
    <p:sldId id="654" r:id="rId63"/>
    <p:sldId id="655" r:id="rId64"/>
    <p:sldId id="656" r:id="rId65"/>
    <p:sldId id="657" r:id="rId66"/>
    <p:sldId id="658" r:id="rId67"/>
    <p:sldId id="659" r:id="rId68"/>
    <p:sldId id="672" r:id="rId69"/>
    <p:sldId id="673" r:id="rId70"/>
    <p:sldId id="677" r:id="rId71"/>
    <p:sldId id="676" r:id="rId72"/>
    <p:sldId id="660" r:id="rId73"/>
    <p:sldId id="661" r:id="rId74"/>
    <p:sldId id="662" r:id="rId75"/>
    <p:sldId id="663" r:id="rId76"/>
    <p:sldId id="664" r:id="rId77"/>
    <p:sldId id="665" r:id="rId78"/>
    <p:sldId id="666" r:id="rId79"/>
    <p:sldId id="667" r:id="rId80"/>
    <p:sldId id="668" r:id="rId81"/>
    <p:sldId id="679" r:id="rId82"/>
    <p:sldId id="682" r:id="rId83"/>
    <p:sldId id="680" r:id="rId84"/>
    <p:sldId id="681" r:id="rId85"/>
    <p:sldId id="669" r:id="rId86"/>
    <p:sldId id="283" r:id="rId87"/>
    <p:sldId id="670" r:id="rId88"/>
  </p:sldIdLst>
  <p:sldSz cx="12192000" cy="6858000"/>
  <p:notesSz cx="6858000" cy="9144000"/>
  <p:embeddedFontLst>
    <p:embeddedFont>
      <p:font typeface="Calibri" panose="020F0502020204030204" pitchFamily="34" charset="0"/>
      <p:regular r:id="rId92"/>
      <p:bold r:id="rId93"/>
      <p:italic r:id="rId94"/>
      <p:boldItalic r:id="rId95"/>
    </p:embeddedFont>
    <p:embeddedFont>
      <p:font typeface="微软雅黑" panose="020B0503020204020204" pitchFamily="34" charset="-122"/>
      <p:regular r:id="rId96"/>
      <p:bold r:id="rId97"/>
    </p:embeddedFont>
    <p:embeddedFont>
      <p:font typeface="黑体" panose="02010609060101010101" pitchFamily="49" charset="-122"/>
      <p:regular r:id="rId98"/>
    </p:embeddedFont>
    <p:embeddedFont>
      <p:font typeface="楷体" panose="02010609060101010101" pitchFamily="49" charset="-122"/>
      <p:regular r:id="rId99"/>
    </p:embeddedFont>
    <p:embeddedFont>
      <p:font typeface="等线" panose="02010600030101010101" charset="-122"/>
      <p:regular r:id="rId100"/>
      <p:bold r:id="rId101"/>
    </p:embeddedFont>
    <p:embeddedFont>
      <p:font typeface="Consolas" panose="020B0609020204030204" pitchFamily="49" charset="0"/>
      <p:regular r:id="rId102"/>
      <p:bold r:id="rId103"/>
      <p:italic r:id="rId104"/>
      <p:boldItalic r:id="rId105"/>
    </p:embeddedFont>
  </p:embeddedFontLst>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Calibri" panose="020F050202020403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Calibri" panose="020F050202020403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Calibri" panose="020F050202020403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Calibri" panose="020F050202020403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E2A"/>
    <a:srgbClr val="262626"/>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8" autoAdjust="0"/>
    <p:restoredTop sz="92601" autoAdjust="0"/>
  </p:normalViewPr>
  <p:slideViewPr>
    <p:cSldViewPr snapToGrid="0" showGuides="1">
      <p:cViewPr varScale="1">
        <p:scale>
          <a:sx n="88" d="100"/>
          <a:sy n="88" d="100"/>
        </p:scale>
        <p:origin x="100" y="276"/>
      </p:cViewPr>
      <p:guideLst>
        <p:guide orient="horz" pos="2160"/>
        <p:guide pos="3824"/>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font" Target="fonts/font8.fntdata"/><Relationship Id="rId98" Type="http://schemas.openxmlformats.org/officeDocument/2006/relationships/font" Target="fonts/font7.fntdata"/><Relationship Id="rId97" Type="http://schemas.openxmlformats.org/officeDocument/2006/relationships/font" Target="fonts/font6.fntdata"/><Relationship Id="rId96" Type="http://schemas.openxmlformats.org/officeDocument/2006/relationships/font" Target="fonts/font5.fntdata"/><Relationship Id="rId95" Type="http://schemas.openxmlformats.org/officeDocument/2006/relationships/font" Target="fonts/font4.fntdata"/><Relationship Id="rId94" Type="http://schemas.openxmlformats.org/officeDocument/2006/relationships/font" Target="fonts/font3.fntdata"/><Relationship Id="rId93" Type="http://schemas.openxmlformats.org/officeDocument/2006/relationships/font" Target="fonts/font2.fntdata"/><Relationship Id="rId92" Type="http://schemas.openxmlformats.org/officeDocument/2006/relationships/font" Target="fonts/font1.fntdata"/><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6.xml"/><Relationship Id="rId89" Type="http://schemas.openxmlformats.org/officeDocument/2006/relationships/presProps" Target="presProps.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5" Type="http://schemas.openxmlformats.org/officeDocument/2006/relationships/font" Target="fonts/font14.fntdata"/><Relationship Id="rId104" Type="http://schemas.openxmlformats.org/officeDocument/2006/relationships/font" Target="fonts/font13.fntdata"/><Relationship Id="rId103" Type="http://schemas.openxmlformats.org/officeDocument/2006/relationships/font" Target="fonts/font12.fntdata"/><Relationship Id="rId102" Type="http://schemas.openxmlformats.org/officeDocument/2006/relationships/font" Target="fonts/font11.fntdata"/><Relationship Id="rId101" Type="http://schemas.openxmlformats.org/officeDocument/2006/relationships/font" Target="fonts/font10.fntdata"/><Relationship Id="rId100" Type="http://schemas.openxmlformats.org/officeDocument/2006/relationships/font" Target="fonts/font9.fntdata"/><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058AE3-69B9-448D-B552-201AF353C8B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81993E-3BF2-422D-8801-ED29573426B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a:t>
            </a:r>
            <a:endParaRPr lang="zh-CN" altLang="en-US" dirty="0"/>
          </a:p>
        </p:txBody>
      </p:sp>
      <p:sp>
        <p:nvSpPr>
          <p:cNvPr id="4" name="灯片编号占位符 3"/>
          <p:cNvSpPr>
            <a:spLocks noGrp="1"/>
          </p:cNvSpPr>
          <p:nvPr>
            <p:ph type="sldNum" sz="quarter" idx="5"/>
          </p:nvPr>
        </p:nvSpPr>
        <p:spPr/>
        <p:txBody>
          <a:bodyPr/>
          <a:lstStyle/>
          <a:p>
            <a:fld id="{8781993E-3BF2-422D-8801-ED29573426B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可以先写出前面</a:t>
            </a:r>
            <a:r>
              <a:rPr lang="en-US" altLang="zh-CN" dirty="0"/>
              <a:t>N-1</a:t>
            </a:r>
            <a:r>
              <a:rPr lang="zh-CN" altLang="en-US" dirty="0"/>
              <a:t>个分组，计算出</a:t>
            </a:r>
            <a:r>
              <a:rPr lang="en-US" altLang="zh-CN" dirty="0"/>
              <a:t>H</a:t>
            </a:r>
            <a:r>
              <a:rPr lang="en-US" altLang="zh-CN" baseline="-25000" dirty="0"/>
              <a:t>i-1</a:t>
            </a:r>
            <a:r>
              <a:rPr lang="en-US" altLang="zh-CN" dirty="0"/>
              <a:t>, </a:t>
            </a:r>
            <a:r>
              <a:rPr lang="zh-CN" altLang="en-US" dirty="0"/>
              <a:t>将</a:t>
            </a:r>
            <a:r>
              <a:rPr lang="en-US" altLang="zh-CN" dirty="0"/>
              <a:t>G</a:t>
            </a:r>
            <a:r>
              <a:rPr lang="zh-CN" altLang="en-US" dirty="0"/>
              <a:t>用</a:t>
            </a:r>
            <a:r>
              <a:rPr lang="en-US" altLang="zh-CN" dirty="0"/>
              <a:t>H</a:t>
            </a:r>
            <a:r>
              <a:rPr lang="en-US" altLang="zh-CN" baseline="-25000" dirty="0"/>
              <a:t>i-1</a:t>
            </a:r>
            <a:r>
              <a:rPr lang="zh-CN" altLang="en-US" dirty="0"/>
              <a:t>解密就可以直接计算出第</a:t>
            </a:r>
            <a:r>
              <a:rPr lang="en-US" altLang="zh-CN" dirty="0"/>
              <a:t>N</a:t>
            </a:r>
            <a:r>
              <a:rPr lang="zh-CN" altLang="en-US" dirty="0"/>
              <a:t>分组</a:t>
            </a:r>
            <a:endParaRPr lang="zh-CN" altLang="en-US" dirty="0"/>
          </a:p>
        </p:txBody>
      </p:sp>
      <p:sp>
        <p:nvSpPr>
          <p:cNvPr id="4" name="灯片编号占位符 3"/>
          <p:cNvSpPr>
            <a:spLocks noGrp="1"/>
          </p:cNvSpPr>
          <p:nvPr>
            <p:ph type="sldNum" sz="quarter" idx="5"/>
          </p:nvPr>
        </p:nvSpPr>
        <p:spPr/>
        <p:txBody>
          <a:bodyPr/>
          <a:lstStyle/>
          <a:p>
            <a:fld id="{8781993E-3BF2-422D-8801-ED29573426B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Key</a:t>
            </a:r>
            <a:r>
              <a:rPr lang="zh-CN" altLang="en-US" dirty="0"/>
              <a:t>摆在前面时，其作用就相当于一个初始向量。攻击者可以在后面追加内容而不被发现。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81993E-3BF2-422D-8801-ED29573426B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中间也可以插入更多个其它分组，但需保证最后一个分组与反馈的异或等于</a:t>
            </a:r>
            <a:r>
              <a:rPr lang="en-US" altLang="zh-CN" dirty="0"/>
              <a:t>X</a:t>
            </a:r>
            <a:r>
              <a:rPr lang="zh-CN" altLang="en-US" dirty="0"/>
              <a:t>。反馈值可以通过欺骗等手段获得</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81993E-3BF2-422D-8801-ED29573426B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bg>
      <p:bgPr>
        <a:blipFill dpi="0" rotWithShape="1">
          <a:blip r:embed="rId2">
            <a:alphaModFix amt="75000"/>
            <a:lum/>
          </a:blip>
          <a:srcRect/>
          <a:stretch>
            <a:fillRect l="-2000" r="-2000"/>
          </a:stretch>
        </a:blipFill>
        <a:effectLst/>
      </p:bgPr>
    </p:bg>
    <p:spTree>
      <p:nvGrpSpPr>
        <p:cNvPr id="1" name=""/>
        <p:cNvGrpSpPr/>
        <p:nvPr/>
      </p:nvGrpSpPr>
      <p:grpSpPr>
        <a:xfrm>
          <a:off x="0" y="0"/>
          <a:ext cx="0" cy="0"/>
          <a:chOff x="0" y="0"/>
          <a:chExt cx="0" cy="0"/>
        </a:xfrm>
      </p:grpSpPr>
      <p:sp>
        <p:nvSpPr>
          <p:cNvPr id="26" name="矩形 25"/>
          <p:cNvSpPr/>
          <p:nvPr userDrawn="1"/>
        </p:nvSpPr>
        <p:spPr>
          <a:xfrm>
            <a:off x="4763" y="-16934"/>
            <a:ext cx="12192000" cy="687493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userDrawn="1"/>
        </p:nvSpPr>
        <p:spPr>
          <a:xfrm>
            <a:off x="4763" y="-16934"/>
            <a:ext cx="12192000" cy="6874934"/>
          </a:xfrm>
          <a:prstGeom prst="rect">
            <a:avLst/>
          </a:prstGeom>
          <a:solidFill>
            <a:schemeClr val="tx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0" name="任意多边形 7"/>
          <p:cNvSpPr/>
          <p:nvPr userDrawn="1"/>
        </p:nvSpPr>
        <p:spPr>
          <a:xfrm>
            <a:off x="-4763" y="4425950"/>
            <a:ext cx="12192001" cy="2070100"/>
          </a:xfrm>
          <a:custGeom>
            <a:avLst/>
            <a:gdLst>
              <a:gd name="connsiteX0" fmla="*/ 0 w 12192000"/>
              <a:gd name="connsiteY0" fmla="*/ 0 h 2070437"/>
              <a:gd name="connsiteX1" fmla="*/ 5436625 w 12192000"/>
              <a:gd name="connsiteY1" fmla="*/ 0 h 2070437"/>
              <a:gd name="connsiteX2" fmla="*/ 5525440 w 12192000"/>
              <a:gd name="connsiteY2" fmla="*/ 7837 h 2070437"/>
              <a:gd name="connsiteX3" fmla="*/ 6091201 w 12192000"/>
              <a:gd name="connsiteY3" fmla="*/ 559628 h 2070437"/>
              <a:gd name="connsiteX4" fmla="*/ 6096239 w 12192000"/>
              <a:gd name="connsiteY4" fmla="*/ 609600 h 2070437"/>
              <a:gd name="connsiteX5" fmla="*/ 6114805 w 12192000"/>
              <a:gd name="connsiteY5" fmla="*/ 609600 h 2070437"/>
              <a:gd name="connsiteX6" fmla="*/ 6119842 w 12192000"/>
              <a:gd name="connsiteY6" fmla="*/ 559628 h 2070437"/>
              <a:gd name="connsiteX7" fmla="*/ 6685604 w 12192000"/>
              <a:gd name="connsiteY7" fmla="*/ 7837 h 2070437"/>
              <a:gd name="connsiteX8" fmla="*/ 6774419 w 12192000"/>
              <a:gd name="connsiteY8" fmla="*/ 0 h 2070437"/>
              <a:gd name="connsiteX9" fmla="*/ 12192000 w 12192000"/>
              <a:gd name="connsiteY9" fmla="*/ 0 h 2070437"/>
              <a:gd name="connsiteX10" fmla="*/ 12192000 w 12192000"/>
              <a:gd name="connsiteY10" fmla="*/ 2070437 h 2070437"/>
              <a:gd name="connsiteX11" fmla="*/ 0 w 12192000"/>
              <a:gd name="connsiteY11" fmla="*/ 2070437 h 207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70437">
                <a:moveTo>
                  <a:pt x="0" y="0"/>
                </a:moveTo>
                <a:lnTo>
                  <a:pt x="5436625" y="0"/>
                </a:lnTo>
                <a:lnTo>
                  <a:pt x="5525440" y="7837"/>
                </a:lnTo>
                <a:cubicBezTo>
                  <a:pt x="5808922" y="58474"/>
                  <a:pt x="6033693" y="278587"/>
                  <a:pt x="6091201" y="559628"/>
                </a:cubicBezTo>
                <a:lnTo>
                  <a:pt x="6096239" y="609600"/>
                </a:lnTo>
                <a:lnTo>
                  <a:pt x="6114805" y="609600"/>
                </a:lnTo>
                <a:lnTo>
                  <a:pt x="6119842" y="559628"/>
                </a:lnTo>
                <a:cubicBezTo>
                  <a:pt x="6177351" y="278587"/>
                  <a:pt x="6402121" y="58474"/>
                  <a:pt x="6685604" y="7837"/>
                </a:cubicBezTo>
                <a:lnTo>
                  <a:pt x="6774419" y="0"/>
                </a:lnTo>
                <a:lnTo>
                  <a:pt x="12192000" y="0"/>
                </a:lnTo>
                <a:lnTo>
                  <a:pt x="12192000" y="2070437"/>
                </a:lnTo>
                <a:lnTo>
                  <a:pt x="0" y="207043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2" name="任意多边形 8"/>
          <p:cNvSpPr/>
          <p:nvPr userDrawn="1"/>
        </p:nvSpPr>
        <p:spPr>
          <a:xfrm>
            <a:off x="4763" y="4787900"/>
            <a:ext cx="12192000" cy="2070100"/>
          </a:xfrm>
          <a:custGeom>
            <a:avLst/>
            <a:gdLst>
              <a:gd name="connsiteX0" fmla="*/ 0 w 12192000"/>
              <a:gd name="connsiteY0" fmla="*/ 0 h 2070437"/>
              <a:gd name="connsiteX1" fmla="*/ 5436625 w 12192000"/>
              <a:gd name="connsiteY1" fmla="*/ 0 h 2070437"/>
              <a:gd name="connsiteX2" fmla="*/ 5525440 w 12192000"/>
              <a:gd name="connsiteY2" fmla="*/ 7837 h 2070437"/>
              <a:gd name="connsiteX3" fmla="*/ 6091201 w 12192000"/>
              <a:gd name="connsiteY3" fmla="*/ 559628 h 2070437"/>
              <a:gd name="connsiteX4" fmla="*/ 6096239 w 12192000"/>
              <a:gd name="connsiteY4" fmla="*/ 609600 h 2070437"/>
              <a:gd name="connsiteX5" fmla="*/ 6114805 w 12192000"/>
              <a:gd name="connsiteY5" fmla="*/ 609600 h 2070437"/>
              <a:gd name="connsiteX6" fmla="*/ 6119842 w 12192000"/>
              <a:gd name="connsiteY6" fmla="*/ 559628 h 2070437"/>
              <a:gd name="connsiteX7" fmla="*/ 6685604 w 12192000"/>
              <a:gd name="connsiteY7" fmla="*/ 7837 h 2070437"/>
              <a:gd name="connsiteX8" fmla="*/ 6774419 w 12192000"/>
              <a:gd name="connsiteY8" fmla="*/ 0 h 2070437"/>
              <a:gd name="connsiteX9" fmla="*/ 12192000 w 12192000"/>
              <a:gd name="connsiteY9" fmla="*/ 0 h 2070437"/>
              <a:gd name="connsiteX10" fmla="*/ 12192000 w 12192000"/>
              <a:gd name="connsiteY10" fmla="*/ 2070437 h 2070437"/>
              <a:gd name="connsiteX11" fmla="*/ 0 w 12192000"/>
              <a:gd name="connsiteY11" fmla="*/ 2070437 h 207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70437">
                <a:moveTo>
                  <a:pt x="0" y="0"/>
                </a:moveTo>
                <a:lnTo>
                  <a:pt x="5436625" y="0"/>
                </a:lnTo>
                <a:lnTo>
                  <a:pt x="5525440" y="7837"/>
                </a:lnTo>
                <a:cubicBezTo>
                  <a:pt x="5808922" y="58474"/>
                  <a:pt x="6033693" y="278587"/>
                  <a:pt x="6091201" y="559628"/>
                </a:cubicBezTo>
                <a:lnTo>
                  <a:pt x="6096239" y="609600"/>
                </a:lnTo>
                <a:lnTo>
                  <a:pt x="6114805" y="609600"/>
                </a:lnTo>
                <a:lnTo>
                  <a:pt x="6119842" y="559628"/>
                </a:lnTo>
                <a:cubicBezTo>
                  <a:pt x="6177351" y="278587"/>
                  <a:pt x="6402121" y="58474"/>
                  <a:pt x="6685604" y="7837"/>
                </a:cubicBezTo>
                <a:lnTo>
                  <a:pt x="6774419" y="0"/>
                </a:lnTo>
                <a:lnTo>
                  <a:pt x="12192000" y="0"/>
                </a:lnTo>
                <a:lnTo>
                  <a:pt x="12192000" y="2070437"/>
                </a:lnTo>
                <a:lnTo>
                  <a:pt x="0" y="207043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底">
    <p:bg>
      <p:bgPr>
        <a:blipFill dpi="0" rotWithShape="1">
          <a:blip r:embed="rId2">
            <a:alphaModFix amt="75000"/>
            <a:lum/>
          </a:blip>
          <a:srcRect/>
          <a:stretch>
            <a:fillRect l="-2000" r="-2000"/>
          </a:stretch>
        </a:blipFill>
        <a:effectLst/>
      </p:bgPr>
    </p:bg>
    <p:spTree>
      <p:nvGrpSpPr>
        <p:cNvPr id="1" name=""/>
        <p:cNvGrpSpPr/>
        <p:nvPr/>
      </p:nvGrpSpPr>
      <p:grpSpPr>
        <a:xfrm>
          <a:off x="0" y="0"/>
          <a:ext cx="0" cy="0"/>
          <a:chOff x="0" y="0"/>
          <a:chExt cx="0" cy="0"/>
        </a:xfrm>
      </p:grpSpPr>
      <p:sp>
        <p:nvSpPr>
          <p:cNvPr id="26" name="矩形 25"/>
          <p:cNvSpPr/>
          <p:nvPr userDrawn="1"/>
        </p:nvSpPr>
        <p:spPr>
          <a:xfrm>
            <a:off x="4763" y="-16934"/>
            <a:ext cx="12192000" cy="687493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userDrawn="1"/>
        </p:nvSpPr>
        <p:spPr>
          <a:xfrm>
            <a:off x="4763" y="-16934"/>
            <a:ext cx="12192000" cy="6874934"/>
          </a:xfrm>
          <a:prstGeom prst="rect">
            <a:avLst/>
          </a:prstGeom>
          <a:solidFill>
            <a:schemeClr val="tx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6" name="五边形 11"/>
          <p:cNvSpPr/>
          <p:nvPr userDrawn="1"/>
        </p:nvSpPr>
        <p:spPr>
          <a:xfrm>
            <a:off x="95250" y="0"/>
            <a:ext cx="3038475" cy="6858000"/>
          </a:xfrm>
          <a:prstGeom prst="homePlate">
            <a:avLst>
              <a:gd name="adj" fmla="val 466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五边形 8"/>
          <p:cNvSpPr/>
          <p:nvPr userDrawn="1"/>
        </p:nvSpPr>
        <p:spPr>
          <a:xfrm>
            <a:off x="0" y="0"/>
            <a:ext cx="3038475" cy="6858000"/>
          </a:xfrm>
          <a:prstGeom prst="homePlate">
            <a:avLst>
              <a:gd name="adj" fmla="val 5701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任意多边形 6"/>
          <p:cNvSpPr/>
          <p:nvPr userDrawn="1"/>
        </p:nvSpPr>
        <p:spPr>
          <a:xfrm>
            <a:off x="0" y="0"/>
            <a:ext cx="2847975" cy="6858000"/>
          </a:xfrm>
          <a:custGeom>
            <a:avLst/>
            <a:gdLst>
              <a:gd name="connsiteX0" fmla="*/ 0 w 2847975"/>
              <a:gd name="connsiteY0" fmla="*/ 0 h 6858002"/>
              <a:gd name="connsiteX1" fmla="*/ 2847975 w 2847975"/>
              <a:gd name="connsiteY1" fmla="*/ 3429001 h 6858002"/>
              <a:gd name="connsiteX2" fmla="*/ 0 w 2847975"/>
              <a:gd name="connsiteY2" fmla="*/ 6858002 h 6858002"/>
            </a:gdLst>
            <a:ahLst/>
            <a:cxnLst>
              <a:cxn ang="0">
                <a:pos x="connsiteX0" y="connsiteY0"/>
              </a:cxn>
              <a:cxn ang="0">
                <a:pos x="connsiteX1" y="connsiteY1"/>
              </a:cxn>
              <a:cxn ang="0">
                <a:pos x="connsiteX2" y="connsiteY2"/>
              </a:cxn>
            </a:cxnLst>
            <a:rect l="l" t="t" r="r" b="b"/>
            <a:pathLst>
              <a:path w="2847975" h="6858002">
                <a:moveTo>
                  <a:pt x="0" y="0"/>
                </a:moveTo>
                <a:lnTo>
                  <a:pt x="2847975" y="3429001"/>
                </a:lnTo>
                <a:lnTo>
                  <a:pt x="0" y="6858002"/>
                </a:lnTo>
                <a:close/>
              </a:path>
            </a:pathLst>
          </a:custGeom>
          <a:blipFill dpi="0" rotWithShape="1">
            <a:blip r:embed="rId2" cstate="print"/>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2" name="等腰三角形 11"/>
          <p:cNvSpPr/>
          <p:nvPr userDrawn="1"/>
        </p:nvSpPr>
        <p:spPr>
          <a:xfrm rot="5400000">
            <a:off x="-2005012" y="2005012"/>
            <a:ext cx="6858000" cy="2847975"/>
          </a:xfrm>
          <a:prstGeom prst="triangle">
            <a:avLst/>
          </a:prstGeom>
          <a:solidFill>
            <a:srgbClr val="000E2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文本框 9"/>
          <p:cNvSpPr txBox="1">
            <a:spLocks noChangeArrowheads="1"/>
          </p:cNvSpPr>
          <p:nvPr userDrawn="1"/>
        </p:nvSpPr>
        <p:spPr bwMode="auto">
          <a:xfrm>
            <a:off x="522288" y="2713038"/>
            <a:ext cx="1312862"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hangingPunct="1"/>
            <a:r>
              <a:rPr lang="zh-CN" altLang="en-US" sz="4400" dirty="0">
                <a:solidFill>
                  <a:schemeClr val="bg1"/>
                </a:solidFill>
                <a:latin typeface="黑体" panose="02010609060101010101" pitchFamily="49" charset="-122"/>
                <a:ea typeface="黑体" panose="02010609060101010101" pitchFamily="49" charset="-122"/>
              </a:rPr>
              <a:t>目录</a:t>
            </a:r>
            <a:endParaRPr lang="zh-CN" altLang="en-US" sz="4400" dirty="0">
              <a:solidFill>
                <a:schemeClr val="bg1"/>
              </a:solidFill>
              <a:latin typeface="黑体" panose="02010609060101010101" pitchFamily="49" charset="-122"/>
              <a:ea typeface="黑体" panose="02010609060101010101" pitchFamily="49" charset="-122"/>
            </a:endParaRPr>
          </a:p>
        </p:txBody>
      </p:sp>
      <p:sp>
        <p:nvSpPr>
          <p:cNvPr id="16" name="矩形 15"/>
          <p:cNvSpPr/>
          <p:nvPr userDrawn="1"/>
        </p:nvSpPr>
        <p:spPr>
          <a:xfrm>
            <a:off x="607159" y="3343275"/>
            <a:ext cx="1620957" cy="523220"/>
          </a:xfrm>
          <a:prstGeom prst="rect">
            <a:avLst/>
          </a:prstGeom>
        </p:spPr>
        <p:txBody>
          <a:bodyPr wrap="none">
            <a:spAutoFit/>
          </a:bodyPr>
          <a:lstStyle/>
          <a:p>
            <a:pPr algn="ctr" eaLnBrk="1" fontAlgn="auto" hangingPunct="1">
              <a:spcBef>
                <a:spcPts val="0"/>
              </a:spcBef>
              <a:spcAft>
                <a:spcPts val="0"/>
              </a:spcAft>
              <a:defRPr/>
            </a:pPr>
            <a:r>
              <a:rPr lang="zh-CN" altLang="en-US" sz="2800" dirty="0">
                <a:solidFill>
                  <a:schemeClr val="accent3"/>
                </a:solidFill>
                <a:latin typeface="黑体" panose="02010609060101010101" pitchFamily="49" charset="-122"/>
                <a:ea typeface="黑体" panose="02010609060101010101" pitchFamily="49" charset="-122"/>
              </a:rPr>
              <a:t>CONTENTS</a:t>
            </a:r>
            <a:endParaRPr lang="zh-CN" altLang="en-US" sz="2800" dirty="0">
              <a:solidFill>
                <a:schemeClr val="accent3"/>
              </a:solidFill>
              <a:latin typeface="黑体" panose="02010609060101010101" pitchFamily="49" charset="-122"/>
              <a:ea typeface="黑体" panose="02010609060101010101" pitchFamily="49" charset="-122"/>
            </a:endParaRPr>
          </a:p>
        </p:txBody>
      </p:sp>
      <p:sp>
        <p:nvSpPr>
          <p:cNvPr id="26" name="直角三角形 25"/>
          <p:cNvSpPr/>
          <p:nvPr userDrawn="1"/>
        </p:nvSpPr>
        <p:spPr>
          <a:xfrm flipH="1">
            <a:off x="10410825" y="3486150"/>
            <a:ext cx="1795463" cy="33718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8" name="直角三角形 27"/>
          <p:cNvSpPr/>
          <p:nvPr userDrawn="1"/>
        </p:nvSpPr>
        <p:spPr>
          <a:xfrm flipH="1">
            <a:off x="10982325" y="3468688"/>
            <a:ext cx="1209675" cy="3389312"/>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25964" y="6106677"/>
            <a:ext cx="766036" cy="760319"/>
          </a:xfrm>
          <a:prstGeom prst="rect">
            <a:avLst/>
          </a:prstGeom>
        </p:spPr>
      </p:pic>
      <p:sp>
        <p:nvSpPr>
          <p:cNvPr id="9" name="标题 8"/>
          <p:cNvSpPr>
            <a:spLocks noGrp="1"/>
          </p:cNvSpPr>
          <p:nvPr>
            <p:ph type="title" hasCustomPrompt="1"/>
          </p:nvPr>
        </p:nvSpPr>
        <p:spPr>
          <a:xfrm>
            <a:off x="251074" y="213028"/>
            <a:ext cx="5821137" cy="423787"/>
          </a:xfrm>
          <a:prstGeom prst="rect">
            <a:avLst/>
          </a:prstGeom>
        </p:spPr>
        <p:txBody>
          <a:bodyPr anchor="ctr"/>
          <a:lstStyle>
            <a:lvl1pPr marL="269875" indent="-269875" fontAlgn="ctr">
              <a:buClr>
                <a:srgbClr val="00B0F0"/>
              </a:buClr>
              <a:buSzPct val="50000"/>
              <a:buFont typeface="黑体" panose="02010609060101010101" pitchFamily="49" charset="-122"/>
              <a:buChar char="◎"/>
              <a:defRPr sz="2400" baseline="0">
                <a:solidFill>
                  <a:schemeClr val="tx1"/>
                </a:solidFill>
                <a:latin typeface="Times New Roman" panose="02020603050405020304" pitchFamily="18" charset="0"/>
                <a:ea typeface="黑体" panose="02010609060101010101" pitchFamily="49" charset="-122"/>
              </a:defRPr>
            </a:lvl1pPr>
          </a:lstStyle>
          <a:p>
            <a:r>
              <a:rPr lang="zh-CN" altLang="en-US" dirty="0"/>
              <a:t>单击此处编辑母版标题</a:t>
            </a:r>
            <a:endParaRPr lang="zh-CN" altLang="en-US" dirty="0"/>
          </a:p>
        </p:txBody>
      </p:sp>
      <p:sp>
        <p:nvSpPr>
          <p:cNvPr id="13" name="文本占位符 12"/>
          <p:cNvSpPr>
            <a:spLocks noGrp="1"/>
          </p:cNvSpPr>
          <p:nvPr>
            <p:ph type="body" sz="quarter" idx="10"/>
          </p:nvPr>
        </p:nvSpPr>
        <p:spPr>
          <a:xfrm>
            <a:off x="718458" y="938213"/>
            <a:ext cx="10707506" cy="5552394"/>
          </a:xfrm>
          <a:prstGeom prst="rect">
            <a:avLst/>
          </a:prstGeom>
        </p:spPr>
        <p:txBody>
          <a:bodyPr/>
          <a:lstStyle>
            <a:lvl1pPr>
              <a:lnSpc>
                <a:spcPct val="100000"/>
              </a:lnSpc>
              <a:defRPr sz="2400" baseline="0">
                <a:latin typeface="Times New Roman" panose="02020603050405020304" pitchFamily="18" charset="0"/>
                <a:ea typeface="楷体" panose="02010609060101010101" pitchFamily="49" charset="-122"/>
              </a:defRPr>
            </a:lvl1pPr>
            <a:lvl2pPr marL="685800" indent="-228600">
              <a:lnSpc>
                <a:spcPct val="100000"/>
              </a:lnSpc>
              <a:buFont typeface="微软雅黑" panose="020B0503020204020204" pitchFamily="34" charset="-122"/>
              <a:buChar char="◦"/>
              <a:defRPr sz="2000" baseline="0">
                <a:latin typeface="Times New Roman" panose="02020603050405020304" pitchFamily="18" charset="0"/>
                <a:ea typeface="楷体" panose="02010609060101010101" pitchFamily="49" charset="-122"/>
              </a:defRPr>
            </a:lvl2pPr>
            <a:lvl3pPr>
              <a:lnSpc>
                <a:spcPct val="100000"/>
              </a:lnSpc>
              <a:defRPr sz="1800" baseline="0">
                <a:latin typeface="Times New Roman" panose="02020603050405020304" pitchFamily="18" charset="0"/>
                <a:ea typeface="楷体" panose="02010609060101010101" pitchFamily="49" charset="-122"/>
              </a:defRPr>
            </a:lvl3pPr>
            <a:lvl4pPr>
              <a:lnSpc>
                <a:spcPct val="100000"/>
              </a:lnSpc>
              <a:defRPr sz="1800" baseline="0">
                <a:latin typeface="Times New Roman" panose="02020603050405020304" pitchFamily="18" charset="0"/>
                <a:ea typeface="楷体" panose="02010609060101010101" pitchFamily="49" charset="-122"/>
              </a:defRPr>
            </a:lvl4pPr>
            <a:lvl5pPr>
              <a:lnSpc>
                <a:spcPct val="100000"/>
              </a:lnSpc>
              <a:defRPr sz="1800" baseline="0">
                <a:latin typeface="Times New Roman" panose="02020603050405020304" pitchFamily="18" charset="0"/>
                <a:ea typeface="楷体" panose="02010609060101010101" pitchFamily="49"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25964" y="6106677"/>
            <a:ext cx="766036" cy="760319"/>
          </a:xfrm>
          <a:prstGeom prst="rect">
            <a:avLst/>
          </a:prstGeom>
        </p:spPr>
      </p:pic>
      <p:sp>
        <p:nvSpPr>
          <p:cNvPr id="6" name="标题 8"/>
          <p:cNvSpPr>
            <a:spLocks noGrp="1"/>
          </p:cNvSpPr>
          <p:nvPr>
            <p:ph type="title" hasCustomPrompt="1"/>
          </p:nvPr>
        </p:nvSpPr>
        <p:spPr>
          <a:xfrm>
            <a:off x="251074" y="213028"/>
            <a:ext cx="5821137" cy="423787"/>
          </a:xfrm>
          <a:prstGeom prst="rect">
            <a:avLst/>
          </a:prstGeom>
        </p:spPr>
        <p:txBody>
          <a:bodyPr anchor="ctr"/>
          <a:lstStyle>
            <a:lvl1pPr marL="269875" indent="-269875" fontAlgn="ctr">
              <a:buClr>
                <a:srgbClr val="00B0F0"/>
              </a:buClr>
              <a:buSzPct val="50000"/>
              <a:buFont typeface="黑体" panose="02010609060101010101" pitchFamily="49" charset="-122"/>
              <a:buChar char="◎"/>
              <a:defRPr sz="2400" baseline="0">
                <a:solidFill>
                  <a:schemeClr val="tx1"/>
                </a:solidFill>
                <a:latin typeface="Times New Roman" panose="02020603050405020304" pitchFamily="18" charset="0"/>
                <a:ea typeface="黑体" panose="02010609060101010101" pitchFamily="49" charset="-122"/>
              </a:defRPr>
            </a:lvl1pPr>
          </a:lstStyle>
          <a:p>
            <a:r>
              <a:rPr lang="zh-CN" altLang="en-US" dirty="0"/>
              <a:t>单击此处编辑母版标题</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5.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图片 6"/>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流程图: 存储数据 1"/>
          <p:cNvSpPr/>
          <p:nvPr userDrawn="1"/>
        </p:nvSpPr>
        <p:spPr>
          <a:xfrm flipH="1">
            <a:off x="10964636" y="128587"/>
            <a:ext cx="1227362" cy="365126"/>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zh-CN" altLang="en-US" dirty="0"/>
          </a:p>
        </p:txBody>
      </p:sp>
      <p:sp>
        <p:nvSpPr>
          <p:cNvPr id="4" name="矩形 3"/>
          <p:cNvSpPr/>
          <p:nvPr userDrawn="1"/>
        </p:nvSpPr>
        <p:spPr>
          <a:xfrm>
            <a:off x="11255228" y="124381"/>
            <a:ext cx="864339" cy="369332"/>
          </a:xfrm>
          <a:prstGeom prst="rect">
            <a:avLst/>
          </a:prstGeom>
        </p:spPr>
        <p:txBody>
          <a:bodyPr wrap="none">
            <a:spAutoFit/>
          </a:bodyPr>
          <a:lstStyle/>
          <a:p>
            <a:pPr algn="r"/>
            <a:fld id="{F482BBB0-03D3-4820-BB5C-84F72A3DE00D}" type="slidenum">
              <a:rPr lang="en-US" altLang="zh-CN" b="0" smtClean="0">
                <a:solidFill>
                  <a:schemeClr val="bg1"/>
                </a:solidFill>
                <a:latin typeface="Times New Roman" panose="02020603050405020304" pitchFamily="18" charset="0"/>
                <a:cs typeface="Times New Roman" panose="02020603050405020304" pitchFamily="18" charset="0"/>
              </a:rPr>
            </a:fld>
            <a:r>
              <a:rPr lang="en-US" altLang="zh-CN" b="0" dirty="0">
                <a:solidFill>
                  <a:schemeClr val="bg1"/>
                </a:solidFill>
                <a:latin typeface="Times New Roman" panose="02020603050405020304" pitchFamily="18" charset="0"/>
                <a:cs typeface="Times New Roman" panose="02020603050405020304" pitchFamily="18" charset="0"/>
              </a:rPr>
              <a:t> / 80</a:t>
            </a:r>
            <a:endParaRPr lang="zh-CN" altLang="en-US" b="0" dirty="0">
              <a:solidFill>
                <a:schemeClr val="bg1"/>
              </a:solidFill>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9.jpe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6.png"/><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9.png"/><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9.png"/><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6.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0.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1.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3.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5.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7.png"/><Relationship Id="rId1" Type="http://schemas.openxmlformats.org/officeDocument/2006/relationships/image" Target="../media/image3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8.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40.png"/><Relationship Id="rId1" Type="http://schemas.openxmlformats.org/officeDocument/2006/relationships/image" Target="../media/image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1.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2.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3.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4.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6.png"/><Relationship Id="rId1" Type="http://schemas.openxmlformats.org/officeDocument/2006/relationships/image" Target="../media/image4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8.png"/><Relationship Id="rId1" Type="http://schemas.openxmlformats.org/officeDocument/2006/relationships/image" Target="../media/image47.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9.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0.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4.png"/><Relationship Id="rId1" Type="http://schemas.openxmlformats.org/officeDocument/2006/relationships/image" Target="../media/image53.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tile tx="0" ty="0" sx="100000" sy="100000" flip="none" algn="tl"/>
        </a:blipFill>
        <a:effectLst/>
      </p:bgPr>
    </p:bg>
    <p:spTree>
      <p:nvGrpSpPr>
        <p:cNvPr id="1" name=""/>
        <p:cNvGrpSpPr/>
        <p:nvPr/>
      </p:nvGrpSpPr>
      <p:grpSpPr>
        <a:xfrm>
          <a:off x="0" y="0"/>
          <a:ext cx="0" cy="0"/>
          <a:chOff x="0" y="0"/>
          <a:chExt cx="0" cy="0"/>
        </a:xfrm>
      </p:grpSpPr>
      <p:sp>
        <p:nvSpPr>
          <p:cNvPr id="5124" name="文本框 4"/>
          <p:cNvSpPr txBox="1">
            <a:spLocks noChangeArrowheads="1"/>
          </p:cNvSpPr>
          <p:nvPr/>
        </p:nvSpPr>
        <p:spPr bwMode="auto">
          <a:xfrm>
            <a:off x="3327006" y="2158477"/>
            <a:ext cx="5314275" cy="1323439"/>
          </a:xfrm>
          <a:prstGeom prst="rect">
            <a:avLst/>
          </a:prstGeom>
          <a:solidFill>
            <a:srgbClr val="000000">
              <a:alpha val="69804"/>
            </a:srgbClr>
          </a:solidFill>
          <a:ln>
            <a:noFill/>
          </a:ln>
        </p:spPr>
        <p:txBody>
          <a:bodyPr wrap="none" anchor="ctr">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hangingPunct="1"/>
            <a:r>
              <a:rPr lang="zh-CN" altLang="en-US" sz="8000" dirty="0">
                <a:solidFill>
                  <a:schemeClr val="bg1"/>
                </a:solidFill>
                <a:latin typeface="楷体" panose="02010609060101010101" pitchFamily="49" charset="-122"/>
                <a:ea typeface="楷体" panose="02010609060101010101" pitchFamily="49" charset="-122"/>
              </a:rPr>
              <a:t>密码学导论</a:t>
            </a:r>
            <a:endParaRPr lang="zh-CN" altLang="en-US" sz="8000" dirty="0">
              <a:solidFill>
                <a:schemeClr val="bg1"/>
              </a:solidFill>
              <a:latin typeface="楷体" panose="02010609060101010101" pitchFamily="49" charset="-122"/>
              <a:ea typeface="楷体" panose="02010609060101010101" pitchFamily="49" charset="-122"/>
            </a:endParaRPr>
          </a:p>
        </p:txBody>
      </p:sp>
      <p:sp>
        <p:nvSpPr>
          <p:cNvPr id="6" name="矩形 5"/>
          <p:cNvSpPr/>
          <p:nvPr/>
        </p:nvSpPr>
        <p:spPr>
          <a:xfrm>
            <a:off x="3970638" y="3722158"/>
            <a:ext cx="4053015" cy="4635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400" dirty="0">
                <a:solidFill>
                  <a:schemeClr val="bg1"/>
                </a:solidFill>
                <a:latin typeface="Times New Roman" panose="02020603050405020304" pitchFamily="18" charset="0"/>
                <a:cs typeface="Times New Roman" panose="02020603050405020304" pitchFamily="18" charset="0"/>
              </a:rPr>
              <a:t>Introduction to Cryptology</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5130" name="文本框 10"/>
          <p:cNvSpPr txBox="1">
            <a:spLocks noChangeArrowheads="1"/>
          </p:cNvSpPr>
          <p:nvPr/>
        </p:nvSpPr>
        <p:spPr bwMode="auto">
          <a:xfrm>
            <a:off x="7560770" y="5553168"/>
            <a:ext cx="39740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l" eaLnBrk="1" hangingPunct="1"/>
            <a:r>
              <a:rPr lang="zh-CN" altLang="en-US" sz="2400" dirty="0">
                <a:solidFill>
                  <a:srgbClr val="FFFF00"/>
                </a:solidFill>
                <a:latin typeface="黑体" panose="02010609060101010101" pitchFamily="49" charset="-122"/>
                <a:ea typeface="黑体" panose="02010609060101010101" pitchFamily="49" charset="-122"/>
              </a:rPr>
              <a:t>主讲教师：胡红钢</a:t>
            </a:r>
            <a:endParaRPr lang="zh-CN" altLang="en-US" sz="2400" dirty="0">
              <a:solidFill>
                <a:srgbClr val="FFFF00"/>
              </a:solidFill>
              <a:latin typeface="黑体" panose="02010609060101010101" pitchFamily="49" charset="-122"/>
              <a:ea typeface="黑体" panose="02010609060101010101" pitchFamily="49" charset="-122"/>
            </a:endParaRPr>
          </a:p>
        </p:txBody>
      </p:sp>
      <p:sp>
        <p:nvSpPr>
          <p:cNvPr id="13" name="Freeform 85"/>
          <p:cNvSpPr>
            <a:spLocks noEditPoints="1"/>
          </p:cNvSpPr>
          <p:nvPr/>
        </p:nvSpPr>
        <p:spPr bwMode="auto">
          <a:xfrm>
            <a:off x="6832949" y="5420642"/>
            <a:ext cx="787719" cy="665163"/>
          </a:xfrm>
          <a:custGeom>
            <a:avLst/>
            <a:gdLst>
              <a:gd name="T0" fmla="*/ 38 w 109"/>
              <a:gd name="T1" fmla="*/ 46 h 131"/>
              <a:gd name="T2" fmla="*/ 55 w 109"/>
              <a:gd name="T3" fmla="*/ 69 h 131"/>
              <a:gd name="T4" fmla="*/ 55 w 109"/>
              <a:gd name="T5" fmla="*/ 69 h 131"/>
              <a:gd name="T6" fmla="*/ 56 w 109"/>
              <a:gd name="T7" fmla="*/ 69 h 131"/>
              <a:gd name="T8" fmla="*/ 57 w 109"/>
              <a:gd name="T9" fmla="*/ 69 h 131"/>
              <a:gd name="T10" fmla="*/ 72 w 109"/>
              <a:gd name="T11" fmla="*/ 46 h 131"/>
              <a:gd name="T12" fmla="*/ 72 w 109"/>
              <a:gd name="T13" fmla="*/ 46 h 131"/>
              <a:gd name="T14" fmla="*/ 71 w 109"/>
              <a:gd name="T15" fmla="*/ 33 h 131"/>
              <a:gd name="T16" fmla="*/ 40 w 109"/>
              <a:gd name="T17" fmla="*/ 32 h 131"/>
              <a:gd name="T18" fmla="*/ 38 w 109"/>
              <a:gd name="T19" fmla="*/ 46 h 131"/>
              <a:gd name="T20" fmla="*/ 38 w 109"/>
              <a:gd name="T21" fmla="*/ 46 h 131"/>
              <a:gd name="T22" fmla="*/ 53 w 109"/>
              <a:gd name="T23" fmla="*/ 84 h 131"/>
              <a:gd name="T24" fmla="*/ 51 w 109"/>
              <a:gd name="T25" fmla="*/ 87 h 131"/>
              <a:gd name="T26" fmla="*/ 53 w 109"/>
              <a:gd name="T27" fmla="*/ 88 h 131"/>
              <a:gd name="T28" fmla="*/ 49 w 109"/>
              <a:gd name="T29" fmla="*/ 109 h 131"/>
              <a:gd name="T30" fmla="*/ 36 w 109"/>
              <a:gd name="T31" fmla="*/ 77 h 131"/>
              <a:gd name="T32" fmla="*/ 6 w 109"/>
              <a:gd name="T33" fmla="*/ 91 h 131"/>
              <a:gd name="T34" fmla="*/ 0 w 109"/>
              <a:gd name="T35" fmla="*/ 121 h 131"/>
              <a:gd name="T36" fmla="*/ 109 w 109"/>
              <a:gd name="T37" fmla="*/ 121 h 131"/>
              <a:gd name="T38" fmla="*/ 104 w 109"/>
              <a:gd name="T39" fmla="*/ 91 h 131"/>
              <a:gd name="T40" fmla="*/ 73 w 109"/>
              <a:gd name="T41" fmla="*/ 77 h 131"/>
              <a:gd name="T42" fmla="*/ 62 w 109"/>
              <a:gd name="T43" fmla="*/ 108 h 131"/>
              <a:gd name="T44" fmla="*/ 59 w 109"/>
              <a:gd name="T45" fmla="*/ 88 h 131"/>
              <a:gd name="T46" fmla="*/ 61 w 109"/>
              <a:gd name="T47" fmla="*/ 87 h 131"/>
              <a:gd name="T48" fmla="*/ 59 w 109"/>
              <a:gd name="T49" fmla="*/ 84 h 131"/>
              <a:gd name="T50" fmla="*/ 53 w 109"/>
              <a:gd name="T51" fmla="*/ 84 h 131"/>
              <a:gd name="T52" fmla="*/ 81 w 109"/>
              <a:gd name="T53" fmla="*/ 32 h 131"/>
              <a:gd name="T54" fmla="*/ 81 w 109"/>
              <a:gd name="T55" fmla="*/ 32 h 131"/>
              <a:gd name="T56" fmla="*/ 81 w 109"/>
              <a:gd name="T57" fmla="*/ 34 h 131"/>
              <a:gd name="T58" fmla="*/ 81 w 109"/>
              <a:gd name="T59" fmla="*/ 34 h 131"/>
              <a:gd name="T60" fmla="*/ 81 w 109"/>
              <a:gd name="T61" fmla="*/ 36 h 131"/>
              <a:gd name="T62" fmla="*/ 81 w 109"/>
              <a:gd name="T63" fmla="*/ 37 h 131"/>
              <a:gd name="T64" fmla="*/ 82 w 109"/>
              <a:gd name="T65" fmla="*/ 37 h 131"/>
              <a:gd name="T66" fmla="*/ 82 w 109"/>
              <a:gd name="T67" fmla="*/ 37 h 131"/>
              <a:gd name="T68" fmla="*/ 84 w 109"/>
              <a:gd name="T69" fmla="*/ 43 h 131"/>
              <a:gd name="T70" fmla="*/ 83 w 109"/>
              <a:gd name="T71" fmla="*/ 52 h 131"/>
              <a:gd name="T72" fmla="*/ 78 w 109"/>
              <a:gd name="T73" fmla="*/ 56 h 131"/>
              <a:gd name="T74" fmla="*/ 58 w 109"/>
              <a:gd name="T75" fmla="*/ 77 h 131"/>
              <a:gd name="T76" fmla="*/ 56 w 109"/>
              <a:gd name="T77" fmla="*/ 77 h 131"/>
              <a:gd name="T78" fmla="*/ 54 w 109"/>
              <a:gd name="T79" fmla="*/ 77 h 131"/>
              <a:gd name="T80" fmla="*/ 54 w 109"/>
              <a:gd name="T81" fmla="*/ 77 h 131"/>
              <a:gd name="T82" fmla="*/ 33 w 109"/>
              <a:gd name="T83" fmla="*/ 56 h 131"/>
              <a:gd name="T84" fmla="*/ 28 w 109"/>
              <a:gd name="T85" fmla="*/ 52 h 131"/>
              <a:gd name="T86" fmla="*/ 26 w 109"/>
              <a:gd name="T87" fmla="*/ 44 h 131"/>
              <a:gd name="T88" fmla="*/ 28 w 109"/>
              <a:gd name="T89" fmla="*/ 38 h 131"/>
              <a:gd name="T90" fmla="*/ 29 w 109"/>
              <a:gd name="T91" fmla="*/ 37 h 131"/>
              <a:gd name="T92" fmla="*/ 29 w 109"/>
              <a:gd name="T93" fmla="*/ 32 h 131"/>
              <a:gd name="T94" fmla="*/ 29 w 109"/>
              <a:gd name="T95" fmla="*/ 32 h 131"/>
              <a:gd name="T96" fmla="*/ 29 w 109"/>
              <a:gd name="T97" fmla="*/ 32 h 131"/>
              <a:gd name="T98" fmla="*/ 33 w 109"/>
              <a:gd name="T99" fmla="*/ 15 h 131"/>
              <a:gd name="T100" fmla="*/ 79 w 109"/>
              <a:gd name="T101" fmla="*/ 16 h 131"/>
              <a:gd name="T102" fmla="*/ 81 w 109"/>
              <a:gd name="T103" fmla="*/ 32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9" h="131">
                <a:moveTo>
                  <a:pt x="38" y="46"/>
                </a:moveTo>
                <a:cubicBezTo>
                  <a:pt x="40" y="58"/>
                  <a:pt x="44" y="68"/>
                  <a:pt x="55" y="69"/>
                </a:cubicBezTo>
                <a:cubicBezTo>
                  <a:pt x="55" y="69"/>
                  <a:pt x="55" y="69"/>
                  <a:pt x="55" y="69"/>
                </a:cubicBezTo>
                <a:cubicBezTo>
                  <a:pt x="55" y="69"/>
                  <a:pt x="55" y="69"/>
                  <a:pt x="56" y="69"/>
                </a:cubicBezTo>
                <a:cubicBezTo>
                  <a:pt x="56" y="69"/>
                  <a:pt x="57" y="69"/>
                  <a:pt x="57" y="69"/>
                </a:cubicBezTo>
                <a:cubicBezTo>
                  <a:pt x="67" y="68"/>
                  <a:pt x="71" y="57"/>
                  <a:pt x="72" y="46"/>
                </a:cubicBezTo>
                <a:cubicBezTo>
                  <a:pt x="72" y="46"/>
                  <a:pt x="72" y="46"/>
                  <a:pt x="72" y="46"/>
                </a:cubicBezTo>
                <a:cubicBezTo>
                  <a:pt x="72" y="42"/>
                  <a:pt x="72" y="37"/>
                  <a:pt x="71" y="33"/>
                </a:cubicBezTo>
                <a:cubicBezTo>
                  <a:pt x="68" y="34"/>
                  <a:pt x="56" y="39"/>
                  <a:pt x="40" y="32"/>
                </a:cubicBezTo>
                <a:cubicBezTo>
                  <a:pt x="37" y="38"/>
                  <a:pt x="38" y="41"/>
                  <a:pt x="38" y="46"/>
                </a:cubicBezTo>
                <a:cubicBezTo>
                  <a:pt x="38" y="46"/>
                  <a:pt x="38" y="46"/>
                  <a:pt x="38" y="46"/>
                </a:cubicBezTo>
                <a:close/>
                <a:moveTo>
                  <a:pt x="53" y="84"/>
                </a:moveTo>
                <a:cubicBezTo>
                  <a:pt x="51" y="87"/>
                  <a:pt x="51" y="87"/>
                  <a:pt x="51" y="87"/>
                </a:cubicBezTo>
                <a:cubicBezTo>
                  <a:pt x="53" y="88"/>
                  <a:pt x="53" y="88"/>
                  <a:pt x="53" y="88"/>
                </a:cubicBezTo>
                <a:cubicBezTo>
                  <a:pt x="49" y="109"/>
                  <a:pt x="49" y="109"/>
                  <a:pt x="49" y="109"/>
                </a:cubicBezTo>
                <a:cubicBezTo>
                  <a:pt x="43" y="101"/>
                  <a:pt x="37" y="88"/>
                  <a:pt x="36" y="77"/>
                </a:cubicBezTo>
                <a:cubicBezTo>
                  <a:pt x="25" y="81"/>
                  <a:pt x="15" y="85"/>
                  <a:pt x="6" y="91"/>
                </a:cubicBezTo>
                <a:cubicBezTo>
                  <a:pt x="1" y="101"/>
                  <a:pt x="1" y="112"/>
                  <a:pt x="0" y="121"/>
                </a:cubicBezTo>
                <a:cubicBezTo>
                  <a:pt x="38" y="130"/>
                  <a:pt x="74" y="131"/>
                  <a:pt x="109" y="121"/>
                </a:cubicBezTo>
                <a:cubicBezTo>
                  <a:pt x="109" y="112"/>
                  <a:pt x="109" y="101"/>
                  <a:pt x="104" y="91"/>
                </a:cubicBezTo>
                <a:cubicBezTo>
                  <a:pt x="95" y="85"/>
                  <a:pt x="85" y="80"/>
                  <a:pt x="73" y="77"/>
                </a:cubicBezTo>
                <a:cubicBezTo>
                  <a:pt x="72" y="88"/>
                  <a:pt x="69" y="99"/>
                  <a:pt x="62" y="108"/>
                </a:cubicBezTo>
                <a:cubicBezTo>
                  <a:pt x="59" y="88"/>
                  <a:pt x="59" y="88"/>
                  <a:pt x="59" y="88"/>
                </a:cubicBezTo>
                <a:cubicBezTo>
                  <a:pt x="61" y="87"/>
                  <a:pt x="61" y="87"/>
                  <a:pt x="61" y="87"/>
                </a:cubicBezTo>
                <a:cubicBezTo>
                  <a:pt x="59" y="84"/>
                  <a:pt x="59" y="84"/>
                  <a:pt x="59" y="84"/>
                </a:cubicBezTo>
                <a:cubicBezTo>
                  <a:pt x="53" y="84"/>
                  <a:pt x="53" y="84"/>
                  <a:pt x="53" y="84"/>
                </a:cubicBezTo>
                <a:close/>
                <a:moveTo>
                  <a:pt x="81" y="32"/>
                </a:moveTo>
                <a:cubicBezTo>
                  <a:pt x="81" y="32"/>
                  <a:pt x="81" y="32"/>
                  <a:pt x="81" y="32"/>
                </a:cubicBezTo>
                <a:cubicBezTo>
                  <a:pt x="81" y="34"/>
                  <a:pt x="81" y="34"/>
                  <a:pt x="81" y="34"/>
                </a:cubicBezTo>
                <a:cubicBezTo>
                  <a:pt x="81" y="34"/>
                  <a:pt x="81" y="34"/>
                  <a:pt x="81" y="34"/>
                </a:cubicBezTo>
                <a:cubicBezTo>
                  <a:pt x="81" y="34"/>
                  <a:pt x="81" y="35"/>
                  <a:pt x="81" y="36"/>
                </a:cubicBezTo>
                <a:cubicBezTo>
                  <a:pt x="81" y="37"/>
                  <a:pt x="81" y="37"/>
                  <a:pt x="81" y="37"/>
                </a:cubicBezTo>
                <a:cubicBezTo>
                  <a:pt x="81" y="37"/>
                  <a:pt x="82" y="37"/>
                  <a:pt x="82" y="37"/>
                </a:cubicBezTo>
                <a:cubicBezTo>
                  <a:pt x="82" y="37"/>
                  <a:pt x="82" y="37"/>
                  <a:pt x="82" y="37"/>
                </a:cubicBezTo>
                <a:cubicBezTo>
                  <a:pt x="84" y="38"/>
                  <a:pt x="84" y="41"/>
                  <a:pt x="84" y="43"/>
                </a:cubicBezTo>
                <a:cubicBezTo>
                  <a:pt x="84" y="47"/>
                  <a:pt x="83" y="51"/>
                  <a:pt x="83" y="52"/>
                </a:cubicBezTo>
                <a:cubicBezTo>
                  <a:pt x="82" y="54"/>
                  <a:pt x="79" y="55"/>
                  <a:pt x="78" y="56"/>
                </a:cubicBezTo>
                <a:cubicBezTo>
                  <a:pt x="75" y="66"/>
                  <a:pt x="70" y="75"/>
                  <a:pt x="58" y="77"/>
                </a:cubicBezTo>
                <a:cubicBezTo>
                  <a:pt x="57" y="77"/>
                  <a:pt x="57" y="77"/>
                  <a:pt x="56" y="77"/>
                </a:cubicBezTo>
                <a:cubicBezTo>
                  <a:pt x="55" y="77"/>
                  <a:pt x="54" y="77"/>
                  <a:pt x="54" y="77"/>
                </a:cubicBezTo>
                <a:cubicBezTo>
                  <a:pt x="54" y="77"/>
                  <a:pt x="54" y="77"/>
                  <a:pt x="54" y="77"/>
                </a:cubicBezTo>
                <a:cubicBezTo>
                  <a:pt x="42" y="75"/>
                  <a:pt x="36" y="67"/>
                  <a:pt x="33" y="56"/>
                </a:cubicBezTo>
                <a:cubicBezTo>
                  <a:pt x="32" y="56"/>
                  <a:pt x="29" y="54"/>
                  <a:pt x="28" y="52"/>
                </a:cubicBezTo>
                <a:cubicBezTo>
                  <a:pt x="27" y="51"/>
                  <a:pt x="26" y="47"/>
                  <a:pt x="26" y="44"/>
                </a:cubicBezTo>
                <a:cubicBezTo>
                  <a:pt x="26" y="41"/>
                  <a:pt x="27" y="39"/>
                  <a:pt x="28" y="38"/>
                </a:cubicBezTo>
                <a:cubicBezTo>
                  <a:pt x="28" y="38"/>
                  <a:pt x="29" y="37"/>
                  <a:pt x="29" y="37"/>
                </a:cubicBezTo>
                <a:cubicBezTo>
                  <a:pt x="29" y="36"/>
                  <a:pt x="29" y="34"/>
                  <a:pt x="29" y="32"/>
                </a:cubicBezTo>
                <a:cubicBezTo>
                  <a:pt x="29" y="32"/>
                  <a:pt x="29" y="32"/>
                  <a:pt x="29" y="32"/>
                </a:cubicBezTo>
                <a:cubicBezTo>
                  <a:pt x="29" y="32"/>
                  <a:pt x="29" y="32"/>
                  <a:pt x="29" y="32"/>
                </a:cubicBezTo>
                <a:cubicBezTo>
                  <a:pt x="29" y="24"/>
                  <a:pt x="30" y="19"/>
                  <a:pt x="33" y="15"/>
                </a:cubicBezTo>
                <a:cubicBezTo>
                  <a:pt x="44" y="0"/>
                  <a:pt x="74" y="5"/>
                  <a:pt x="79" y="16"/>
                </a:cubicBezTo>
                <a:cubicBezTo>
                  <a:pt x="81" y="20"/>
                  <a:pt x="82" y="26"/>
                  <a:pt x="81" y="32"/>
                </a:cubicBezTo>
                <a:close/>
              </a:path>
            </a:pathLst>
          </a:custGeom>
          <a:solidFill>
            <a:srgbClr val="FFC000"/>
          </a:solidFill>
          <a:ln>
            <a:noFill/>
          </a:ln>
        </p:spPr>
        <p:txBody>
          <a:bodyPr/>
          <a:lstStyle/>
          <a:p>
            <a:pPr eaLnBrk="1" fontAlgn="auto" hangingPunct="1">
              <a:spcBef>
                <a:spcPts val="0"/>
              </a:spcBef>
              <a:spcAft>
                <a:spcPts val="0"/>
              </a:spcAft>
              <a:defRPr/>
            </a:pPr>
            <a:endParaRPr lang="zh-CN" altLang="en-US">
              <a:latin typeface="+mn-lt"/>
              <a:ea typeface="+mn-ea"/>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315" y="137080"/>
            <a:ext cx="2782417" cy="556484"/>
          </a:xfrm>
          <a:prstGeom prst="rect">
            <a:avLst/>
          </a:prstGeom>
        </p:spPr>
      </p:pic>
      <p:sp>
        <p:nvSpPr>
          <p:cNvPr id="3" name="Freeform 100"/>
          <p:cNvSpPr/>
          <p:nvPr/>
        </p:nvSpPr>
        <p:spPr bwMode="auto">
          <a:xfrm>
            <a:off x="583084" y="5420643"/>
            <a:ext cx="647700" cy="665163"/>
          </a:xfrm>
          <a:custGeom>
            <a:avLst/>
            <a:gdLst>
              <a:gd name="T0" fmla="*/ 2147483647 w 91"/>
              <a:gd name="T1" fmla="*/ 2147483647 h 88"/>
              <a:gd name="T2" fmla="*/ 2147483647 w 91"/>
              <a:gd name="T3" fmla="*/ 2147483647 h 88"/>
              <a:gd name="T4" fmla="*/ 2147483647 w 91"/>
              <a:gd name="T5" fmla="*/ 2147483647 h 88"/>
              <a:gd name="T6" fmla="*/ 2147483647 w 91"/>
              <a:gd name="T7" fmla="*/ 2147483647 h 88"/>
              <a:gd name="T8" fmla="*/ 2147483647 w 91"/>
              <a:gd name="T9" fmla="*/ 2147483647 h 88"/>
              <a:gd name="T10" fmla="*/ 2147483647 w 91"/>
              <a:gd name="T11" fmla="*/ 0 h 88"/>
              <a:gd name="T12" fmla="*/ 2147483647 w 91"/>
              <a:gd name="T13" fmla="*/ 2147483647 h 88"/>
              <a:gd name="T14" fmla="*/ 2147483647 w 91"/>
              <a:gd name="T15" fmla="*/ 2147483647 h 88"/>
              <a:gd name="T16" fmla="*/ 2147483647 w 91"/>
              <a:gd name="T17" fmla="*/ 2147483647 h 88"/>
              <a:gd name="T18" fmla="*/ 2147483647 w 91"/>
              <a:gd name="T19" fmla="*/ 2147483647 h 88"/>
              <a:gd name="T20" fmla="*/ 2147483647 w 91"/>
              <a:gd name="T21" fmla="*/ 2147483647 h 88"/>
              <a:gd name="T22" fmla="*/ 2147483647 w 91"/>
              <a:gd name="T23" fmla="*/ 2147483647 h 88"/>
              <a:gd name="T24" fmla="*/ 2147483647 w 91"/>
              <a:gd name="T25" fmla="*/ 2147483647 h 88"/>
              <a:gd name="T26" fmla="*/ 2147483647 w 91"/>
              <a:gd name="T27" fmla="*/ 2147483647 h 88"/>
              <a:gd name="T28" fmla="*/ 2147483647 w 91"/>
              <a:gd name="T29" fmla="*/ 2147483647 h 88"/>
              <a:gd name="T30" fmla="*/ 2147483647 w 91"/>
              <a:gd name="T31" fmla="*/ 2147483647 h 88"/>
              <a:gd name="T32" fmla="*/ 2147483647 w 91"/>
              <a:gd name="T33" fmla="*/ 2147483647 h 88"/>
              <a:gd name="T34" fmla="*/ 2147483647 w 91"/>
              <a:gd name="T35" fmla="*/ 2147483647 h 88"/>
              <a:gd name="T36" fmla="*/ 2147483647 w 91"/>
              <a:gd name="T37" fmla="*/ 2147483647 h 88"/>
              <a:gd name="T38" fmla="*/ 2147483647 w 91"/>
              <a:gd name="T39" fmla="*/ 2147483647 h 88"/>
              <a:gd name="T40" fmla="*/ 2147483647 w 91"/>
              <a:gd name="T41" fmla="*/ 2147483647 h 88"/>
              <a:gd name="T42" fmla="*/ 2147483647 w 91"/>
              <a:gd name="T43" fmla="*/ 2147483647 h 88"/>
              <a:gd name="T44" fmla="*/ 2147483647 w 91"/>
              <a:gd name="T45" fmla="*/ 2147483647 h 88"/>
              <a:gd name="T46" fmla="*/ 2147483647 w 91"/>
              <a:gd name="T47" fmla="*/ 2147483647 h 88"/>
              <a:gd name="T48" fmla="*/ 2147483647 w 91"/>
              <a:gd name="T49" fmla="*/ 2147483647 h 88"/>
              <a:gd name="T50" fmla="*/ 2147483647 w 91"/>
              <a:gd name="T51" fmla="*/ 2147483647 h 88"/>
              <a:gd name="T52" fmla="*/ 2147483647 w 91"/>
              <a:gd name="T53" fmla="*/ 2147483647 h 88"/>
              <a:gd name="T54" fmla="*/ 2147483647 w 91"/>
              <a:gd name="T55" fmla="*/ 2147483647 h 88"/>
              <a:gd name="T56" fmla="*/ 2147483647 w 91"/>
              <a:gd name="T57" fmla="*/ 2147483647 h 88"/>
              <a:gd name="T58" fmla="*/ 2147483647 w 91"/>
              <a:gd name="T59" fmla="*/ 2147483647 h 88"/>
              <a:gd name="T60" fmla="*/ 2147483647 w 91"/>
              <a:gd name="T61" fmla="*/ 2147483647 h 88"/>
              <a:gd name="T62" fmla="*/ 2147483647 w 91"/>
              <a:gd name="T63" fmla="*/ 2147483647 h 88"/>
              <a:gd name="T64" fmla="*/ 2147483647 w 91"/>
              <a:gd name="T65" fmla="*/ 2147483647 h 88"/>
              <a:gd name="T66" fmla="*/ 2147483647 w 91"/>
              <a:gd name="T67" fmla="*/ 2147483647 h 88"/>
              <a:gd name="T68" fmla="*/ 2147483647 w 91"/>
              <a:gd name="T69" fmla="*/ 2147483647 h 88"/>
              <a:gd name="T70" fmla="*/ 2147483647 w 91"/>
              <a:gd name="T71" fmla="*/ 2147483647 h 88"/>
              <a:gd name="T72" fmla="*/ 2147483647 w 91"/>
              <a:gd name="T73" fmla="*/ 2147483647 h 88"/>
              <a:gd name="T74" fmla="*/ 2147483647 w 91"/>
              <a:gd name="T75" fmla="*/ 2147483647 h 88"/>
              <a:gd name="T76" fmla="*/ 2147483647 w 91"/>
              <a:gd name="T77" fmla="*/ 2147483647 h 88"/>
              <a:gd name="T78" fmla="*/ 2147483647 w 91"/>
              <a:gd name="T79" fmla="*/ 2147483647 h 88"/>
              <a:gd name="T80" fmla="*/ 2147483647 w 91"/>
              <a:gd name="T81" fmla="*/ 2147483647 h 8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1" h="88">
                <a:moveTo>
                  <a:pt x="26" y="25"/>
                </a:moveTo>
                <a:cubicBezTo>
                  <a:pt x="51" y="25"/>
                  <a:pt x="51" y="25"/>
                  <a:pt x="51" y="25"/>
                </a:cubicBezTo>
                <a:cubicBezTo>
                  <a:pt x="52" y="24"/>
                  <a:pt x="54" y="23"/>
                  <a:pt x="53" y="21"/>
                </a:cubicBezTo>
                <a:cubicBezTo>
                  <a:pt x="52" y="19"/>
                  <a:pt x="50" y="17"/>
                  <a:pt x="49" y="15"/>
                </a:cubicBezTo>
                <a:cubicBezTo>
                  <a:pt x="46" y="12"/>
                  <a:pt x="47" y="6"/>
                  <a:pt x="50" y="3"/>
                </a:cubicBezTo>
                <a:cubicBezTo>
                  <a:pt x="53" y="0"/>
                  <a:pt x="58" y="0"/>
                  <a:pt x="58" y="0"/>
                </a:cubicBezTo>
                <a:cubicBezTo>
                  <a:pt x="58" y="0"/>
                  <a:pt x="64" y="0"/>
                  <a:pt x="67" y="3"/>
                </a:cubicBezTo>
                <a:cubicBezTo>
                  <a:pt x="70" y="6"/>
                  <a:pt x="70" y="12"/>
                  <a:pt x="68" y="15"/>
                </a:cubicBezTo>
                <a:cubicBezTo>
                  <a:pt x="67" y="17"/>
                  <a:pt x="65" y="19"/>
                  <a:pt x="64" y="21"/>
                </a:cubicBezTo>
                <a:cubicBezTo>
                  <a:pt x="63" y="23"/>
                  <a:pt x="64" y="24"/>
                  <a:pt x="65" y="25"/>
                </a:cubicBezTo>
                <a:cubicBezTo>
                  <a:pt x="91" y="25"/>
                  <a:pt x="91" y="25"/>
                  <a:pt x="91" y="25"/>
                </a:cubicBezTo>
                <a:cubicBezTo>
                  <a:pt x="91" y="49"/>
                  <a:pt x="91" y="49"/>
                  <a:pt x="91" y="49"/>
                </a:cubicBezTo>
                <a:cubicBezTo>
                  <a:pt x="90" y="50"/>
                  <a:pt x="89" y="51"/>
                  <a:pt x="87" y="51"/>
                </a:cubicBezTo>
                <a:cubicBezTo>
                  <a:pt x="85" y="50"/>
                  <a:pt x="83" y="48"/>
                  <a:pt x="81" y="47"/>
                </a:cubicBezTo>
                <a:cubicBezTo>
                  <a:pt x="78" y="44"/>
                  <a:pt x="73" y="45"/>
                  <a:pt x="70" y="48"/>
                </a:cubicBezTo>
                <a:cubicBezTo>
                  <a:pt x="67" y="51"/>
                  <a:pt x="67" y="56"/>
                  <a:pt x="67" y="56"/>
                </a:cubicBezTo>
                <a:cubicBezTo>
                  <a:pt x="67" y="56"/>
                  <a:pt x="67" y="61"/>
                  <a:pt x="70" y="64"/>
                </a:cubicBezTo>
                <a:cubicBezTo>
                  <a:pt x="73" y="67"/>
                  <a:pt x="78" y="67"/>
                  <a:pt x="81" y="65"/>
                </a:cubicBezTo>
                <a:cubicBezTo>
                  <a:pt x="83" y="64"/>
                  <a:pt x="85" y="62"/>
                  <a:pt x="87" y="61"/>
                </a:cubicBezTo>
                <a:cubicBezTo>
                  <a:pt x="89" y="60"/>
                  <a:pt x="90" y="61"/>
                  <a:pt x="91" y="62"/>
                </a:cubicBezTo>
                <a:cubicBezTo>
                  <a:pt x="91" y="88"/>
                  <a:pt x="91" y="88"/>
                  <a:pt x="91" y="88"/>
                </a:cubicBezTo>
                <a:cubicBezTo>
                  <a:pt x="64" y="88"/>
                  <a:pt x="64" y="88"/>
                  <a:pt x="64" y="88"/>
                </a:cubicBezTo>
                <a:cubicBezTo>
                  <a:pt x="63" y="88"/>
                  <a:pt x="62" y="86"/>
                  <a:pt x="63" y="85"/>
                </a:cubicBezTo>
                <a:cubicBezTo>
                  <a:pt x="63" y="83"/>
                  <a:pt x="65" y="81"/>
                  <a:pt x="67" y="79"/>
                </a:cubicBezTo>
                <a:cubicBezTo>
                  <a:pt x="69" y="76"/>
                  <a:pt x="68" y="71"/>
                  <a:pt x="66" y="68"/>
                </a:cubicBezTo>
                <a:cubicBezTo>
                  <a:pt x="63" y="65"/>
                  <a:pt x="58" y="66"/>
                  <a:pt x="58" y="66"/>
                </a:cubicBezTo>
                <a:cubicBezTo>
                  <a:pt x="58" y="66"/>
                  <a:pt x="53" y="65"/>
                  <a:pt x="50" y="68"/>
                </a:cubicBezTo>
                <a:cubicBezTo>
                  <a:pt x="47" y="71"/>
                  <a:pt x="46" y="76"/>
                  <a:pt x="49" y="79"/>
                </a:cubicBezTo>
                <a:cubicBezTo>
                  <a:pt x="50" y="81"/>
                  <a:pt x="52" y="83"/>
                  <a:pt x="53" y="85"/>
                </a:cubicBezTo>
                <a:cubicBezTo>
                  <a:pt x="53" y="86"/>
                  <a:pt x="52" y="88"/>
                  <a:pt x="51" y="88"/>
                </a:cubicBezTo>
                <a:cubicBezTo>
                  <a:pt x="26" y="88"/>
                  <a:pt x="26" y="88"/>
                  <a:pt x="26" y="88"/>
                </a:cubicBezTo>
                <a:cubicBezTo>
                  <a:pt x="26" y="64"/>
                  <a:pt x="26" y="64"/>
                  <a:pt x="26" y="64"/>
                </a:cubicBezTo>
                <a:cubicBezTo>
                  <a:pt x="26" y="63"/>
                  <a:pt x="24" y="61"/>
                  <a:pt x="22" y="62"/>
                </a:cubicBezTo>
                <a:cubicBezTo>
                  <a:pt x="20" y="63"/>
                  <a:pt x="18" y="65"/>
                  <a:pt x="16" y="67"/>
                </a:cubicBezTo>
                <a:cubicBezTo>
                  <a:pt x="12" y="69"/>
                  <a:pt x="7" y="69"/>
                  <a:pt x="4" y="65"/>
                </a:cubicBezTo>
                <a:cubicBezTo>
                  <a:pt x="0" y="62"/>
                  <a:pt x="1" y="57"/>
                  <a:pt x="1" y="57"/>
                </a:cubicBezTo>
                <a:cubicBezTo>
                  <a:pt x="1" y="57"/>
                  <a:pt x="0" y="51"/>
                  <a:pt x="4" y="48"/>
                </a:cubicBezTo>
                <a:cubicBezTo>
                  <a:pt x="7" y="45"/>
                  <a:pt x="12" y="44"/>
                  <a:pt x="16" y="47"/>
                </a:cubicBezTo>
                <a:cubicBezTo>
                  <a:pt x="18" y="48"/>
                  <a:pt x="20" y="50"/>
                  <a:pt x="22" y="51"/>
                </a:cubicBezTo>
                <a:cubicBezTo>
                  <a:pt x="24" y="52"/>
                  <a:pt x="26" y="51"/>
                  <a:pt x="26" y="49"/>
                </a:cubicBezTo>
                <a:lnTo>
                  <a:pt x="26" y="25"/>
                </a:lnTo>
                <a:close/>
              </a:path>
            </a:pathLst>
          </a:custGeom>
          <a:solidFill>
            <a:srgbClr val="FFC000"/>
          </a:solidFill>
          <a:ln>
            <a:noFill/>
          </a:ln>
        </p:spPr>
        <p:txBody>
          <a:bodyPr/>
          <a:lstStyle/>
          <a:p>
            <a:endParaRPr lang="zh-CN" altLang="en-US"/>
          </a:p>
        </p:txBody>
      </p:sp>
      <p:sp>
        <p:nvSpPr>
          <p:cNvPr id="16" name="文本框 10"/>
          <p:cNvSpPr txBox="1">
            <a:spLocks noChangeArrowheads="1"/>
          </p:cNvSpPr>
          <p:nvPr/>
        </p:nvSpPr>
        <p:spPr bwMode="auto">
          <a:xfrm>
            <a:off x="1351580" y="5522390"/>
            <a:ext cx="27109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l" eaLnBrk="1" hangingPunct="1"/>
            <a:r>
              <a:rPr lang="zh-CN" altLang="en-US" sz="2800" b="1" dirty="0">
                <a:solidFill>
                  <a:srgbClr val="FFFF00"/>
                </a:solidFill>
                <a:latin typeface="黑体" panose="02010609060101010101" pitchFamily="49" charset="-122"/>
                <a:ea typeface="黑体" panose="02010609060101010101" pitchFamily="49" charset="-122"/>
              </a:rPr>
              <a:t>第</a:t>
            </a:r>
            <a:r>
              <a:rPr lang="en-US" altLang="zh-CN" sz="2800" b="1" dirty="0">
                <a:solidFill>
                  <a:srgbClr val="FFFF00"/>
                </a:solidFill>
                <a:latin typeface="黑体" panose="02010609060101010101" pitchFamily="49" charset="-122"/>
                <a:ea typeface="黑体" panose="02010609060101010101" pitchFamily="49" charset="-122"/>
              </a:rPr>
              <a:t>9</a:t>
            </a:r>
            <a:r>
              <a:rPr lang="zh-CN" altLang="en-US" sz="2800" b="1" dirty="0">
                <a:solidFill>
                  <a:srgbClr val="FFFF00"/>
                </a:solidFill>
                <a:latin typeface="黑体" panose="02010609060101010101" pitchFamily="49" charset="-122"/>
                <a:ea typeface="黑体" panose="02010609060101010101" pitchFamily="49" charset="-122"/>
              </a:rPr>
              <a:t>章 消息认证</a:t>
            </a:r>
            <a:endParaRPr lang="zh-CN" altLang="en-US" sz="2800" b="1"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箭头: 五边形 1"/>
          <p:cNvSpPr/>
          <p:nvPr/>
        </p:nvSpPr>
        <p:spPr bwMode="auto">
          <a:xfrm>
            <a:off x="2993514" y="704273"/>
            <a:ext cx="2493040" cy="576064"/>
          </a:xfrm>
          <a:prstGeom prst="homePlate">
            <a:avLst>
              <a:gd name="adj" fmla="val 0"/>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zh-CN" altLang="en-US" dirty="0">
                <a:latin typeface="微软雅黑" panose="020B0503020204020204" pitchFamily="34" charset="-122"/>
                <a:ea typeface="微软雅黑" panose="020B0503020204020204" pitchFamily="34" charset="-122"/>
              </a:rPr>
              <a:t>消息认证</a:t>
            </a:r>
            <a:endParaRPr lang="zh-CN" altLang="en-US" dirty="0">
              <a:latin typeface="微软雅黑" panose="020B0503020204020204" pitchFamily="34" charset="-122"/>
              <a:ea typeface="微软雅黑" panose="020B0503020204020204" pitchFamily="34" charset="-122"/>
            </a:endParaRPr>
          </a:p>
        </p:txBody>
      </p:sp>
      <p:sp>
        <p:nvSpPr>
          <p:cNvPr id="3" name="箭头: 五边形 2"/>
          <p:cNvSpPr/>
          <p:nvPr/>
        </p:nvSpPr>
        <p:spPr bwMode="auto">
          <a:xfrm>
            <a:off x="4086128" y="2125033"/>
            <a:ext cx="2498747" cy="504056"/>
          </a:xfrm>
          <a:prstGeom prst="homePlat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zh-CN" altLang="en-US" dirty="0">
                <a:latin typeface="微软雅黑" panose="020B0503020204020204" pitchFamily="34" charset="-122"/>
                <a:ea typeface="微软雅黑" panose="020B0503020204020204" pitchFamily="34" charset="-122"/>
              </a:rPr>
              <a:t>认证的概念</a:t>
            </a:r>
            <a:endParaRPr lang="zh-CN" altLang="en-US" dirty="0">
              <a:latin typeface="微软雅黑" panose="020B0503020204020204" pitchFamily="34" charset="-122"/>
              <a:ea typeface="微软雅黑" panose="020B0503020204020204" pitchFamily="34" charset="-122"/>
            </a:endParaRPr>
          </a:p>
        </p:txBody>
      </p:sp>
      <p:cxnSp>
        <p:nvCxnSpPr>
          <p:cNvPr id="5" name="连接符: 曲线 4"/>
          <p:cNvCxnSpPr>
            <a:stCxn id="3" idx="3"/>
            <a:endCxn id="7" idx="1"/>
          </p:cNvCxnSpPr>
          <p:nvPr/>
        </p:nvCxnSpPr>
        <p:spPr bwMode="auto">
          <a:xfrm flipH="1">
            <a:off x="5491659" y="2377061"/>
            <a:ext cx="1093216" cy="1599823"/>
          </a:xfrm>
          <a:prstGeom prst="curvedConnector5">
            <a:avLst>
              <a:gd name="adj1" fmla="val -20911"/>
              <a:gd name="adj2" fmla="val 50000"/>
              <a:gd name="adj3" fmla="val 120911"/>
            </a:avLst>
          </a:prstGeom>
          <a:ln w="57150">
            <a:headEnd type="none" w="med" len="med"/>
            <a:tailEnd type="triangle"/>
          </a:ln>
        </p:spPr>
        <p:style>
          <a:lnRef idx="3">
            <a:schemeClr val="accent4"/>
          </a:lnRef>
          <a:fillRef idx="0">
            <a:schemeClr val="accent4"/>
          </a:fillRef>
          <a:effectRef idx="2">
            <a:schemeClr val="accent4"/>
          </a:effectRef>
          <a:fontRef idx="minor">
            <a:schemeClr val="tx1"/>
          </a:fontRef>
        </p:style>
      </p:cxnSp>
      <p:sp>
        <p:nvSpPr>
          <p:cNvPr id="6" name="箭头: 五边形 5"/>
          <p:cNvSpPr/>
          <p:nvPr/>
        </p:nvSpPr>
        <p:spPr bwMode="auto">
          <a:xfrm>
            <a:off x="7150677" y="5060630"/>
            <a:ext cx="2262284" cy="504056"/>
          </a:xfrm>
          <a:prstGeom prst="homePlate">
            <a:avLst>
              <a:gd name="adj" fmla="val 0"/>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lstStyle/>
          <a:p>
            <a:pPr algn="ctr" eaLnBrk="1" hangingPunct="1"/>
            <a:r>
              <a:rPr lang="zh-CN" altLang="en-US" dirty="0">
                <a:latin typeface="微软雅黑" panose="020B0503020204020204" pitchFamily="34" charset="-122"/>
                <a:ea typeface="微软雅黑" panose="020B0503020204020204" pitchFamily="34" charset="-122"/>
              </a:rPr>
              <a:t>消息认证算法</a:t>
            </a:r>
            <a:endParaRPr lang="zh-CN" altLang="en-US" dirty="0">
              <a:latin typeface="微软雅黑" panose="020B0503020204020204" pitchFamily="34" charset="-122"/>
              <a:ea typeface="微软雅黑" panose="020B0503020204020204" pitchFamily="34" charset="-122"/>
            </a:endParaRPr>
          </a:p>
        </p:txBody>
      </p:sp>
      <p:sp>
        <p:nvSpPr>
          <p:cNvPr id="7" name="箭头: 五边形 6"/>
          <p:cNvSpPr/>
          <p:nvPr/>
        </p:nvSpPr>
        <p:spPr bwMode="auto">
          <a:xfrm>
            <a:off x="5491659" y="3724856"/>
            <a:ext cx="2469544" cy="504056"/>
          </a:xfrm>
          <a:prstGeom prst="homePlat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zh-CN" altLang="en-US" dirty="0">
                <a:latin typeface="微软雅黑" panose="020B0503020204020204" pitchFamily="34" charset="-122"/>
                <a:ea typeface="微软雅黑" panose="020B0503020204020204" pitchFamily="34" charset="-122"/>
              </a:rPr>
              <a:t>消息认证的实现</a:t>
            </a:r>
            <a:endParaRPr lang="zh-CN" altLang="en-US" dirty="0">
              <a:latin typeface="微软雅黑" panose="020B0503020204020204" pitchFamily="34" charset="-122"/>
              <a:ea typeface="微软雅黑" panose="020B0503020204020204" pitchFamily="34" charset="-122"/>
            </a:endParaRPr>
          </a:p>
        </p:txBody>
      </p:sp>
      <p:cxnSp>
        <p:nvCxnSpPr>
          <p:cNvPr id="8" name="连接符: 曲线 7"/>
          <p:cNvCxnSpPr>
            <a:stCxn id="7" idx="3"/>
            <a:endCxn id="6" idx="1"/>
          </p:cNvCxnSpPr>
          <p:nvPr/>
        </p:nvCxnSpPr>
        <p:spPr bwMode="auto">
          <a:xfrm flipH="1">
            <a:off x="7150677" y="3976884"/>
            <a:ext cx="810526" cy="1335774"/>
          </a:xfrm>
          <a:prstGeom prst="curvedConnector5">
            <a:avLst>
              <a:gd name="adj1" fmla="val -28204"/>
              <a:gd name="adj2" fmla="val 50000"/>
              <a:gd name="adj3" fmla="val 128204"/>
            </a:avLst>
          </a:prstGeom>
          <a:ln w="57150">
            <a:headEnd type="none" w="med" len="med"/>
            <a:tailEnd type="triangle"/>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箭头: 五边形 1"/>
          <p:cNvSpPr/>
          <p:nvPr/>
        </p:nvSpPr>
        <p:spPr bwMode="auto">
          <a:xfrm>
            <a:off x="2993514" y="704273"/>
            <a:ext cx="2493040" cy="576064"/>
          </a:xfrm>
          <a:prstGeom prst="homePlate">
            <a:avLst>
              <a:gd name="adj" fmla="val 0"/>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zh-CN" altLang="en-US" dirty="0">
                <a:latin typeface="微软雅黑" panose="020B0503020204020204" pitchFamily="34" charset="-122"/>
                <a:ea typeface="微软雅黑" panose="020B0503020204020204" pitchFamily="34" charset="-122"/>
              </a:rPr>
              <a:t>消息认证</a:t>
            </a:r>
            <a:endParaRPr lang="zh-CN" altLang="en-US" dirty="0">
              <a:latin typeface="微软雅黑" panose="020B0503020204020204" pitchFamily="34" charset="-122"/>
              <a:ea typeface="微软雅黑" panose="020B0503020204020204" pitchFamily="34" charset="-122"/>
            </a:endParaRPr>
          </a:p>
        </p:txBody>
      </p:sp>
      <p:sp>
        <p:nvSpPr>
          <p:cNvPr id="3" name="箭头: 五边形 2"/>
          <p:cNvSpPr/>
          <p:nvPr/>
        </p:nvSpPr>
        <p:spPr bwMode="auto">
          <a:xfrm>
            <a:off x="4086128" y="2125033"/>
            <a:ext cx="2498747" cy="504056"/>
          </a:xfrm>
          <a:prstGeom prst="homePlate">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ctr" anchorCtr="0" compatLnSpc="1"/>
          <a:lstStyle/>
          <a:p>
            <a:pPr algn="ctr" eaLnBrk="1" hangingPunct="1"/>
            <a:r>
              <a:rPr lang="zh-CN" altLang="en-US" dirty="0">
                <a:latin typeface="微软雅黑" panose="020B0503020204020204" pitchFamily="34" charset="-122"/>
                <a:ea typeface="微软雅黑" panose="020B0503020204020204" pitchFamily="34" charset="-122"/>
              </a:rPr>
              <a:t>认证的概念</a:t>
            </a:r>
            <a:endParaRPr lang="zh-CN" altLang="en-US" dirty="0">
              <a:latin typeface="微软雅黑" panose="020B0503020204020204" pitchFamily="34" charset="-122"/>
              <a:ea typeface="微软雅黑" panose="020B0503020204020204" pitchFamily="34" charset="-122"/>
            </a:endParaRPr>
          </a:p>
        </p:txBody>
      </p:sp>
      <p:cxnSp>
        <p:nvCxnSpPr>
          <p:cNvPr id="5" name="连接符: 曲线 4"/>
          <p:cNvCxnSpPr>
            <a:stCxn id="3" idx="3"/>
            <a:endCxn id="7" idx="1"/>
          </p:cNvCxnSpPr>
          <p:nvPr/>
        </p:nvCxnSpPr>
        <p:spPr bwMode="auto">
          <a:xfrm flipH="1">
            <a:off x="5491659" y="2377061"/>
            <a:ext cx="1093216" cy="1599823"/>
          </a:xfrm>
          <a:prstGeom prst="curvedConnector5">
            <a:avLst>
              <a:gd name="adj1" fmla="val -20911"/>
              <a:gd name="adj2" fmla="val 50000"/>
              <a:gd name="adj3" fmla="val 120911"/>
            </a:avLst>
          </a:prstGeom>
          <a:ln w="57150">
            <a:headEnd type="none" w="med" len="med"/>
            <a:tailEnd type="triangle"/>
          </a:ln>
        </p:spPr>
        <p:style>
          <a:lnRef idx="3">
            <a:schemeClr val="accent4"/>
          </a:lnRef>
          <a:fillRef idx="0">
            <a:schemeClr val="accent4"/>
          </a:fillRef>
          <a:effectRef idx="2">
            <a:schemeClr val="accent4"/>
          </a:effectRef>
          <a:fontRef idx="minor">
            <a:schemeClr val="tx1"/>
          </a:fontRef>
        </p:style>
      </p:cxnSp>
      <p:sp>
        <p:nvSpPr>
          <p:cNvPr id="6" name="箭头: 五边形 5"/>
          <p:cNvSpPr/>
          <p:nvPr/>
        </p:nvSpPr>
        <p:spPr bwMode="auto">
          <a:xfrm>
            <a:off x="7150677" y="5060630"/>
            <a:ext cx="2262284" cy="504056"/>
          </a:xfrm>
          <a:prstGeom prst="homePlate">
            <a:avLst>
              <a:gd name="adj" fmla="val 0"/>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lstStyle/>
          <a:p>
            <a:pPr algn="ctr" eaLnBrk="1" hangingPunct="1"/>
            <a:r>
              <a:rPr lang="zh-CN" altLang="en-US" dirty="0">
                <a:latin typeface="微软雅黑" panose="020B0503020204020204" pitchFamily="34" charset="-122"/>
                <a:ea typeface="微软雅黑" panose="020B0503020204020204" pitchFamily="34" charset="-122"/>
              </a:rPr>
              <a:t>消息认证算法</a:t>
            </a:r>
            <a:endParaRPr lang="zh-CN" altLang="en-US" dirty="0">
              <a:latin typeface="微软雅黑" panose="020B0503020204020204" pitchFamily="34" charset="-122"/>
              <a:ea typeface="微软雅黑" panose="020B0503020204020204" pitchFamily="34" charset="-122"/>
            </a:endParaRPr>
          </a:p>
        </p:txBody>
      </p:sp>
      <p:sp>
        <p:nvSpPr>
          <p:cNvPr id="7" name="箭头: 五边形 6"/>
          <p:cNvSpPr/>
          <p:nvPr/>
        </p:nvSpPr>
        <p:spPr bwMode="auto">
          <a:xfrm>
            <a:off x="5491659" y="3724856"/>
            <a:ext cx="2469544" cy="504056"/>
          </a:xfrm>
          <a:prstGeom prst="homePlat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zh-CN" altLang="en-US" dirty="0">
                <a:latin typeface="微软雅黑" panose="020B0503020204020204" pitchFamily="34" charset="-122"/>
                <a:ea typeface="微软雅黑" panose="020B0503020204020204" pitchFamily="34" charset="-122"/>
              </a:rPr>
              <a:t>消息认证的实现</a:t>
            </a:r>
            <a:endParaRPr lang="zh-CN" altLang="en-US" dirty="0">
              <a:latin typeface="微软雅黑" panose="020B0503020204020204" pitchFamily="34" charset="-122"/>
              <a:ea typeface="微软雅黑" panose="020B0503020204020204" pitchFamily="34" charset="-122"/>
            </a:endParaRPr>
          </a:p>
        </p:txBody>
      </p:sp>
      <p:cxnSp>
        <p:nvCxnSpPr>
          <p:cNvPr id="8" name="连接符: 曲线 7"/>
          <p:cNvCxnSpPr>
            <a:stCxn id="7" idx="3"/>
            <a:endCxn id="6" idx="1"/>
          </p:cNvCxnSpPr>
          <p:nvPr/>
        </p:nvCxnSpPr>
        <p:spPr bwMode="auto">
          <a:xfrm flipH="1">
            <a:off x="7150677" y="3976884"/>
            <a:ext cx="810526" cy="1335774"/>
          </a:xfrm>
          <a:prstGeom prst="curvedConnector5">
            <a:avLst>
              <a:gd name="adj1" fmla="val -28204"/>
              <a:gd name="adj2" fmla="val 50000"/>
              <a:gd name="adj3" fmla="val 128204"/>
            </a:avLst>
          </a:prstGeom>
          <a:ln w="57150">
            <a:headEnd type="none" w="med" len="med"/>
            <a:tailEnd type="triangle"/>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网络环境中常见攻击</a:t>
            </a:r>
            <a:endParaRPr lang="zh-CN" altLang="en-US" dirty="0">
              <a:latin typeface="Times New Roman" panose="02020603050405020304" pitchFamily="18" charset="0"/>
              <a:cs typeface="Times New Roman" panose="02020603050405020304" pitchFamily="18" charset="0"/>
            </a:endParaRPr>
          </a:p>
        </p:txBody>
      </p:sp>
      <p:sp>
        <p:nvSpPr>
          <p:cNvPr id="6" name="文本占位符 5"/>
          <p:cNvSpPr>
            <a:spLocks noGrp="1"/>
          </p:cNvSpPr>
          <p:nvPr>
            <p:ph type="body" sz="quarter" idx="10"/>
          </p:nvPr>
        </p:nvSpPr>
        <p:spPr/>
        <p:txBody>
          <a:bodyPr/>
          <a:lstStyle/>
          <a:p>
            <a:pPr>
              <a:spcBef>
                <a:spcPts val="600"/>
              </a:spcBef>
            </a:pPr>
            <a:r>
              <a:rPr lang="en-US" altLang="zh-CN" dirty="0"/>
              <a:t>Disclosure </a:t>
            </a:r>
            <a:r>
              <a:rPr lang="zh-CN" altLang="en-US" dirty="0"/>
              <a:t>泄露</a:t>
            </a:r>
            <a:endParaRPr lang="zh-CN" altLang="en-US" dirty="0"/>
          </a:p>
          <a:p>
            <a:pPr>
              <a:spcBef>
                <a:spcPts val="600"/>
              </a:spcBef>
            </a:pPr>
            <a:r>
              <a:rPr lang="en-US" altLang="zh-CN" dirty="0"/>
              <a:t>Traffic analysis </a:t>
            </a:r>
            <a:r>
              <a:rPr lang="zh-CN" altLang="en-US" dirty="0"/>
              <a:t>流量分析</a:t>
            </a:r>
            <a:endParaRPr lang="en-US" altLang="zh-CN" dirty="0"/>
          </a:p>
          <a:p>
            <a:pPr lvl="1">
              <a:spcBef>
                <a:spcPts val="600"/>
              </a:spcBef>
            </a:pPr>
            <a:r>
              <a:rPr lang="zh-CN" altLang="en-US" dirty="0"/>
              <a:t>确定连接频率、持续时间、消息量</a:t>
            </a:r>
            <a:endParaRPr lang="zh-CN" altLang="en-US" dirty="0"/>
          </a:p>
          <a:p>
            <a:pPr>
              <a:spcBef>
                <a:spcPts val="600"/>
              </a:spcBef>
            </a:pPr>
            <a:r>
              <a:rPr lang="en-US" altLang="zh-CN" dirty="0"/>
              <a:t>Masquerade </a:t>
            </a:r>
            <a:r>
              <a:rPr lang="zh-CN" altLang="en-US" dirty="0"/>
              <a:t>伪装</a:t>
            </a:r>
            <a:endParaRPr lang="en-US" altLang="zh-CN" dirty="0"/>
          </a:p>
          <a:p>
            <a:pPr lvl="1">
              <a:spcBef>
                <a:spcPts val="600"/>
              </a:spcBef>
            </a:pPr>
            <a:r>
              <a:rPr lang="zh-CN" altLang="en-US" dirty="0"/>
              <a:t>身份假冒</a:t>
            </a:r>
            <a:endParaRPr lang="zh-CN" altLang="en-US" dirty="0"/>
          </a:p>
          <a:p>
            <a:pPr>
              <a:spcBef>
                <a:spcPts val="600"/>
              </a:spcBef>
            </a:pPr>
            <a:r>
              <a:rPr lang="en-US" altLang="zh-CN" dirty="0"/>
              <a:t>Content modification </a:t>
            </a:r>
            <a:r>
              <a:rPr lang="zh-CN" altLang="en-US" dirty="0"/>
              <a:t>内容篡改</a:t>
            </a:r>
            <a:endParaRPr lang="en-US" altLang="zh-CN" dirty="0"/>
          </a:p>
          <a:p>
            <a:pPr lvl="1">
              <a:spcBef>
                <a:spcPts val="600"/>
              </a:spcBef>
            </a:pPr>
            <a:r>
              <a:rPr lang="zh-CN" altLang="en-US" dirty="0"/>
              <a:t>插入、删除、转换、修改</a:t>
            </a:r>
            <a:endParaRPr lang="zh-CN" altLang="en-US" dirty="0"/>
          </a:p>
          <a:p>
            <a:pPr>
              <a:spcBef>
                <a:spcPts val="600"/>
              </a:spcBef>
            </a:pPr>
            <a:r>
              <a:rPr lang="en-US" altLang="zh-CN" dirty="0"/>
              <a:t>Sequence modification </a:t>
            </a:r>
            <a:r>
              <a:rPr lang="zh-CN" altLang="en-US" dirty="0"/>
              <a:t>顺序篡改</a:t>
            </a:r>
            <a:endParaRPr lang="en-US" altLang="zh-CN" dirty="0"/>
          </a:p>
          <a:p>
            <a:pPr lvl="1">
              <a:spcBef>
                <a:spcPts val="600"/>
              </a:spcBef>
            </a:pPr>
            <a:r>
              <a:rPr lang="zh-CN" altLang="en-US" dirty="0"/>
              <a:t>插入、删除、重排序</a:t>
            </a:r>
            <a:endParaRPr lang="zh-CN" altLang="en-US" dirty="0"/>
          </a:p>
          <a:p>
            <a:pPr>
              <a:spcBef>
                <a:spcPts val="600"/>
              </a:spcBef>
            </a:pPr>
            <a:r>
              <a:rPr lang="en-US" altLang="zh-CN" dirty="0"/>
              <a:t>Timing modification </a:t>
            </a:r>
            <a:r>
              <a:rPr lang="zh-CN" altLang="en-US" dirty="0"/>
              <a:t>计时篡改</a:t>
            </a:r>
            <a:endParaRPr lang="en-US" altLang="zh-CN" dirty="0"/>
          </a:p>
          <a:p>
            <a:pPr lvl="1">
              <a:spcBef>
                <a:spcPts val="600"/>
              </a:spcBef>
            </a:pPr>
            <a:r>
              <a:rPr lang="zh-CN" altLang="en-US" dirty="0"/>
              <a:t>延时、重放</a:t>
            </a:r>
            <a:endParaRPr lang="zh-CN" altLang="en-US" dirty="0"/>
          </a:p>
          <a:p>
            <a:pPr>
              <a:spcBef>
                <a:spcPts val="600"/>
              </a:spcBef>
            </a:pPr>
            <a:r>
              <a:rPr lang="en-US" altLang="zh-CN" dirty="0"/>
              <a:t>Source repudiation </a:t>
            </a:r>
            <a:r>
              <a:rPr lang="zh-CN" altLang="en-US" dirty="0"/>
              <a:t>信源抵赖</a:t>
            </a:r>
            <a:endParaRPr lang="zh-CN" altLang="en-US" dirty="0"/>
          </a:p>
          <a:p>
            <a:pPr>
              <a:spcBef>
                <a:spcPts val="600"/>
              </a:spcBef>
            </a:pPr>
            <a:r>
              <a:rPr lang="en-US" altLang="zh-CN" dirty="0"/>
              <a:t>Destination repudiation </a:t>
            </a:r>
            <a:r>
              <a:rPr lang="zh-CN" altLang="en-US" dirty="0"/>
              <a:t>信宿抵赖</a:t>
            </a:r>
            <a:endParaRPr lang="zh-CN" altLang="en-US" dirty="0">
              <a:latin typeface="Times New Roman" panose="02020603050405020304" pitchFamily="18" charset="0"/>
              <a:cs typeface="Times New Roman" panose="02020603050405020304" pitchFamily="18" charset="0"/>
            </a:endParaRPr>
          </a:p>
        </p:txBody>
      </p:sp>
      <p:sp>
        <p:nvSpPr>
          <p:cNvPr id="4" name="右大括号 3"/>
          <p:cNvSpPr/>
          <p:nvPr/>
        </p:nvSpPr>
        <p:spPr>
          <a:xfrm>
            <a:off x="6072211" y="1177952"/>
            <a:ext cx="285752" cy="1071570"/>
          </a:xfrm>
          <a:prstGeom prst="rightBrace">
            <a:avLst>
              <a:gd name="adj1" fmla="val 65988"/>
              <a:gd name="adj2" fmla="val 50000"/>
            </a:avLst>
          </a:prstGeom>
          <a:ln w="254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rgbClr val="7030A0"/>
              </a:solidFill>
            </a:endParaRPr>
          </a:p>
        </p:txBody>
      </p:sp>
      <p:sp>
        <p:nvSpPr>
          <p:cNvPr id="7" name="TextBox 6"/>
          <p:cNvSpPr txBox="1"/>
          <p:nvPr/>
        </p:nvSpPr>
        <p:spPr>
          <a:xfrm>
            <a:off x="6442448" y="1492222"/>
            <a:ext cx="697627" cy="400110"/>
          </a:xfrm>
          <a:prstGeom prst="rect">
            <a:avLst/>
          </a:prstGeom>
          <a:noFill/>
        </p:spPr>
        <p:txBody>
          <a:bodyPr wrap="none" rtlCol="0">
            <a:spAutoFit/>
          </a:bodyPr>
          <a:lstStyle/>
          <a:p>
            <a:r>
              <a:rPr lang="zh-CN" altLang="en-US" sz="2000" dirty="0">
                <a:solidFill>
                  <a:srgbClr val="7030A0"/>
                </a:solidFill>
                <a:latin typeface="微软雅黑" panose="020B0503020204020204" pitchFamily="34" charset="-122"/>
              </a:rPr>
              <a:t>加密</a:t>
            </a:r>
            <a:endParaRPr lang="zh-CN" altLang="en-US" sz="2000" dirty="0">
              <a:solidFill>
                <a:srgbClr val="7030A0"/>
              </a:solidFill>
              <a:latin typeface="微软雅黑" panose="020B0503020204020204" pitchFamily="34" charset="-122"/>
            </a:endParaRPr>
          </a:p>
        </p:txBody>
      </p:sp>
      <p:sp>
        <p:nvSpPr>
          <p:cNvPr id="8" name="右大括号 7"/>
          <p:cNvSpPr/>
          <p:nvPr/>
        </p:nvSpPr>
        <p:spPr>
          <a:xfrm>
            <a:off x="6072211" y="2321859"/>
            <a:ext cx="288032" cy="3968661"/>
          </a:xfrm>
          <a:prstGeom prst="rightBrace">
            <a:avLst>
              <a:gd name="adj1" fmla="val 75132"/>
              <a:gd name="adj2" fmla="val 50000"/>
            </a:avLst>
          </a:prstGeom>
          <a:ln w="254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rgbClr val="7030A0"/>
              </a:solidFill>
            </a:endParaRPr>
          </a:p>
        </p:txBody>
      </p:sp>
      <p:sp>
        <p:nvSpPr>
          <p:cNvPr id="9" name="TextBox 8"/>
          <p:cNvSpPr txBox="1"/>
          <p:nvPr/>
        </p:nvSpPr>
        <p:spPr>
          <a:xfrm>
            <a:off x="6454705" y="4202288"/>
            <a:ext cx="697627" cy="400110"/>
          </a:xfrm>
          <a:prstGeom prst="rect">
            <a:avLst/>
          </a:prstGeom>
          <a:noFill/>
        </p:spPr>
        <p:txBody>
          <a:bodyPr wrap="none" rtlCol="0">
            <a:spAutoFit/>
          </a:bodyPr>
          <a:lstStyle/>
          <a:p>
            <a:r>
              <a:rPr lang="zh-CN" altLang="en-US" sz="2000" dirty="0">
                <a:solidFill>
                  <a:srgbClr val="7030A0"/>
                </a:solidFill>
                <a:latin typeface="微软雅黑" panose="020B0503020204020204" pitchFamily="34" charset="-122"/>
              </a:rPr>
              <a:t>认证</a:t>
            </a:r>
            <a:endParaRPr lang="zh-CN" altLang="en-US" sz="2000" dirty="0">
              <a:solidFill>
                <a:srgbClr val="7030A0"/>
              </a:solidFill>
              <a:latin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animBg="1"/>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认证服务</a:t>
            </a:r>
            <a:endParaRPr lang="zh-CN" altLang="en-US" dirty="0"/>
          </a:p>
        </p:txBody>
      </p:sp>
      <p:sp>
        <p:nvSpPr>
          <p:cNvPr id="3" name="文本占位符 2"/>
          <p:cNvSpPr>
            <a:spLocks noGrp="1"/>
          </p:cNvSpPr>
          <p:nvPr>
            <p:ph type="body" sz="quarter" idx="10"/>
          </p:nvPr>
        </p:nvSpPr>
        <p:spPr/>
        <p:txBody>
          <a:bodyPr/>
          <a:lstStyle/>
          <a:p>
            <a:r>
              <a:rPr lang="zh-CN" altLang="en-US" dirty="0"/>
              <a:t>认证服务和功能</a:t>
            </a:r>
            <a:endParaRPr lang="zh-CN" altLang="en-US" dirty="0"/>
          </a:p>
          <a:p>
            <a:pPr lvl="1"/>
            <a:r>
              <a:rPr lang="zh-CN" altLang="en-US" dirty="0"/>
              <a:t>认证是证实信息交换过程有效性和合法性的一种手段，包括</a:t>
            </a:r>
            <a:endParaRPr lang="zh-CN" altLang="en-US" dirty="0"/>
          </a:p>
          <a:p>
            <a:pPr lvl="2"/>
            <a:r>
              <a:rPr lang="zh-CN" altLang="en-US" dirty="0">
                <a:solidFill>
                  <a:srgbClr val="C00000"/>
                </a:solidFill>
              </a:rPr>
              <a:t>消息认证</a:t>
            </a:r>
            <a:r>
              <a:rPr lang="zh-CN" altLang="en-US" dirty="0"/>
              <a:t>（也称报文认证）</a:t>
            </a:r>
            <a:endParaRPr lang="en-US" altLang="zh-CN" dirty="0"/>
          </a:p>
          <a:p>
            <a:pPr lvl="3"/>
            <a:r>
              <a:rPr lang="zh-CN" altLang="en-US" dirty="0"/>
              <a:t>在产生消息时进行：</a:t>
            </a:r>
            <a:r>
              <a:rPr lang="en-US" altLang="zh-CN" dirty="0"/>
              <a:t> MAC</a:t>
            </a:r>
            <a:r>
              <a:rPr lang="zh-CN" altLang="en-US" dirty="0"/>
              <a:t>、</a:t>
            </a:r>
            <a:r>
              <a:rPr lang="en-US" altLang="zh-CN" dirty="0"/>
              <a:t>Hash</a:t>
            </a:r>
            <a:r>
              <a:rPr lang="zh-CN" altLang="en-US" dirty="0"/>
              <a:t>、数字签名</a:t>
            </a:r>
            <a:endParaRPr lang="en-US" altLang="zh-CN" dirty="0"/>
          </a:p>
          <a:p>
            <a:pPr lvl="3"/>
            <a:r>
              <a:rPr lang="zh-CN" altLang="en-US" dirty="0"/>
              <a:t>涉及的是特定实体所声称的特定消息</a:t>
            </a:r>
            <a:endParaRPr lang="en-US" altLang="zh-CN" dirty="0"/>
          </a:p>
          <a:p>
            <a:pPr lvl="3"/>
            <a:r>
              <a:rPr lang="zh-CN" altLang="en-US" dirty="0"/>
              <a:t>主要任务是消息内容的认证，即</a:t>
            </a:r>
            <a:r>
              <a:rPr lang="zh-CN" altLang="en-US" dirty="0">
                <a:solidFill>
                  <a:srgbClr val="0070C0"/>
                </a:solidFill>
                <a:cs typeface="Times New Roman" panose="02020603050405020304" pitchFamily="18" charset="0"/>
              </a:rPr>
              <a:t>保护报文的真实性、完整性</a:t>
            </a:r>
            <a:endParaRPr lang="en-US" altLang="zh-CN" dirty="0"/>
          </a:p>
          <a:p>
            <a:pPr lvl="3"/>
            <a:r>
              <a:rPr lang="zh-CN" altLang="en-US" dirty="0"/>
              <a:t>可以</a:t>
            </a:r>
            <a:r>
              <a:rPr lang="zh-CN" altLang="en-US" dirty="0">
                <a:solidFill>
                  <a:srgbClr val="00B050"/>
                </a:solidFill>
              </a:rPr>
              <a:t>兼具认证信源身份、认证时间性（需配合协议）的功能</a:t>
            </a:r>
            <a:endParaRPr lang="en-US" altLang="zh-CN" dirty="0">
              <a:solidFill>
                <a:srgbClr val="00B050"/>
              </a:solidFill>
            </a:endParaRPr>
          </a:p>
          <a:p>
            <a:pPr lvl="3"/>
            <a:r>
              <a:rPr lang="zh-CN" altLang="en-US" dirty="0">
                <a:cs typeface="Times New Roman" panose="02020603050405020304" pitchFamily="18" charset="0"/>
              </a:rPr>
              <a:t>通常与实际的安全需求结合起来考虑</a:t>
            </a:r>
            <a:endParaRPr lang="en-US" altLang="zh-CN" dirty="0">
              <a:solidFill>
                <a:srgbClr val="00B050"/>
              </a:solidFill>
            </a:endParaRPr>
          </a:p>
          <a:p>
            <a:pPr lvl="2"/>
            <a:r>
              <a:rPr lang="zh-CN" altLang="en-US" dirty="0">
                <a:solidFill>
                  <a:srgbClr val="C00000"/>
                </a:solidFill>
              </a:rPr>
              <a:t>身份认证</a:t>
            </a:r>
            <a:r>
              <a:rPr lang="zh-CN" altLang="en-US" dirty="0"/>
              <a:t>（也称实体认证）</a:t>
            </a:r>
            <a:endParaRPr lang="en-US" altLang="zh-CN" dirty="0"/>
          </a:p>
          <a:p>
            <a:pPr lvl="3"/>
            <a:r>
              <a:rPr lang="zh-CN" altLang="en-US" dirty="0"/>
              <a:t>在协议执行时进行：身份认证协议</a:t>
            </a:r>
            <a:endParaRPr lang="en-US" altLang="zh-CN" dirty="0"/>
          </a:p>
          <a:p>
            <a:pPr lvl="3"/>
            <a:r>
              <a:rPr lang="zh-CN" altLang="en-US" dirty="0"/>
              <a:t>通常涉及的是特定实体所具有某些信息，而非传递的消息</a:t>
            </a:r>
            <a:endParaRPr lang="zh-CN" altLang="en-US" dirty="0"/>
          </a:p>
          <a:p>
            <a:pPr lvl="1"/>
            <a:endParaRPr lang="en-US" altLang="zh-CN" dirty="0"/>
          </a:p>
          <a:p>
            <a:r>
              <a:rPr lang="zh-CN" altLang="en-US" dirty="0"/>
              <a:t>认证的目的</a:t>
            </a:r>
            <a:endParaRPr lang="zh-CN" altLang="en-US" dirty="0"/>
          </a:p>
          <a:p>
            <a:pPr lvl="1"/>
            <a:r>
              <a:rPr lang="zh-CN" altLang="en-US" dirty="0"/>
              <a:t>防篡改、防伪装、防重放、防抵赖等等</a:t>
            </a:r>
            <a:endParaRPr lang="zh-CN" altLang="en-US" dirty="0"/>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a:t>
            </a:r>
            <a:r>
              <a:rPr lang="en-US" altLang="zh-CN" dirty="0"/>
              <a:t>: TCP</a:t>
            </a:r>
            <a:r>
              <a:rPr lang="zh-CN" altLang="en-US" dirty="0"/>
              <a:t>帧校验码</a:t>
            </a:r>
            <a:endParaRPr lang="zh-CN" altLang="en-US" dirty="0"/>
          </a:p>
        </p:txBody>
      </p:sp>
      <p:sp>
        <p:nvSpPr>
          <p:cNvPr id="3" name="文本占位符 2"/>
          <p:cNvSpPr>
            <a:spLocks noGrp="1"/>
          </p:cNvSpPr>
          <p:nvPr>
            <p:ph type="body" sz="quarter" idx="10"/>
          </p:nvPr>
        </p:nvSpPr>
        <p:spPr/>
        <p:txBody>
          <a:bodyPr/>
          <a:lstStyle/>
          <a:p>
            <a:r>
              <a:rPr lang="en-US" altLang="zh-CN" dirty="0"/>
              <a:t>TCP</a:t>
            </a:r>
            <a:r>
              <a:rPr lang="zh-CN" altLang="en-US" dirty="0"/>
              <a:t>头结构提供了额外的特定结构，保证密文不被篡改</a:t>
            </a:r>
            <a:endParaRPr lang="zh-CN" altLang="en-US" dirty="0"/>
          </a:p>
          <a:p>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1056154" y="1503875"/>
            <a:ext cx="6153150" cy="3562350"/>
          </a:xfrm>
          <a:prstGeom prst="rect">
            <a:avLst/>
          </a:prstGeom>
          <a:noFill/>
          <a:ln w="9525">
            <a:noFill/>
            <a:miter lim="800000"/>
            <a:headEnd/>
            <a:tailEnd/>
          </a:ln>
          <a:effectLst/>
        </p:spPr>
      </p:pic>
      <p:sp>
        <p:nvSpPr>
          <p:cNvPr id="7" name="矩形 6"/>
          <p:cNvSpPr/>
          <p:nvPr/>
        </p:nvSpPr>
        <p:spPr>
          <a:xfrm>
            <a:off x="1488202" y="3317522"/>
            <a:ext cx="2736304" cy="288032"/>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3831" y="2305980"/>
            <a:ext cx="4354181" cy="35274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a:t>
            </a:r>
            <a:r>
              <a:rPr lang="en-US" altLang="zh-CN" dirty="0"/>
              <a:t>: TCP</a:t>
            </a:r>
            <a:r>
              <a:rPr lang="zh-CN" altLang="en-US" dirty="0"/>
              <a:t>帧校验码</a:t>
            </a:r>
            <a:endParaRPr lang="zh-CN" altLang="en-US" dirty="0"/>
          </a:p>
        </p:txBody>
      </p:sp>
      <p:sp>
        <p:nvSpPr>
          <p:cNvPr id="3" name="文本占位符 2"/>
          <p:cNvSpPr>
            <a:spLocks noGrp="1"/>
          </p:cNvSpPr>
          <p:nvPr>
            <p:ph type="body" sz="quarter" idx="10"/>
          </p:nvPr>
        </p:nvSpPr>
        <p:spPr/>
        <p:txBody>
          <a:bodyPr/>
          <a:lstStyle/>
          <a:p>
            <a:r>
              <a:rPr lang="zh-CN" altLang="en-US" dirty="0"/>
              <a:t>帧校验码</a:t>
            </a:r>
            <a:r>
              <a:rPr lang="en-US" altLang="zh-CN" dirty="0"/>
              <a:t>FCS</a:t>
            </a:r>
            <a:r>
              <a:rPr lang="zh-CN" altLang="en-US" dirty="0"/>
              <a:t>和加密函数的顺序很关键</a:t>
            </a:r>
            <a:endParaRPr lang="zh-CN" altLang="en-US" dirty="0"/>
          </a:p>
          <a:p>
            <a:endParaRPr lang="zh-CN" altLang="en-US" dirty="0"/>
          </a:p>
        </p:txBody>
      </p:sp>
      <p:pic>
        <p:nvPicPr>
          <p:cNvPr id="4" name="Picture 2"/>
          <p:cNvPicPr>
            <a:picLocks noChangeAspect="1" noChangeArrowheads="1"/>
          </p:cNvPicPr>
          <p:nvPr/>
        </p:nvPicPr>
        <p:blipFill>
          <a:blip r:embed="rId1" cstate="print"/>
          <a:srcRect/>
          <a:stretch>
            <a:fillRect/>
          </a:stretch>
        </p:blipFill>
        <p:spPr bwMode="auto">
          <a:xfrm>
            <a:off x="962925" y="1566337"/>
            <a:ext cx="7270908" cy="4094398"/>
          </a:xfrm>
          <a:prstGeom prst="rect">
            <a:avLst/>
          </a:prstGeom>
          <a:noFill/>
          <a:ln w="9525">
            <a:noFill/>
            <a:miter lim="800000"/>
            <a:headEnd/>
            <a:tailEnd/>
          </a:ln>
          <a:effectLst/>
        </p:spPr>
      </p:pic>
      <p:sp>
        <p:nvSpPr>
          <p:cNvPr id="5" name="文本框 4"/>
          <p:cNvSpPr txBox="1"/>
          <p:nvPr/>
        </p:nvSpPr>
        <p:spPr>
          <a:xfrm>
            <a:off x="8317730" y="2075727"/>
            <a:ext cx="3024336" cy="646331"/>
          </a:xfrm>
          <a:prstGeom prst="rect">
            <a:avLst/>
          </a:prstGeom>
          <a:noFill/>
        </p:spPr>
        <p:txBody>
          <a:bodyPr wrap="square" rtlCol="0">
            <a:spAutoFit/>
          </a:bodyPr>
          <a:lstStyle/>
          <a:p>
            <a:r>
              <a:rPr lang="zh-CN" altLang="en-US"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加密保护了数据，但不解密就不能验证</a:t>
            </a:r>
            <a:r>
              <a:rPr lang="en-US" altLang="zh-CN"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FCS</a:t>
            </a:r>
            <a:endParaRPr lang="zh-CN" altLang="en-US"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框 5"/>
          <p:cNvSpPr txBox="1"/>
          <p:nvPr/>
        </p:nvSpPr>
        <p:spPr>
          <a:xfrm>
            <a:off x="8233833" y="4427270"/>
            <a:ext cx="3456384" cy="646331"/>
          </a:xfrm>
          <a:prstGeom prst="rect">
            <a:avLst/>
          </a:prstGeom>
          <a:noFill/>
        </p:spPr>
        <p:txBody>
          <a:bodyPr wrap="square" rtlCol="0">
            <a:spAutoFit/>
          </a:bodyPr>
          <a:lstStyle/>
          <a:p>
            <a:r>
              <a:rPr lang="zh-CN" altLang="en-US"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不解密也能验证密文的</a:t>
            </a:r>
            <a:r>
              <a:rPr lang="en-US" altLang="zh-CN"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FCS</a:t>
            </a:r>
            <a:r>
              <a:rPr lang="zh-CN" altLang="en-US"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，但不能检测攻击者对密文的篡改</a:t>
            </a:r>
            <a:endParaRPr lang="zh-CN" altLang="en-US"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箭头: 五边形 1"/>
          <p:cNvSpPr/>
          <p:nvPr/>
        </p:nvSpPr>
        <p:spPr bwMode="auto">
          <a:xfrm>
            <a:off x="2993514" y="704273"/>
            <a:ext cx="2493040" cy="576064"/>
          </a:xfrm>
          <a:prstGeom prst="homePlate">
            <a:avLst>
              <a:gd name="adj" fmla="val 0"/>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zh-CN" altLang="en-US" dirty="0">
                <a:latin typeface="微软雅黑" panose="020B0503020204020204" pitchFamily="34" charset="-122"/>
                <a:ea typeface="微软雅黑" panose="020B0503020204020204" pitchFamily="34" charset="-122"/>
              </a:rPr>
              <a:t>消息认证</a:t>
            </a:r>
            <a:endParaRPr lang="zh-CN" altLang="en-US" dirty="0">
              <a:latin typeface="微软雅黑" panose="020B0503020204020204" pitchFamily="34" charset="-122"/>
              <a:ea typeface="微软雅黑" panose="020B0503020204020204" pitchFamily="34" charset="-122"/>
            </a:endParaRPr>
          </a:p>
        </p:txBody>
      </p:sp>
      <p:sp>
        <p:nvSpPr>
          <p:cNvPr id="3" name="箭头: 五边形 2"/>
          <p:cNvSpPr/>
          <p:nvPr/>
        </p:nvSpPr>
        <p:spPr bwMode="auto">
          <a:xfrm>
            <a:off x="4086128" y="2125033"/>
            <a:ext cx="2498747" cy="504056"/>
          </a:xfrm>
          <a:prstGeom prst="homePlat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lstStyle/>
          <a:p>
            <a:pPr algn="ctr" eaLnBrk="1" hangingPunct="1"/>
            <a:r>
              <a:rPr lang="zh-CN" altLang="en-US" dirty="0">
                <a:latin typeface="微软雅黑" panose="020B0503020204020204" pitchFamily="34" charset="-122"/>
                <a:ea typeface="微软雅黑" panose="020B0503020204020204" pitchFamily="34" charset="-122"/>
              </a:rPr>
              <a:t>认证的概念</a:t>
            </a:r>
            <a:endParaRPr lang="zh-CN" altLang="en-US" dirty="0">
              <a:latin typeface="微软雅黑" panose="020B0503020204020204" pitchFamily="34" charset="-122"/>
              <a:ea typeface="微软雅黑" panose="020B0503020204020204" pitchFamily="34" charset="-122"/>
            </a:endParaRPr>
          </a:p>
        </p:txBody>
      </p:sp>
      <p:cxnSp>
        <p:nvCxnSpPr>
          <p:cNvPr id="5" name="连接符: 曲线 4"/>
          <p:cNvCxnSpPr>
            <a:stCxn id="3" idx="3"/>
            <a:endCxn id="7" idx="1"/>
          </p:cNvCxnSpPr>
          <p:nvPr/>
        </p:nvCxnSpPr>
        <p:spPr bwMode="auto">
          <a:xfrm flipH="1">
            <a:off x="5491659" y="2377061"/>
            <a:ext cx="1093216" cy="1599823"/>
          </a:xfrm>
          <a:prstGeom prst="curvedConnector5">
            <a:avLst>
              <a:gd name="adj1" fmla="val -20911"/>
              <a:gd name="adj2" fmla="val 50000"/>
              <a:gd name="adj3" fmla="val 120911"/>
            </a:avLst>
          </a:prstGeom>
          <a:ln w="57150">
            <a:headEnd type="none" w="med" len="med"/>
            <a:tailEnd type="triangle"/>
          </a:ln>
        </p:spPr>
        <p:style>
          <a:lnRef idx="3">
            <a:schemeClr val="accent4"/>
          </a:lnRef>
          <a:fillRef idx="0">
            <a:schemeClr val="accent4"/>
          </a:fillRef>
          <a:effectRef idx="2">
            <a:schemeClr val="accent4"/>
          </a:effectRef>
          <a:fontRef idx="minor">
            <a:schemeClr val="tx1"/>
          </a:fontRef>
        </p:style>
      </p:cxnSp>
      <p:sp>
        <p:nvSpPr>
          <p:cNvPr id="6" name="箭头: 五边形 5"/>
          <p:cNvSpPr/>
          <p:nvPr/>
        </p:nvSpPr>
        <p:spPr bwMode="auto">
          <a:xfrm>
            <a:off x="7150677" y="5060630"/>
            <a:ext cx="2262284" cy="504056"/>
          </a:xfrm>
          <a:prstGeom prst="homePlate">
            <a:avLst>
              <a:gd name="adj" fmla="val 0"/>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lstStyle/>
          <a:p>
            <a:pPr algn="ctr" eaLnBrk="1" hangingPunct="1"/>
            <a:r>
              <a:rPr lang="zh-CN" altLang="en-US" dirty="0">
                <a:latin typeface="微软雅黑" panose="020B0503020204020204" pitchFamily="34" charset="-122"/>
                <a:ea typeface="微软雅黑" panose="020B0503020204020204" pitchFamily="34" charset="-122"/>
              </a:rPr>
              <a:t>消息认证算法</a:t>
            </a:r>
            <a:endParaRPr lang="zh-CN" altLang="en-US" dirty="0">
              <a:latin typeface="微软雅黑" panose="020B0503020204020204" pitchFamily="34" charset="-122"/>
              <a:ea typeface="微软雅黑" panose="020B0503020204020204" pitchFamily="34" charset="-122"/>
            </a:endParaRPr>
          </a:p>
        </p:txBody>
      </p:sp>
      <p:sp>
        <p:nvSpPr>
          <p:cNvPr id="7" name="箭头: 五边形 6"/>
          <p:cNvSpPr/>
          <p:nvPr/>
        </p:nvSpPr>
        <p:spPr bwMode="auto">
          <a:xfrm>
            <a:off x="5491659" y="3724856"/>
            <a:ext cx="2469544" cy="504056"/>
          </a:xfrm>
          <a:prstGeom prst="homePlate">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ctr" anchorCtr="0" compatLnSpc="1"/>
          <a:lstStyle/>
          <a:p>
            <a:pPr algn="ctr" eaLnBrk="1" hangingPunct="1"/>
            <a:r>
              <a:rPr lang="zh-CN" altLang="en-US" dirty="0">
                <a:latin typeface="微软雅黑" panose="020B0503020204020204" pitchFamily="34" charset="-122"/>
                <a:ea typeface="微软雅黑" panose="020B0503020204020204" pitchFamily="34" charset="-122"/>
              </a:rPr>
              <a:t>消息认证的实现</a:t>
            </a:r>
            <a:endParaRPr lang="zh-CN" altLang="en-US" dirty="0">
              <a:latin typeface="微软雅黑" panose="020B0503020204020204" pitchFamily="34" charset="-122"/>
              <a:ea typeface="微软雅黑" panose="020B0503020204020204" pitchFamily="34" charset="-122"/>
            </a:endParaRPr>
          </a:p>
        </p:txBody>
      </p:sp>
      <p:cxnSp>
        <p:nvCxnSpPr>
          <p:cNvPr id="8" name="连接符: 曲线 7"/>
          <p:cNvCxnSpPr>
            <a:stCxn id="7" idx="3"/>
            <a:endCxn id="6" idx="1"/>
          </p:cNvCxnSpPr>
          <p:nvPr/>
        </p:nvCxnSpPr>
        <p:spPr bwMode="auto">
          <a:xfrm flipH="1">
            <a:off x="7150677" y="3976884"/>
            <a:ext cx="810526" cy="1335774"/>
          </a:xfrm>
          <a:prstGeom prst="curvedConnector5">
            <a:avLst>
              <a:gd name="adj1" fmla="val -28204"/>
              <a:gd name="adj2" fmla="val 50000"/>
              <a:gd name="adj3" fmla="val 128204"/>
            </a:avLst>
          </a:prstGeom>
          <a:ln w="57150">
            <a:headEnd type="none" w="med" len="med"/>
            <a:tailEnd type="triangle"/>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消息认证服务的实现机制</a:t>
            </a:r>
            <a:endParaRPr lang="zh-CN" altLang="en-US" dirty="0"/>
          </a:p>
        </p:txBody>
      </p:sp>
      <p:sp>
        <p:nvSpPr>
          <p:cNvPr id="3" name="文本占位符 2"/>
          <p:cNvSpPr>
            <a:spLocks noGrp="1"/>
          </p:cNvSpPr>
          <p:nvPr>
            <p:ph type="body" sz="quarter" idx="10"/>
          </p:nvPr>
        </p:nvSpPr>
        <p:spPr/>
        <p:txBody>
          <a:bodyPr/>
          <a:lstStyle/>
          <a:p>
            <a:pPr>
              <a:lnSpc>
                <a:spcPct val="90000"/>
              </a:lnSpc>
            </a:pPr>
            <a:r>
              <a:rPr lang="zh-CN" altLang="en-US" dirty="0">
                <a:cs typeface="Times New Roman" panose="02020603050405020304" pitchFamily="18" charset="0"/>
              </a:rPr>
              <a:t>三种操作</a:t>
            </a:r>
            <a:r>
              <a:rPr lang="en-US" altLang="zh-CN" dirty="0">
                <a:cs typeface="Times New Roman" panose="02020603050405020304" pitchFamily="18" charset="0"/>
              </a:rPr>
              <a:t>/</a:t>
            </a:r>
            <a:r>
              <a:rPr lang="zh-CN" altLang="en-US" dirty="0">
                <a:cs typeface="Times New Roman" panose="02020603050405020304" pitchFamily="18" charset="0"/>
              </a:rPr>
              <a:t>机制可以提供消息认证：</a:t>
            </a:r>
            <a:endParaRPr lang="en-US" altLang="zh-CN" dirty="0">
              <a:cs typeface="Times New Roman" panose="02020603050405020304" pitchFamily="18" charset="0"/>
            </a:endParaRPr>
          </a:p>
          <a:p>
            <a:pPr lvl="1">
              <a:lnSpc>
                <a:spcPct val="90000"/>
              </a:lnSpc>
            </a:pPr>
            <a:endParaRPr lang="en-US" altLang="zh-CN" dirty="0">
              <a:cs typeface="Times New Roman" panose="02020603050405020304" pitchFamily="18" charset="0"/>
            </a:endParaRPr>
          </a:p>
          <a:p>
            <a:pPr lvl="1">
              <a:lnSpc>
                <a:spcPct val="90000"/>
              </a:lnSpc>
            </a:pPr>
            <a:r>
              <a:rPr lang="zh-CN" altLang="en-US" dirty="0">
                <a:cs typeface="Times New Roman" panose="02020603050405020304" pitchFamily="18" charset="0"/>
              </a:rPr>
              <a:t>消息加密</a:t>
            </a:r>
            <a:endParaRPr lang="en-US" altLang="zh-CN" dirty="0">
              <a:cs typeface="Times New Roman" panose="02020603050405020304" pitchFamily="18" charset="0"/>
            </a:endParaRPr>
          </a:p>
          <a:p>
            <a:pPr lvl="1">
              <a:lnSpc>
                <a:spcPct val="90000"/>
              </a:lnSpc>
            </a:pPr>
            <a:endParaRPr lang="en-US" altLang="zh-CN" dirty="0">
              <a:cs typeface="Times New Roman" panose="02020603050405020304" pitchFamily="18" charset="0"/>
            </a:endParaRPr>
          </a:p>
          <a:p>
            <a:pPr lvl="1">
              <a:lnSpc>
                <a:spcPct val="90000"/>
              </a:lnSpc>
            </a:pPr>
            <a:r>
              <a:rPr lang="zh-CN" altLang="en-US" dirty="0">
                <a:cs typeface="Times New Roman" panose="02020603050405020304" pitchFamily="18" charset="0"/>
              </a:rPr>
              <a:t>消息认证码</a:t>
            </a:r>
            <a:r>
              <a:rPr lang="en-US" altLang="zh-CN" dirty="0">
                <a:cs typeface="Times New Roman" panose="02020603050405020304" pitchFamily="18" charset="0"/>
              </a:rPr>
              <a:t>Message Authentication Code (MAC)</a:t>
            </a:r>
            <a:endParaRPr lang="en-US" altLang="zh-CN" dirty="0">
              <a:cs typeface="Times New Roman" panose="02020603050405020304" pitchFamily="18" charset="0"/>
            </a:endParaRPr>
          </a:p>
          <a:p>
            <a:pPr lvl="1">
              <a:lnSpc>
                <a:spcPct val="90000"/>
              </a:lnSpc>
            </a:pPr>
            <a:endParaRPr lang="en-US" altLang="zh-CN" dirty="0">
              <a:cs typeface="Times New Roman" panose="02020603050405020304" pitchFamily="18" charset="0"/>
            </a:endParaRPr>
          </a:p>
          <a:p>
            <a:pPr lvl="1">
              <a:lnSpc>
                <a:spcPct val="90000"/>
              </a:lnSpc>
            </a:pPr>
            <a:r>
              <a:rPr lang="en-US" altLang="zh-CN" dirty="0">
                <a:cs typeface="Times New Roman" panose="02020603050405020304" pitchFamily="18" charset="0"/>
              </a:rPr>
              <a:t>Hash</a:t>
            </a:r>
            <a:r>
              <a:rPr lang="zh-CN" altLang="en-US" dirty="0">
                <a:cs typeface="Times New Roman" panose="02020603050405020304" pitchFamily="18" charset="0"/>
              </a:rPr>
              <a:t>函数</a:t>
            </a:r>
            <a:endParaRPr lang="zh-CN" altLang="en-US" dirty="0">
              <a:cs typeface="Times New Roman" panose="02020603050405020304" pitchFamily="18" charset="0"/>
            </a:endParaRPr>
          </a:p>
          <a:p>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消息加密实现认证</a:t>
            </a:r>
            <a:endParaRPr lang="zh-CN" altLang="en-US" dirty="0"/>
          </a:p>
        </p:txBody>
      </p:sp>
      <p:sp>
        <p:nvSpPr>
          <p:cNvPr id="3" name="文本占位符 2"/>
          <p:cNvSpPr>
            <a:spLocks noGrp="1"/>
          </p:cNvSpPr>
          <p:nvPr>
            <p:ph type="body" sz="quarter" idx="10"/>
          </p:nvPr>
        </p:nvSpPr>
        <p:spPr/>
        <p:txBody>
          <a:bodyPr/>
          <a:lstStyle/>
          <a:p>
            <a:r>
              <a:rPr lang="zh-CN" altLang="en-US" dirty="0"/>
              <a:t>消息加密本身能够提供一定的认证功能</a:t>
            </a:r>
            <a:endParaRPr lang="en-US" altLang="zh-CN" dirty="0"/>
          </a:p>
          <a:p>
            <a:endParaRPr lang="en-US" altLang="zh-CN" dirty="0"/>
          </a:p>
          <a:p>
            <a:r>
              <a:rPr lang="zh-CN" altLang="en-US" dirty="0"/>
              <a:t>对称密钥密码</a:t>
            </a:r>
            <a:endParaRPr lang="en-US" altLang="zh-CN" dirty="0"/>
          </a:p>
          <a:p>
            <a:endParaRPr lang="en-US" altLang="zh-CN" dirty="0"/>
          </a:p>
          <a:p>
            <a:endParaRPr lang="en-US" altLang="zh-CN" dirty="0"/>
          </a:p>
          <a:p>
            <a:endParaRPr lang="en-US" altLang="zh-CN" dirty="0"/>
          </a:p>
          <a:p>
            <a:pPr lvl="1"/>
            <a:r>
              <a:rPr lang="zh-CN" altLang="en-US" dirty="0"/>
              <a:t>保密性</a:t>
            </a:r>
            <a:endParaRPr lang="en-US" altLang="zh-CN" dirty="0"/>
          </a:p>
          <a:p>
            <a:pPr lvl="1"/>
            <a:r>
              <a:rPr lang="zh-CN" altLang="en-US" dirty="0"/>
              <a:t>解密后可以通过检验消息的冗余，确认消息的真实性、完整性</a:t>
            </a:r>
            <a:endParaRPr lang="en-US" altLang="zh-CN" dirty="0"/>
          </a:p>
          <a:p>
            <a:pPr lvl="1"/>
            <a:r>
              <a:rPr lang="en-US" altLang="zh-CN" dirty="0"/>
              <a:t>B</a:t>
            </a:r>
            <a:r>
              <a:rPr lang="zh-CN" altLang="en-US" dirty="0"/>
              <a:t>可以相信消息来自</a:t>
            </a:r>
            <a:r>
              <a:rPr lang="en-US" altLang="zh-CN" dirty="0"/>
              <a:t>A</a:t>
            </a:r>
            <a:r>
              <a:rPr lang="zh-CN" altLang="en-US" dirty="0"/>
              <a:t>（密钥没泄露）</a:t>
            </a:r>
            <a:endParaRPr lang="en-US" altLang="zh-CN" dirty="0"/>
          </a:p>
          <a:p>
            <a:pPr lvl="1"/>
            <a:endParaRPr lang="en-US" altLang="zh-CN" dirty="0"/>
          </a:p>
          <a:p>
            <a:pPr lvl="1"/>
            <a:r>
              <a:rPr lang="en-US" altLang="zh-CN" dirty="0"/>
              <a:t>B</a:t>
            </a:r>
            <a:r>
              <a:rPr lang="zh-CN" altLang="en-US" dirty="0"/>
              <a:t>可以伪造</a:t>
            </a:r>
            <a:endParaRPr lang="en-US" altLang="zh-CN" dirty="0"/>
          </a:p>
          <a:p>
            <a:pPr lvl="1"/>
            <a:r>
              <a:rPr lang="en-US" altLang="zh-CN" dirty="0"/>
              <a:t>A</a:t>
            </a:r>
            <a:r>
              <a:rPr lang="zh-CN" altLang="en-US" dirty="0"/>
              <a:t>可以抵赖</a:t>
            </a:r>
            <a:endParaRPr lang="zh-CN" altLang="en-US" dirty="0"/>
          </a:p>
        </p:txBody>
      </p:sp>
      <p:pic>
        <p:nvPicPr>
          <p:cNvPr id="5" name="图片 4"/>
          <p:cNvPicPr>
            <a:picLocks noChangeAspect="1"/>
          </p:cNvPicPr>
          <p:nvPr/>
        </p:nvPicPr>
        <p:blipFill>
          <a:blip r:embed="rId1"/>
          <a:stretch>
            <a:fillRect/>
          </a:stretch>
        </p:blipFill>
        <p:spPr>
          <a:xfrm>
            <a:off x="3115564" y="1968287"/>
            <a:ext cx="6259918" cy="18596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消息加密实现认证</a:t>
            </a:r>
            <a:endParaRPr lang="zh-CN" altLang="en-US" dirty="0"/>
          </a:p>
        </p:txBody>
      </p:sp>
      <p:sp>
        <p:nvSpPr>
          <p:cNvPr id="3" name="文本占位符 2"/>
          <p:cNvSpPr>
            <a:spLocks noGrp="1"/>
          </p:cNvSpPr>
          <p:nvPr>
            <p:ph type="body" sz="quarter" idx="10"/>
          </p:nvPr>
        </p:nvSpPr>
        <p:spPr/>
        <p:txBody>
          <a:bodyPr/>
          <a:lstStyle/>
          <a:p>
            <a:r>
              <a:rPr lang="zh-CN" altLang="en-US" dirty="0"/>
              <a:t>公开密钥密码，公钥加密</a:t>
            </a:r>
            <a:endParaRPr lang="en-US" altLang="zh-CN" dirty="0"/>
          </a:p>
          <a:p>
            <a:endParaRPr lang="en-US" altLang="zh-CN" dirty="0"/>
          </a:p>
          <a:p>
            <a:endParaRPr lang="en-US" altLang="zh-CN" dirty="0"/>
          </a:p>
          <a:p>
            <a:endParaRPr lang="en-US" altLang="zh-CN" dirty="0"/>
          </a:p>
          <a:p>
            <a:endParaRPr lang="en-US" altLang="zh-CN" dirty="0"/>
          </a:p>
          <a:p>
            <a:pPr lvl="1"/>
            <a:r>
              <a:rPr lang="zh-CN" altLang="en-US" dirty="0"/>
              <a:t>保密性</a:t>
            </a:r>
            <a:endParaRPr lang="en-US" altLang="zh-CN" dirty="0"/>
          </a:p>
          <a:p>
            <a:pPr lvl="1"/>
            <a:r>
              <a:rPr lang="zh-CN" altLang="en-US" dirty="0"/>
              <a:t>解密后可以通过检验消息的冗余，确认消息的真实性、完整性</a:t>
            </a:r>
            <a:endParaRPr lang="en-US" altLang="zh-CN" dirty="0"/>
          </a:p>
          <a:p>
            <a:pPr lvl="1"/>
            <a:endParaRPr lang="en-US" altLang="zh-CN" dirty="0"/>
          </a:p>
          <a:p>
            <a:pPr lvl="1"/>
            <a:r>
              <a:rPr lang="en-US" altLang="zh-CN" dirty="0"/>
              <a:t>B</a:t>
            </a:r>
            <a:r>
              <a:rPr lang="zh-CN" altLang="en-US" dirty="0"/>
              <a:t>无法确认消息来源</a:t>
            </a:r>
            <a:endParaRPr lang="en-US" altLang="zh-CN" dirty="0"/>
          </a:p>
          <a:p>
            <a:pPr lvl="1"/>
            <a:r>
              <a:rPr lang="en-US" altLang="zh-CN" dirty="0"/>
              <a:t>B</a:t>
            </a:r>
            <a:r>
              <a:rPr lang="zh-CN" altLang="en-US" dirty="0"/>
              <a:t>可以伪造</a:t>
            </a:r>
            <a:endParaRPr lang="zh-CN" altLang="en-US" dirty="0"/>
          </a:p>
        </p:txBody>
      </p:sp>
      <p:pic>
        <p:nvPicPr>
          <p:cNvPr id="5" name="图片 4"/>
          <p:cNvPicPr>
            <a:picLocks noChangeAspect="1"/>
          </p:cNvPicPr>
          <p:nvPr/>
        </p:nvPicPr>
        <p:blipFill>
          <a:blip r:embed="rId1"/>
          <a:stretch>
            <a:fillRect/>
          </a:stretch>
        </p:blipFill>
        <p:spPr>
          <a:xfrm>
            <a:off x="2631105" y="1394845"/>
            <a:ext cx="6600706" cy="17159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消息加密实现认证</a:t>
            </a:r>
            <a:endParaRPr lang="zh-CN" altLang="en-US" dirty="0"/>
          </a:p>
        </p:txBody>
      </p:sp>
      <p:sp>
        <p:nvSpPr>
          <p:cNvPr id="3" name="文本占位符 2"/>
          <p:cNvSpPr>
            <a:spLocks noGrp="1"/>
          </p:cNvSpPr>
          <p:nvPr>
            <p:ph type="body" sz="quarter" idx="10"/>
          </p:nvPr>
        </p:nvSpPr>
        <p:spPr/>
        <p:txBody>
          <a:bodyPr/>
          <a:lstStyle/>
          <a:p>
            <a:r>
              <a:rPr lang="zh-CN" altLang="en-US" dirty="0"/>
              <a:t>公开密钥密码，私钥加密（签名）</a:t>
            </a:r>
            <a:endParaRPr lang="en-US" altLang="zh-CN" dirty="0"/>
          </a:p>
          <a:p>
            <a:endParaRPr lang="en-US" altLang="zh-CN" dirty="0"/>
          </a:p>
          <a:p>
            <a:endParaRPr lang="en-US" altLang="zh-CN" dirty="0"/>
          </a:p>
          <a:p>
            <a:endParaRPr lang="en-US" altLang="zh-CN" dirty="0"/>
          </a:p>
          <a:p>
            <a:endParaRPr lang="en-US" altLang="zh-CN" dirty="0"/>
          </a:p>
          <a:p>
            <a:pPr lvl="1"/>
            <a:r>
              <a:rPr lang="zh-CN" altLang="en-US" dirty="0"/>
              <a:t>解密后可以通过检验消息的冗余，确认消息的真实性、完整性</a:t>
            </a:r>
            <a:endParaRPr lang="en-US" altLang="zh-CN" dirty="0"/>
          </a:p>
          <a:p>
            <a:pPr lvl="1"/>
            <a:r>
              <a:rPr lang="en-US" altLang="zh-CN" dirty="0"/>
              <a:t>B</a:t>
            </a:r>
            <a:r>
              <a:rPr lang="zh-CN" altLang="en-US" dirty="0"/>
              <a:t>可以确认</a:t>
            </a:r>
            <a:r>
              <a:rPr lang="en-US" altLang="zh-CN" dirty="0"/>
              <a:t>A</a:t>
            </a:r>
            <a:r>
              <a:rPr lang="zh-CN" altLang="en-US" dirty="0"/>
              <a:t>的来源（</a:t>
            </a:r>
            <a:r>
              <a:rPr lang="en-US" altLang="zh-CN" dirty="0"/>
              <a:t>A</a:t>
            </a:r>
            <a:r>
              <a:rPr lang="zh-CN" altLang="en-US" dirty="0"/>
              <a:t>私钥未泄露）</a:t>
            </a:r>
            <a:endParaRPr lang="en-US" altLang="zh-CN" dirty="0"/>
          </a:p>
          <a:p>
            <a:pPr lvl="1"/>
            <a:r>
              <a:rPr lang="en-US" altLang="zh-CN" dirty="0"/>
              <a:t>B</a:t>
            </a:r>
            <a:r>
              <a:rPr lang="zh-CN" altLang="en-US" dirty="0"/>
              <a:t>不可以伪造</a:t>
            </a:r>
            <a:endParaRPr lang="en-US" altLang="zh-CN" dirty="0"/>
          </a:p>
          <a:p>
            <a:pPr lvl="1"/>
            <a:endParaRPr lang="en-US" altLang="zh-CN" dirty="0"/>
          </a:p>
          <a:p>
            <a:pPr lvl="1"/>
            <a:r>
              <a:rPr lang="zh-CN" altLang="en-US" dirty="0"/>
              <a:t>无保密性</a:t>
            </a:r>
            <a:endParaRPr lang="en-US" altLang="zh-CN" dirty="0"/>
          </a:p>
          <a:p>
            <a:endParaRPr lang="zh-CN" altLang="en-US" dirty="0"/>
          </a:p>
        </p:txBody>
      </p:sp>
      <p:pic>
        <p:nvPicPr>
          <p:cNvPr id="5" name="图片 4"/>
          <p:cNvPicPr>
            <a:picLocks noChangeAspect="1"/>
          </p:cNvPicPr>
          <p:nvPr/>
        </p:nvPicPr>
        <p:blipFill>
          <a:blip r:embed="rId1"/>
          <a:stretch>
            <a:fillRect/>
          </a:stretch>
        </p:blipFill>
        <p:spPr>
          <a:xfrm>
            <a:off x="2579477" y="1457891"/>
            <a:ext cx="6581338" cy="16797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消息加密实现认证</a:t>
            </a:r>
            <a:endParaRPr lang="zh-CN" altLang="en-US" dirty="0"/>
          </a:p>
        </p:txBody>
      </p:sp>
      <p:sp>
        <p:nvSpPr>
          <p:cNvPr id="3" name="文本占位符 2"/>
          <p:cNvSpPr>
            <a:spLocks noGrp="1"/>
          </p:cNvSpPr>
          <p:nvPr>
            <p:ph type="body" sz="quarter" idx="10"/>
          </p:nvPr>
        </p:nvSpPr>
        <p:spPr/>
        <p:txBody>
          <a:bodyPr/>
          <a:lstStyle/>
          <a:p>
            <a:r>
              <a:rPr lang="zh-CN" altLang="en-US" dirty="0"/>
              <a:t>公开密钥密码，公钥加密</a:t>
            </a:r>
            <a:r>
              <a:rPr lang="en-US" altLang="zh-CN" dirty="0"/>
              <a:t>-</a:t>
            </a:r>
            <a:r>
              <a:rPr lang="zh-CN" altLang="en-US" dirty="0"/>
              <a:t>私钥签名</a:t>
            </a:r>
            <a:endParaRPr lang="en-US" altLang="zh-CN" dirty="0"/>
          </a:p>
          <a:p>
            <a:endParaRPr lang="en-US" altLang="zh-CN" dirty="0"/>
          </a:p>
          <a:p>
            <a:endParaRPr lang="en-US" altLang="zh-CN" dirty="0"/>
          </a:p>
          <a:p>
            <a:endParaRPr lang="en-US" altLang="zh-CN" dirty="0"/>
          </a:p>
          <a:p>
            <a:endParaRPr lang="en-US" altLang="zh-CN" dirty="0"/>
          </a:p>
          <a:p>
            <a:pPr lvl="1"/>
            <a:r>
              <a:rPr lang="zh-CN" altLang="en-US" dirty="0"/>
              <a:t>保密性</a:t>
            </a:r>
            <a:endParaRPr lang="en-US" altLang="zh-CN" dirty="0"/>
          </a:p>
          <a:p>
            <a:pPr lvl="1"/>
            <a:r>
              <a:rPr lang="zh-CN" altLang="en-US" dirty="0"/>
              <a:t>解密后可以通过检验消息的冗余，确认消息的真实性、完整性</a:t>
            </a:r>
            <a:endParaRPr lang="en-US" altLang="zh-CN" dirty="0"/>
          </a:p>
          <a:p>
            <a:pPr lvl="1"/>
            <a:r>
              <a:rPr lang="en-US" altLang="zh-CN" dirty="0"/>
              <a:t>B</a:t>
            </a:r>
            <a:r>
              <a:rPr lang="zh-CN" altLang="en-US" dirty="0"/>
              <a:t>可以确认</a:t>
            </a:r>
            <a:r>
              <a:rPr lang="en-US" altLang="zh-CN" dirty="0"/>
              <a:t>A</a:t>
            </a:r>
            <a:r>
              <a:rPr lang="zh-CN" altLang="en-US" dirty="0"/>
              <a:t>的来源（</a:t>
            </a:r>
            <a:r>
              <a:rPr lang="en-US" altLang="zh-CN" dirty="0"/>
              <a:t>A</a:t>
            </a:r>
            <a:r>
              <a:rPr lang="zh-CN" altLang="en-US" dirty="0"/>
              <a:t>私钥未泄露）</a:t>
            </a:r>
            <a:endParaRPr lang="en-US" altLang="zh-CN" dirty="0"/>
          </a:p>
          <a:p>
            <a:pPr lvl="1"/>
            <a:r>
              <a:rPr lang="en-US" altLang="zh-CN" dirty="0"/>
              <a:t>B</a:t>
            </a:r>
            <a:r>
              <a:rPr lang="zh-CN" altLang="en-US" dirty="0"/>
              <a:t>不可以伪造</a:t>
            </a:r>
            <a:endParaRPr lang="en-US" altLang="zh-CN" dirty="0"/>
          </a:p>
          <a:p>
            <a:endParaRPr lang="zh-CN" altLang="en-US" dirty="0"/>
          </a:p>
        </p:txBody>
      </p:sp>
      <p:pic>
        <p:nvPicPr>
          <p:cNvPr id="5" name="图片 4"/>
          <p:cNvPicPr>
            <a:picLocks noChangeAspect="1"/>
          </p:cNvPicPr>
          <p:nvPr/>
        </p:nvPicPr>
        <p:blipFill>
          <a:blip r:embed="rId1"/>
          <a:stretch>
            <a:fillRect/>
          </a:stretch>
        </p:blipFill>
        <p:spPr>
          <a:xfrm>
            <a:off x="2337139" y="1475820"/>
            <a:ext cx="7107627" cy="17604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消息认证码</a:t>
            </a:r>
            <a:r>
              <a:rPr lang="en-US" altLang="zh-CN" dirty="0"/>
              <a:t>MAC</a:t>
            </a:r>
            <a:endParaRPr lang="zh-CN" altLang="en-US" dirty="0"/>
          </a:p>
        </p:txBody>
      </p:sp>
      <p:sp>
        <p:nvSpPr>
          <p:cNvPr id="3" name="文本占位符 2"/>
          <p:cNvSpPr>
            <a:spLocks noGrp="1"/>
          </p:cNvSpPr>
          <p:nvPr>
            <p:ph type="body" sz="quarter" idx="10"/>
          </p:nvPr>
        </p:nvSpPr>
        <p:spPr/>
        <p:txBody>
          <a:bodyPr/>
          <a:lstStyle/>
          <a:p>
            <a:r>
              <a:rPr lang="zh-CN" altLang="en-US" dirty="0"/>
              <a:t>使用密钥产生短小的</a:t>
            </a:r>
            <a:r>
              <a:rPr lang="zh-CN" altLang="en-US" dirty="0">
                <a:solidFill>
                  <a:schemeClr val="accent6"/>
                </a:solidFill>
              </a:rPr>
              <a:t>定长</a:t>
            </a:r>
            <a:r>
              <a:rPr lang="zh-CN" altLang="en-US" dirty="0"/>
              <a:t>数据分组，即所谓的</a:t>
            </a:r>
            <a:r>
              <a:rPr lang="en-US" altLang="zh-CN" dirty="0">
                <a:solidFill>
                  <a:srgbClr val="0070C0"/>
                </a:solidFill>
              </a:rPr>
              <a:t>MAC</a:t>
            </a:r>
            <a:r>
              <a:rPr lang="zh-CN" altLang="en-US" dirty="0"/>
              <a:t>，将它附加在报文中</a:t>
            </a:r>
            <a:endParaRPr lang="en-US" altLang="zh-CN" dirty="0"/>
          </a:p>
          <a:p>
            <a:pPr lvl="1"/>
            <a:r>
              <a:rPr lang="en-US" altLang="zh-CN" dirty="0">
                <a:cs typeface="Times New Roman" panose="02020603050405020304" pitchFamily="18" charset="0"/>
              </a:rPr>
              <a:t>MAC</a:t>
            </a:r>
            <a:r>
              <a:rPr lang="zh-CN" altLang="en-US" dirty="0">
                <a:cs typeface="Times New Roman" panose="02020603050405020304" pitchFamily="18" charset="0"/>
              </a:rPr>
              <a:t>是多对一的映射</a:t>
            </a:r>
            <a:endParaRPr lang="en-US" altLang="zh-CN" dirty="0">
              <a:cs typeface="Times New Roman" panose="02020603050405020304" pitchFamily="18" charset="0"/>
            </a:endParaRPr>
          </a:p>
          <a:p>
            <a:pPr lvl="1"/>
            <a:endParaRPr lang="en-US" altLang="zh-CN" dirty="0"/>
          </a:p>
          <a:p>
            <a:r>
              <a:rPr lang="zh-CN" altLang="en-US" dirty="0"/>
              <a:t>通信双方共享密钥</a:t>
            </a:r>
            <a:r>
              <a:rPr lang="en-US" altLang="zh-CN" dirty="0"/>
              <a:t>k</a:t>
            </a:r>
            <a:r>
              <a:rPr lang="zh-CN" altLang="en-US" dirty="0"/>
              <a:t>，发送方计算 </a:t>
            </a:r>
            <a:r>
              <a:rPr lang="en-US" altLang="zh-CN" dirty="0">
                <a:solidFill>
                  <a:srgbClr val="00B050"/>
                </a:solidFill>
              </a:rPr>
              <a:t>MAC=C(</a:t>
            </a:r>
            <a:r>
              <a:rPr lang="en-US" altLang="zh-CN" dirty="0" err="1">
                <a:solidFill>
                  <a:srgbClr val="00B050"/>
                </a:solidFill>
              </a:rPr>
              <a:t>k,m</a:t>
            </a:r>
            <a:r>
              <a:rPr lang="en-US" altLang="zh-CN" dirty="0">
                <a:solidFill>
                  <a:srgbClr val="00B050"/>
                </a:solidFill>
              </a:rPr>
              <a:t>)</a:t>
            </a:r>
            <a:r>
              <a:rPr lang="en-US" altLang="zh-CN" dirty="0"/>
              <a:t> </a:t>
            </a:r>
            <a:r>
              <a:rPr lang="zh-CN" altLang="en-US" dirty="0"/>
              <a:t>并附在报文后。接收方根据</a:t>
            </a:r>
            <a:r>
              <a:rPr lang="en-US" altLang="zh-CN" dirty="0"/>
              <a:t>m</a:t>
            </a:r>
            <a:r>
              <a:rPr lang="zh-CN" altLang="en-US" dirty="0"/>
              <a:t>重新计算</a:t>
            </a:r>
            <a:r>
              <a:rPr lang="en-US" altLang="zh-CN" dirty="0"/>
              <a:t>MAC</a:t>
            </a:r>
            <a:r>
              <a:rPr lang="zh-CN" altLang="en-US" dirty="0"/>
              <a:t>，并与接收到的</a:t>
            </a:r>
            <a:r>
              <a:rPr lang="en-US" altLang="zh-CN" dirty="0"/>
              <a:t>MAC</a:t>
            </a:r>
            <a:r>
              <a:rPr lang="zh-CN" altLang="en-US" dirty="0"/>
              <a:t>比较。若密钥不公开且</a:t>
            </a:r>
            <a:r>
              <a:rPr lang="en-US" altLang="zh-CN" dirty="0"/>
              <a:t>MAC</a:t>
            </a:r>
            <a:r>
              <a:rPr lang="zh-CN" altLang="en-US" dirty="0"/>
              <a:t>匹配，则：</a:t>
            </a:r>
            <a:endParaRPr lang="zh-CN" altLang="en-US" dirty="0"/>
          </a:p>
          <a:p>
            <a:pPr lvl="1"/>
            <a:r>
              <a:rPr lang="zh-CN" altLang="en-US" dirty="0"/>
              <a:t>接收方可以确信报文未被更改</a:t>
            </a:r>
            <a:endParaRPr lang="zh-CN" altLang="en-US" dirty="0"/>
          </a:p>
          <a:p>
            <a:pPr lvl="1"/>
            <a:r>
              <a:rPr lang="zh-CN" altLang="en-US" dirty="0"/>
              <a:t>接收方可以确信报文来自声称的发送者</a:t>
            </a:r>
            <a:endParaRPr lang="en-US" altLang="zh-CN" dirty="0"/>
          </a:p>
          <a:p>
            <a:pPr lvl="1"/>
            <a:r>
              <a:rPr lang="zh-CN" altLang="en-US" dirty="0"/>
              <a:t>因使用对称密钥，不能抗抵赖和伪造</a:t>
            </a:r>
            <a:endParaRPr lang="zh-CN" altLang="en-US" dirty="0"/>
          </a:p>
          <a:p>
            <a:pPr lvl="1"/>
            <a:endParaRPr lang="en-US" altLang="zh-CN" dirty="0"/>
          </a:p>
          <a:p>
            <a:pPr lvl="1"/>
            <a:r>
              <a:rPr lang="en-US" altLang="zh-CN" dirty="0"/>
              <a:t>MAC</a:t>
            </a:r>
            <a:r>
              <a:rPr lang="zh-CN" altLang="en-US" dirty="0"/>
              <a:t>函数类似加密，但非加密，也无需可逆</a:t>
            </a:r>
            <a:endParaRPr lang="zh-CN" altLang="en-US" dirty="0"/>
          </a:p>
          <a:p>
            <a:pPr lvl="1"/>
            <a:r>
              <a:rPr lang="zh-CN" altLang="en-US" dirty="0">
                <a:solidFill>
                  <a:srgbClr val="FF0000"/>
                </a:solidFill>
              </a:rPr>
              <a:t>报文鉴别不提供保密</a:t>
            </a:r>
            <a:endParaRPr lang="zh-CN" altLang="en-US" dirty="0">
              <a:solidFill>
                <a:srgbClr val="FF0000"/>
              </a:solidFill>
            </a:endParaRPr>
          </a:p>
          <a:p>
            <a:pPr lvl="1"/>
            <a:r>
              <a:rPr lang="zh-CN" altLang="en-US" dirty="0"/>
              <a:t>可以对密文计算</a:t>
            </a:r>
            <a:r>
              <a:rPr lang="en-US" altLang="zh-CN" dirty="0"/>
              <a:t>MAC</a:t>
            </a:r>
            <a:r>
              <a:rPr lang="zh-CN" altLang="en-US" dirty="0"/>
              <a:t>，验证密文的完整性</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MAC</a:t>
            </a:r>
            <a:r>
              <a:rPr lang="zh-CN" altLang="en-US" dirty="0"/>
              <a:t>的基本使用方式</a:t>
            </a:r>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1137593" y="1016732"/>
            <a:ext cx="6267483" cy="523166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a:stretch>
            <a:fillRect/>
          </a:stretch>
        </p:blipFill>
        <p:spPr bwMode="auto">
          <a:xfrm>
            <a:off x="7405076" y="1575592"/>
            <a:ext cx="3649331" cy="492382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MAC</a:t>
            </a:r>
            <a:r>
              <a:rPr lang="zh-CN" altLang="en-US" dirty="0"/>
              <a:t>的应用场合</a:t>
            </a:r>
            <a:endParaRPr lang="zh-CN" altLang="en-US" dirty="0"/>
          </a:p>
        </p:txBody>
      </p:sp>
      <p:sp>
        <p:nvSpPr>
          <p:cNvPr id="3" name="文本占位符 2"/>
          <p:cNvSpPr>
            <a:spLocks noGrp="1"/>
          </p:cNvSpPr>
          <p:nvPr>
            <p:ph type="body" sz="quarter" idx="10"/>
          </p:nvPr>
        </p:nvSpPr>
        <p:spPr/>
        <p:txBody>
          <a:bodyPr/>
          <a:lstStyle/>
          <a:p>
            <a:r>
              <a:rPr lang="zh-CN" altLang="en-US" dirty="0"/>
              <a:t>对称加密同时提供保密和认证，为什么还要用只提供认证的</a:t>
            </a:r>
            <a:r>
              <a:rPr lang="en-US" altLang="zh-CN" dirty="0"/>
              <a:t>MAC</a:t>
            </a:r>
            <a:r>
              <a:rPr lang="zh-CN" altLang="en-US" dirty="0"/>
              <a:t>？</a:t>
            </a:r>
            <a:endParaRPr lang="en-US" altLang="zh-CN" dirty="0"/>
          </a:p>
          <a:p>
            <a:pPr lvl="1"/>
            <a:r>
              <a:rPr lang="zh-CN" altLang="en-US" dirty="0"/>
              <a:t>将一条非秘密消息广播给很多人时</a:t>
            </a:r>
            <a:r>
              <a:rPr lang="en-US" altLang="zh-CN" dirty="0"/>
              <a:t>——</a:t>
            </a:r>
            <a:r>
              <a:rPr lang="zh-CN" altLang="en-US" dirty="0"/>
              <a:t>不需要加密，也不需要每个人都做认证</a:t>
            </a:r>
            <a:endParaRPr lang="en-US" altLang="zh-CN" dirty="0"/>
          </a:p>
          <a:p>
            <a:pPr lvl="1"/>
            <a:r>
              <a:rPr lang="zh-CN" altLang="en-US" dirty="0"/>
              <a:t>网络数据的监管</a:t>
            </a:r>
            <a:r>
              <a:rPr lang="en-US" altLang="zh-CN" dirty="0"/>
              <a:t>——</a:t>
            </a:r>
            <a:r>
              <a:rPr lang="zh-CN" altLang="en-US" dirty="0"/>
              <a:t>信息传输速度过快，没时间逐个解密，可以随机选择认证</a:t>
            </a:r>
            <a:endParaRPr lang="en-US" altLang="zh-CN" dirty="0"/>
          </a:p>
          <a:p>
            <a:pPr lvl="1"/>
            <a:r>
              <a:rPr lang="zh-CN" altLang="en-US" dirty="0"/>
              <a:t>计算机程序的防篡改</a:t>
            </a:r>
            <a:r>
              <a:rPr lang="en-US" altLang="zh-CN" dirty="0"/>
              <a:t>——</a:t>
            </a:r>
            <a:r>
              <a:rPr lang="zh-CN" altLang="en-US" dirty="0"/>
              <a:t>每次运行都解密是很麻烦的</a:t>
            </a:r>
            <a:endParaRPr lang="en-US" altLang="zh-CN" dirty="0"/>
          </a:p>
          <a:p>
            <a:pPr lvl="1"/>
            <a:r>
              <a:rPr lang="zh-CN" altLang="en-US" dirty="0"/>
              <a:t>用户不希望做认证的人</a:t>
            </a:r>
            <a:r>
              <a:rPr lang="en-US" altLang="zh-CN" dirty="0"/>
              <a:t>/</a:t>
            </a:r>
            <a:r>
              <a:rPr lang="zh-CN" altLang="en-US" dirty="0"/>
              <a:t>机构得到明文</a:t>
            </a:r>
            <a:r>
              <a:rPr lang="en-US" altLang="zh-CN" dirty="0"/>
              <a:t>——</a:t>
            </a:r>
            <a:r>
              <a:rPr lang="zh-CN" altLang="en-US" dirty="0"/>
              <a:t>不让外人解密</a:t>
            </a:r>
            <a:endParaRPr lang="en-US" altLang="zh-CN" dirty="0"/>
          </a:p>
          <a:p>
            <a:pPr lvl="1"/>
            <a:r>
              <a:rPr lang="zh-CN" altLang="en-US" dirty="0"/>
              <a:t>认证和保密性的分开，有利于系统的层次化设计</a:t>
            </a:r>
            <a:endParaRPr lang="en-US" altLang="zh-CN" dirty="0"/>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a:t>
            </a:r>
            <a:r>
              <a:rPr lang="en-US" altLang="zh-CN" dirty="0"/>
              <a:t>MAC</a:t>
            </a:r>
            <a:r>
              <a:rPr lang="zh-CN" altLang="en-US" dirty="0"/>
              <a:t>的攻击</a:t>
            </a:r>
            <a:endParaRPr lang="zh-CN" altLang="en-US" dirty="0"/>
          </a:p>
        </p:txBody>
      </p:sp>
      <p:sp>
        <p:nvSpPr>
          <p:cNvPr id="3" name="文本占位符 2"/>
          <p:cNvSpPr>
            <a:spLocks noGrp="1"/>
          </p:cNvSpPr>
          <p:nvPr>
            <p:ph type="body" sz="quarter" idx="10"/>
          </p:nvPr>
        </p:nvSpPr>
        <p:spPr/>
        <p:txBody>
          <a:bodyPr/>
          <a:lstStyle/>
          <a:p>
            <a:r>
              <a:rPr lang="zh-CN" altLang="en-US" dirty="0"/>
              <a:t>对</a:t>
            </a:r>
            <a:r>
              <a:rPr lang="en-US" altLang="zh-CN" dirty="0"/>
              <a:t>MAC</a:t>
            </a:r>
            <a:r>
              <a:rPr lang="zh-CN" altLang="en-US" dirty="0"/>
              <a:t>密钥的穷举攻击</a:t>
            </a:r>
            <a:endParaRPr lang="en-US" altLang="zh-CN" dirty="0"/>
          </a:p>
          <a:p>
            <a:pPr lvl="1"/>
            <a:r>
              <a:rPr lang="zh-CN" altLang="en-US" dirty="0"/>
              <a:t>当密钥长度</a:t>
            </a:r>
            <a:r>
              <a:rPr lang="en-US" altLang="zh-CN" dirty="0"/>
              <a:t>(k)</a:t>
            </a:r>
            <a:r>
              <a:rPr lang="zh-CN" altLang="en-US" dirty="0"/>
              <a:t>大于</a:t>
            </a:r>
            <a:r>
              <a:rPr lang="en-US" altLang="zh-CN" dirty="0"/>
              <a:t>MAC</a:t>
            </a:r>
            <a:r>
              <a:rPr lang="zh-CN" altLang="en-US" dirty="0"/>
              <a:t>值长度</a:t>
            </a:r>
            <a:r>
              <a:rPr lang="en-US" altLang="zh-CN" dirty="0"/>
              <a:t>(n)</a:t>
            </a:r>
            <a:r>
              <a:rPr lang="zh-CN" altLang="en-US" dirty="0"/>
              <a:t>时，穷举得到密钥可能不止一个，有必要使用更多的消息进行验证</a:t>
            </a:r>
            <a:endParaRPr lang="en-US" altLang="zh-CN" dirty="0"/>
          </a:p>
          <a:p>
            <a:r>
              <a:rPr lang="zh-CN" altLang="en-US" dirty="0"/>
              <a:t>消息构造攻击：</a:t>
            </a:r>
            <a:r>
              <a:rPr lang="en-US" altLang="zh-CN" dirty="0"/>
              <a:t> MAC</a:t>
            </a:r>
            <a:r>
              <a:rPr lang="zh-CN" altLang="en-US" dirty="0"/>
              <a:t>必须仔细设计</a:t>
            </a:r>
            <a:endParaRPr lang="en-US" altLang="zh-CN" dirty="0"/>
          </a:p>
          <a:p>
            <a:pPr lvl="1"/>
            <a:r>
              <a:rPr lang="zh-CN" altLang="en-US" dirty="0"/>
              <a:t>例，</a:t>
            </a:r>
            <a:r>
              <a:rPr lang="zh-CN" altLang="en-US" sz="2000" dirty="0"/>
              <a:t>假设一个</a:t>
            </a:r>
            <a:r>
              <a:rPr lang="en-US" altLang="zh-CN" sz="2000" dirty="0"/>
              <a:t>MAC</a:t>
            </a:r>
            <a:r>
              <a:rPr lang="zh-CN" altLang="en-US" sz="2000" dirty="0"/>
              <a:t>算法为：</a:t>
            </a:r>
            <a:endParaRPr lang="en-US" altLang="zh-CN" sz="2000" dirty="0"/>
          </a:p>
          <a:p>
            <a:pPr marL="457200" lvl="1" indent="0">
              <a:buNone/>
              <a:tabLst>
                <a:tab pos="1255395" algn="l"/>
              </a:tabLst>
            </a:pPr>
            <a:r>
              <a:rPr lang="en-US" altLang="zh-CN" dirty="0"/>
              <a:t>	m=</a:t>
            </a:r>
            <a:r>
              <a:rPr lang="en-US" altLang="zh-CN" dirty="0">
                <a:cs typeface="Times New Roman" panose="02020603050405020304" pitchFamily="18" charset="0"/>
              </a:rPr>
              <a:t>X</a:t>
            </a:r>
            <a:r>
              <a:rPr lang="en-US" altLang="zh-CN" baseline="-25000" dirty="0">
                <a:cs typeface="Times New Roman" panose="02020603050405020304" pitchFamily="18" charset="0"/>
              </a:rPr>
              <a:t>1</a:t>
            </a:r>
            <a:r>
              <a:rPr lang="en-US" altLang="zh-CN" dirty="0">
                <a:cs typeface="Times New Roman" panose="02020603050405020304" pitchFamily="18" charset="0"/>
              </a:rPr>
              <a:t>||X</a:t>
            </a:r>
            <a:r>
              <a:rPr lang="en-US" altLang="zh-CN" baseline="-25000" dirty="0">
                <a:cs typeface="Times New Roman" panose="02020603050405020304" pitchFamily="18" charset="0"/>
              </a:rPr>
              <a:t>2</a:t>
            </a:r>
            <a:r>
              <a:rPr lang="en-US" altLang="zh-CN" dirty="0">
                <a:cs typeface="Times New Roman" panose="02020603050405020304" pitchFamily="18" charset="0"/>
              </a:rPr>
              <a:t>||…||</a:t>
            </a:r>
            <a:r>
              <a:rPr lang="en-US" altLang="zh-CN" dirty="0" err="1">
                <a:cs typeface="Times New Roman" panose="02020603050405020304" pitchFamily="18" charset="0"/>
              </a:rPr>
              <a:t>X</a:t>
            </a:r>
            <a:r>
              <a:rPr lang="en-US" altLang="zh-CN" baseline="-25000" dirty="0" err="1">
                <a:cs typeface="Times New Roman" panose="02020603050405020304" pitchFamily="18" charset="0"/>
              </a:rPr>
              <a:t>t</a:t>
            </a:r>
            <a:r>
              <a:rPr lang="zh-CN" altLang="en-US" dirty="0"/>
              <a:t>，</a:t>
            </a:r>
            <a:endParaRPr lang="en-US" altLang="zh-CN" dirty="0"/>
          </a:p>
          <a:p>
            <a:pPr marL="457200" lvl="1" indent="0">
              <a:buNone/>
              <a:tabLst>
                <a:tab pos="1255395" algn="l"/>
              </a:tabLst>
            </a:pPr>
            <a:r>
              <a:rPr lang="en-US" altLang="zh-CN" dirty="0">
                <a:ea typeface="宋体" panose="02010600030101010101" pitchFamily="2" charset="-122"/>
                <a:cs typeface="Times New Roman" panose="02020603050405020304" pitchFamily="18" charset="0"/>
                <a:sym typeface="Symbol" panose="05050102010706020507"/>
              </a:rPr>
              <a:t>	</a:t>
            </a:r>
            <a:r>
              <a:rPr lang="el-GR" altLang="zh-CN" dirty="0">
                <a:ea typeface="宋体" panose="02010600030101010101" pitchFamily="2" charset="-122"/>
                <a:cs typeface="Times New Roman" panose="02020603050405020304" pitchFamily="18" charset="0"/>
                <a:sym typeface="Symbol" panose="05050102010706020507"/>
              </a:rPr>
              <a:t>Δ</a:t>
            </a:r>
            <a:r>
              <a:rPr lang="en-US" altLang="zh-CN" baseline="-25000" dirty="0">
                <a:ea typeface="宋体" panose="02010600030101010101" pitchFamily="2" charset="-122"/>
                <a:cs typeface="Times New Roman" panose="02020603050405020304" pitchFamily="18" charset="0"/>
                <a:sym typeface="Symbol" panose="05050102010706020507"/>
              </a:rPr>
              <a:t>X</a:t>
            </a:r>
            <a:r>
              <a:rPr lang="en-US" altLang="zh-CN" dirty="0">
                <a:cs typeface="Times New Roman" panose="02020603050405020304" pitchFamily="18" charset="0"/>
              </a:rPr>
              <a:t>(m)=X</a:t>
            </a:r>
            <a:r>
              <a:rPr lang="en-US" altLang="zh-CN" baseline="-25000" dirty="0">
                <a:cs typeface="Times New Roman" panose="02020603050405020304" pitchFamily="18" charset="0"/>
              </a:rPr>
              <a:t>1</a:t>
            </a:r>
            <a:r>
              <a:rPr lang="en-US" altLang="zh-CN" dirty="0">
                <a:cs typeface="Times New Roman" panose="02020603050405020304" pitchFamily="18" charset="0"/>
                <a:sym typeface="Symbol" panose="05050102010706020507"/>
              </a:rPr>
              <a:t></a:t>
            </a:r>
            <a:r>
              <a:rPr lang="en-US" altLang="zh-CN" dirty="0">
                <a:cs typeface="Times New Roman" panose="02020603050405020304" pitchFamily="18" charset="0"/>
              </a:rPr>
              <a:t>X</a:t>
            </a:r>
            <a:r>
              <a:rPr lang="en-US" altLang="zh-CN" baseline="-25000" dirty="0">
                <a:cs typeface="Times New Roman" panose="02020603050405020304" pitchFamily="18" charset="0"/>
              </a:rPr>
              <a:t>2</a:t>
            </a:r>
            <a:r>
              <a:rPr lang="en-US" altLang="zh-CN" dirty="0">
                <a:cs typeface="Times New Roman" panose="02020603050405020304" pitchFamily="18" charset="0"/>
                <a:sym typeface="Symbol" panose="05050102010706020507"/>
              </a:rPr>
              <a:t></a:t>
            </a:r>
            <a:r>
              <a:rPr lang="en-US" altLang="zh-CN" dirty="0">
                <a:cs typeface="Times New Roman" panose="02020603050405020304" pitchFamily="18" charset="0"/>
              </a:rPr>
              <a:t>…</a:t>
            </a:r>
            <a:r>
              <a:rPr lang="en-US" altLang="zh-CN" dirty="0">
                <a:cs typeface="Times New Roman" panose="02020603050405020304" pitchFamily="18" charset="0"/>
                <a:sym typeface="Symbol" panose="05050102010706020507"/>
              </a:rPr>
              <a:t></a:t>
            </a:r>
            <a:r>
              <a:rPr lang="en-US" altLang="zh-CN" dirty="0" err="1">
                <a:cs typeface="Times New Roman" panose="02020603050405020304" pitchFamily="18" charset="0"/>
              </a:rPr>
              <a:t>X</a:t>
            </a:r>
            <a:r>
              <a:rPr lang="en-US" altLang="zh-CN" baseline="-25000" dirty="0" err="1">
                <a:cs typeface="Times New Roman" panose="02020603050405020304" pitchFamily="18" charset="0"/>
              </a:rPr>
              <a:t>t</a:t>
            </a:r>
            <a:r>
              <a:rPr lang="en-US" altLang="zh-CN" dirty="0">
                <a:cs typeface="Times New Roman" panose="02020603050405020304" pitchFamily="18" charset="0"/>
              </a:rPr>
              <a:t>,</a:t>
            </a:r>
            <a:endParaRPr lang="en-US" altLang="zh-CN" dirty="0">
              <a:cs typeface="Times New Roman" panose="02020603050405020304" pitchFamily="18" charset="0"/>
            </a:endParaRPr>
          </a:p>
          <a:p>
            <a:pPr marL="457200" lvl="1" indent="0">
              <a:buNone/>
              <a:tabLst>
                <a:tab pos="1255395" algn="l"/>
              </a:tabLst>
            </a:pPr>
            <a:r>
              <a:rPr lang="en-US" altLang="zh-CN" dirty="0">
                <a:cs typeface="Times New Roman" panose="02020603050405020304" pitchFamily="18" charset="0"/>
              </a:rPr>
              <a:t>	MAC=C(</a:t>
            </a:r>
            <a:r>
              <a:rPr lang="en-US" altLang="zh-CN" dirty="0" err="1">
                <a:cs typeface="Times New Roman" panose="02020603050405020304" pitchFamily="18" charset="0"/>
              </a:rPr>
              <a:t>k,m</a:t>
            </a:r>
            <a:r>
              <a:rPr lang="en-US" altLang="zh-CN" dirty="0">
                <a:cs typeface="Times New Roman" panose="02020603050405020304" pitchFamily="18" charset="0"/>
              </a:rPr>
              <a:t>)=E(k,</a:t>
            </a:r>
            <a:r>
              <a:rPr lang="el-GR" altLang="zh-CN" dirty="0">
                <a:ea typeface="宋体" panose="02010600030101010101" pitchFamily="2" charset="-122"/>
                <a:cs typeface="Times New Roman" panose="02020603050405020304" pitchFamily="18" charset="0"/>
                <a:sym typeface="Symbol" panose="05050102010706020507"/>
              </a:rPr>
              <a:t>Δ</a:t>
            </a:r>
            <a:r>
              <a:rPr lang="en-US" altLang="zh-CN" baseline="-25000" dirty="0">
                <a:ea typeface="宋体" panose="02010600030101010101" pitchFamily="2" charset="-122"/>
                <a:cs typeface="Times New Roman" panose="02020603050405020304" pitchFamily="18" charset="0"/>
                <a:sym typeface="Symbol" panose="05050102010706020507"/>
              </a:rPr>
              <a:t>X</a:t>
            </a:r>
            <a:r>
              <a:rPr lang="en-US" altLang="zh-CN" dirty="0">
                <a:cs typeface="Times New Roman" panose="02020603050405020304" pitchFamily="18" charset="0"/>
              </a:rPr>
              <a:t>(m))</a:t>
            </a:r>
            <a:endParaRPr lang="en-US" altLang="zh-CN" dirty="0">
              <a:cs typeface="Times New Roman" panose="02020603050405020304" pitchFamily="18" charset="0"/>
            </a:endParaRPr>
          </a:p>
          <a:p>
            <a:pPr lvl="1"/>
            <a:r>
              <a:rPr lang="zh-CN" altLang="en-US" dirty="0">
                <a:cs typeface="Times New Roman" panose="02020603050405020304" pitchFamily="18" charset="0"/>
              </a:rPr>
              <a:t>攻击者可以构造：</a:t>
            </a:r>
            <a:endParaRPr lang="en-US" altLang="zh-CN" dirty="0">
              <a:cs typeface="Times New Roman" panose="02020603050405020304" pitchFamily="18" charset="0"/>
            </a:endParaRPr>
          </a:p>
          <a:p>
            <a:pPr marL="457200" lvl="1" indent="0">
              <a:buNone/>
              <a:tabLst>
                <a:tab pos="1255395" algn="l"/>
              </a:tabLst>
            </a:pPr>
            <a:r>
              <a:rPr lang="en-US" altLang="zh-CN" dirty="0">
                <a:cs typeface="Times New Roman" panose="02020603050405020304" pitchFamily="18" charset="0"/>
              </a:rPr>
              <a:t>	m'=Y</a:t>
            </a:r>
            <a:r>
              <a:rPr lang="en-US" altLang="zh-CN" baseline="-25000" dirty="0">
                <a:cs typeface="Times New Roman" panose="02020603050405020304" pitchFamily="18" charset="0"/>
              </a:rPr>
              <a:t>1</a:t>
            </a:r>
            <a:r>
              <a:rPr lang="en-US" altLang="zh-CN" dirty="0">
                <a:cs typeface="Times New Roman" panose="02020603050405020304" pitchFamily="18" charset="0"/>
              </a:rPr>
              <a:t>||Y</a:t>
            </a:r>
            <a:r>
              <a:rPr lang="en-US" altLang="zh-CN" baseline="-25000" dirty="0">
                <a:cs typeface="Times New Roman" panose="02020603050405020304" pitchFamily="18" charset="0"/>
              </a:rPr>
              <a:t>2</a:t>
            </a:r>
            <a:r>
              <a:rPr lang="en-US" altLang="zh-CN" dirty="0">
                <a:cs typeface="Times New Roman" panose="02020603050405020304" pitchFamily="18" charset="0"/>
              </a:rPr>
              <a:t>||…||</a:t>
            </a:r>
            <a:r>
              <a:rPr lang="en-US" altLang="zh-CN" dirty="0" err="1">
                <a:cs typeface="Times New Roman" panose="02020603050405020304" pitchFamily="18" charset="0"/>
              </a:rPr>
              <a:t>Y</a:t>
            </a:r>
            <a:r>
              <a:rPr lang="en-US" altLang="zh-CN" baseline="-25000" dirty="0" err="1">
                <a:cs typeface="Times New Roman" panose="02020603050405020304" pitchFamily="18" charset="0"/>
              </a:rPr>
              <a:t>t</a:t>
            </a:r>
            <a:r>
              <a:rPr lang="zh-CN" altLang="en-US" dirty="0"/>
              <a:t>，</a:t>
            </a:r>
            <a:endParaRPr lang="en-US" altLang="zh-CN" dirty="0"/>
          </a:p>
          <a:p>
            <a:pPr marL="457200" lvl="1" indent="0">
              <a:buNone/>
              <a:tabLst>
                <a:tab pos="1255395" algn="l"/>
              </a:tabLst>
            </a:pPr>
            <a:r>
              <a:rPr lang="en-US" altLang="zh-CN" dirty="0">
                <a:cs typeface="Times New Roman" panose="02020603050405020304" pitchFamily="18" charset="0"/>
              </a:rPr>
              <a:t>	</a:t>
            </a:r>
            <a:r>
              <a:rPr lang="en-US" altLang="zh-CN" dirty="0" err="1">
                <a:cs typeface="Times New Roman" panose="02020603050405020304" pitchFamily="18" charset="0"/>
              </a:rPr>
              <a:t>Y</a:t>
            </a:r>
            <a:r>
              <a:rPr lang="en-US" altLang="zh-CN" baseline="-25000" dirty="0" err="1">
                <a:cs typeface="Times New Roman" panose="02020603050405020304" pitchFamily="18" charset="0"/>
              </a:rPr>
              <a:t>t</a:t>
            </a:r>
            <a:r>
              <a:rPr lang="en-US" altLang="zh-CN" dirty="0">
                <a:cs typeface="Times New Roman" panose="02020603050405020304" pitchFamily="18" charset="0"/>
              </a:rPr>
              <a:t>=Y</a:t>
            </a:r>
            <a:r>
              <a:rPr lang="en-US" altLang="zh-CN" baseline="-25000" dirty="0">
                <a:cs typeface="Times New Roman" panose="02020603050405020304" pitchFamily="18" charset="0"/>
              </a:rPr>
              <a:t>1</a:t>
            </a:r>
            <a:r>
              <a:rPr lang="en-US" altLang="zh-CN" dirty="0">
                <a:cs typeface="Times New Roman" panose="02020603050405020304" pitchFamily="18" charset="0"/>
                <a:sym typeface="Symbol" panose="05050102010706020507"/>
              </a:rPr>
              <a:t></a:t>
            </a:r>
            <a:r>
              <a:rPr lang="en-US" altLang="zh-CN" dirty="0">
                <a:cs typeface="Times New Roman" panose="02020603050405020304" pitchFamily="18" charset="0"/>
              </a:rPr>
              <a:t>Y</a:t>
            </a:r>
            <a:r>
              <a:rPr lang="en-US" altLang="zh-CN" baseline="-25000" dirty="0">
                <a:cs typeface="Times New Roman" panose="02020603050405020304" pitchFamily="18" charset="0"/>
              </a:rPr>
              <a:t>2</a:t>
            </a:r>
            <a:r>
              <a:rPr lang="en-US" altLang="zh-CN" dirty="0">
                <a:cs typeface="Times New Roman" panose="02020603050405020304" pitchFamily="18" charset="0"/>
                <a:sym typeface="Symbol" panose="05050102010706020507"/>
              </a:rPr>
              <a:t></a:t>
            </a:r>
            <a:r>
              <a:rPr lang="en-US" altLang="zh-CN" dirty="0">
                <a:cs typeface="Times New Roman" panose="02020603050405020304" pitchFamily="18" charset="0"/>
              </a:rPr>
              <a:t>…</a:t>
            </a:r>
            <a:r>
              <a:rPr lang="en-US" altLang="zh-CN" dirty="0">
                <a:cs typeface="Times New Roman" panose="02020603050405020304" pitchFamily="18" charset="0"/>
                <a:sym typeface="Symbol" panose="05050102010706020507"/>
              </a:rPr>
              <a:t></a:t>
            </a:r>
            <a:r>
              <a:rPr lang="en-US" altLang="zh-CN" dirty="0">
                <a:cs typeface="Times New Roman" panose="02020603050405020304" pitchFamily="18" charset="0"/>
              </a:rPr>
              <a:t>Y</a:t>
            </a:r>
            <a:r>
              <a:rPr lang="en-US" altLang="zh-CN" baseline="-25000" dirty="0">
                <a:cs typeface="Times New Roman" panose="02020603050405020304" pitchFamily="18" charset="0"/>
              </a:rPr>
              <a:t>t-1</a:t>
            </a:r>
            <a:r>
              <a:rPr lang="en-US" altLang="zh-CN" dirty="0">
                <a:cs typeface="Times New Roman" panose="02020603050405020304" pitchFamily="18" charset="0"/>
                <a:sym typeface="Symbol" panose="05050102010706020507"/>
              </a:rPr>
              <a:t></a:t>
            </a:r>
            <a:r>
              <a:rPr lang="el-GR" altLang="zh-CN" dirty="0">
                <a:ea typeface="宋体" panose="02010600030101010101" pitchFamily="2" charset="-122"/>
                <a:cs typeface="Times New Roman" panose="02020603050405020304" pitchFamily="18" charset="0"/>
                <a:sym typeface="Symbol" panose="05050102010706020507"/>
              </a:rPr>
              <a:t>Δ</a:t>
            </a:r>
            <a:r>
              <a:rPr lang="en-US" altLang="zh-CN" baseline="-25000" dirty="0">
                <a:ea typeface="宋体" panose="02010600030101010101" pitchFamily="2" charset="-122"/>
                <a:cs typeface="Times New Roman" panose="02020603050405020304" pitchFamily="18" charset="0"/>
                <a:sym typeface="Symbol" panose="05050102010706020507"/>
              </a:rPr>
              <a:t>X</a:t>
            </a:r>
            <a:r>
              <a:rPr lang="en-US" altLang="zh-CN" dirty="0">
                <a:cs typeface="Times New Roman" panose="02020603050405020304" pitchFamily="18" charset="0"/>
              </a:rPr>
              <a:t>(m)</a:t>
            </a:r>
            <a:endParaRPr lang="en-US" altLang="zh-CN" dirty="0">
              <a:cs typeface="Times New Roman" panose="02020603050405020304" pitchFamily="18" charset="0"/>
            </a:endParaRPr>
          </a:p>
          <a:p>
            <a:pPr marL="457200" lvl="1" indent="0">
              <a:buNone/>
              <a:tabLst>
                <a:tab pos="1255395" algn="l"/>
              </a:tabLst>
            </a:pPr>
            <a:r>
              <a:rPr lang="en-US" altLang="zh-CN" dirty="0">
                <a:cs typeface="Times New Roman" panose="02020603050405020304" pitchFamily="18" charset="0"/>
              </a:rPr>
              <a:t>	</a:t>
            </a:r>
            <a:r>
              <a:rPr lang="el-GR" altLang="zh-CN" dirty="0">
                <a:ea typeface="宋体" panose="02010600030101010101" pitchFamily="2" charset="-122"/>
                <a:cs typeface="Times New Roman" panose="02020603050405020304" pitchFamily="18" charset="0"/>
                <a:sym typeface="Symbol" panose="05050102010706020507"/>
              </a:rPr>
              <a:t>Δ</a:t>
            </a:r>
            <a:r>
              <a:rPr lang="en-US" altLang="zh-CN" baseline="-25000" dirty="0">
                <a:ea typeface="宋体" panose="02010600030101010101" pitchFamily="2" charset="-122"/>
                <a:cs typeface="Times New Roman" panose="02020603050405020304" pitchFamily="18" charset="0"/>
                <a:sym typeface="Symbol" panose="05050102010706020507"/>
              </a:rPr>
              <a:t>Y</a:t>
            </a:r>
            <a:r>
              <a:rPr lang="en-US" altLang="zh-CN" dirty="0">
                <a:cs typeface="Times New Roman" panose="02020603050405020304" pitchFamily="18" charset="0"/>
              </a:rPr>
              <a:t>(m')=</a:t>
            </a:r>
            <a:r>
              <a:rPr lang="el-GR" altLang="zh-CN" dirty="0">
                <a:ea typeface="宋体" panose="02010600030101010101" pitchFamily="2" charset="-122"/>
                <a:cs typeface="Times New Roman" panose="02020603050405020304" pitchFamily="18" charset="0"/>
                <a:sym typeface="Symbol" panose="05050102010706020507"/>
              </a:rPr>
              <a:t>Δ</a:t>
            </a:r>
            <a:r>
              <a:rPr lang="en-US" altLang="zh-CN" baseline="-25000" dirty="0">
                <a:ea typeface="宋体" panose="02010600030101010101" pitchFamily="2" charset="-122"/>
                <a:cs typeface="Times New Roman" panose="02020603050405020304" pitchFamily="18" charset="0"/>
                <a:sym typeface="Symbol" panose="05050102010706020507"/>
              </a:rPr>
              <a:t>X</a:t>
            </a:r>
            <a:r>
              <a:rPr lang="en-US" altLang="zh-CN" dirty="0">
                <a:cs typeface="Times New Roman" panose="02020603050405020304" pitchFamily="18" charset="0"/>
              </a:rPr>
              <a:t>(m)</a:t>
            </a:r>
            <a:endParaRPr lang="en-US" altLang="zh-CN" dirty="0">
              <a:cs typeface="Times New Roman" panose="02020603050405020304" pitchFamily="18" charset="0"/>
            </a:endParaRPr>
          </a:p>
          <a:p>
            <a:pPr lvl="1"/>
            <a:r>
              <a:rPr lang="zh-CN" altLang="en-US" dirty="0">
                <a:solidFill>
                  <a:srgbClr val="C00000"/>
                </a:solidFill>
              </a:rPr>
              <a:t>要求逆运算不可行，要求不能</a:t>
            </a:r>
            <a:r>
              <a:rPr lang="zh-CN" altLang="en-US">
                <a:solidFill>
                  <a:srgbClr val="C00000"/>
                </a:solidFill>
              </a:rPr>
              <a:t>构造碰撞，否则</a:t>
            </a:r>
            <a:r>
              <a:rPr lang="zh-CN" altLang="en-US" dirty="0">
                <a:solidFill>
                  <a:srgbClr val="C00000"/>
                </a:solidFill>
              </a:rPr>
              <a:t>攻击者可以替换消息</a:t>
            </a:r>
            <a:endParaRPr lang="en-US" altLang="zh-CN" dirty="0">
              <a:solidFill>
                <a:srgbClr val="C00000"/>
              </a:solidFill>
            </a:endParaRPr>
          </a:p>
          <a:p>
            <a:pPr lvl="1">
              <a:tabLst>
                <a:tab pos="1255395" algn="l"/>
              </a:tabLst>
            </a:pP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a:t>
            </a:r>
            <a:r>
              <a:rPr lang="en-US" altLang="zh-CN" dirty="0"/>
              <a:t>MAC</a:t>
            </a:r>
            <a:r>
              <a:rPr lang="zh-CN" altLang="en-US" dirty="0"/>
              <a:t>的要求</a:t>
            </a:r>
            <a:endParaRPr lang="zh-CN" altLang="en-US" dirty="0"/>
          </a:p>
        </p:txBody>
      </p:sp>
      <p:sp>
        <p:nvSpPr>
          <p:cNvPr id="3" name="文本占位符 2"/>
          <p:cNvSpPr>
            <a:spLocks noGrp="1"/>
          </p:cNvSpPr>
          <p:nvPr>
            <p:ph type="body" sz="quarter" idx="10"/>
          </p:nvPr>
        </p:nvSpPr>
        <p:spPr/>
        <p:txBody>
          <a:bodyPr/>
          <a:lstStyle/>
          <a:p>
            <a:r>
              <a:rPr lang="zh-CN" altLang="en-US" dirty="0"/>
              <a:t>应考虑对</a:t>
            </a:r>
            <a:r>
              <a:rPr lang="en-US" altLang="zh-CN" dirty="0"/>
              <a:t>MAC</a:t>
            </a:r>
            <a:r>
              <a:rPr lang="zh-CN" altLang="en-US" dirty="0"/>
              <a:t>函数的各种类型的攻击</a:t>
            </a:r>
            <a:endParaRPr lang="en-US" altLang="zh-CN" dirty="0"/>
          </a:p>
          <a:p>
            <a:pPr lvl="1"/>
            <a:endParaRPr lang="en-US" altLang="zh-CN" dirty="0"/>
          </a:p>
          <a:p>
            <a:r>
              <a:rPr lang="zh-CN" altLang="en-US" dirty="0"/>
              <a:t>当密钥</a:t>
            </a:r>
            <a:r>
              <a:rPr lang="en-US" altLang="zh-CN" dirty="0"/>
              <a:t>k</a:t>
            </a:r>
            <a:r>
              <a:rPr lang="zh-CN" altLang="en-US" dirty="0"/>
              <a:t>保密时，</a:t>
            </a:r>
            <a:r>
              <a:rPr lang="en-US" altLang="zh-CN" dirty="0"/>
              <a:t>MAC</a:t>
            </a:r>
            <a:r>
              <a:rPr lang="zh-CN" altLang="en-US" dirty="0"/>
              <a:t>函数应满足：</a:t>
            </a:r>
            <a:endParaRPr lang="en-US" altLang="zh-CN" dirty="0"/>
          </a:p>
          <a:p>
            <a:pPr lvl="1">
              <a:buFontTx/>
              <a:buAutoNum type="arabicPeriod"/>
            </a:pPr>
            <a:r>
              <a:rPr lang="zh-CN" altLang="en-US" dirty="0"/>
              <a:t>已知消息和</a:t>
            </a:r>
            <a:r>
              <a:rPr lang="en-US" altLang="zh-CN" dirty="0"/>
              <a:t>MAC</a:t>
            </a:r>
            <a:r>
              <a:rPr lang="zh-CN" altLang="en-US" dirty="0"/>
              <a:t>值，构造另一个具有相同</a:t>
            </a:r>
            <a:r>
              <a:rPr lang="en-US" altLang="zh-CN" dirty="0"/>
              <a:t>MAC</a:t>
            </a:r>
            <a:r>
              <a:rPr lang="zh-CN" altLang="en-US" dirty="0"/>
              <a:t>值的消息在计算上是不可行的</a:t>
            </a:r>
            <a:endParaRPr lang="en-US" altLang="zh-CN" dirty="0"/>
          </a:p>
          <a:p>
            <a:pPr lvl="1">
              <a:buFontTx/>
              <a:buAutoNum type="arabicPeriod"/>
            </a:pPr>
            <a:r>
              <a:rPr lang="en-US" altLang="zh-CN" dirty="0"/>
              <a:t>MAC</a:t>
            </a:r>
            <a:r>
              <a:rPr lang="zh-CN" altLang="en-US" dirty="0"/>
              <a:t>值应当均匀分布</a:t>
            </a:r>
            <a:endParaRPr lang="en-US" altLang="zh-CN" dirty="0"/>
          </a:p>
          <a:p>
            <a:pPr lvl="2"/>
            <a:r>
              <a:rPr lang="zh-CN" altLang="en-US" dirty="0"/>
              <a:t>抵抗基于选择明文的穷举攻击</a:t>
            </a:r>
            <a:endParaRPr lang="en-US" altLang="zh-CN" dirty="0"/>
          </a:p>
          <a:p>
            <a:pPr lvl="1">
              <a:buFontTx/>
              <a:buAutoNum type="arabicPeriod"/>
            </a:pPr>
            <a:r>
              <a:rPr lang="en-US" altLang="zh-CN" dirty="0"/>
              <a:t>MAC</a:t>
            </a:r>
            <a:r>
              <a:rPr lang="zh-CN" altLang="en-US" dirty="0"/>
              <a:t>函数应当等概地使用消息的所有比特位</a:t>
            </a:r>
            <a:endParaRPr lang="en-US" altLang="zh-CN" dirty="0"/>
          </a:p>
          <a:p>
            <a:endParaRPr lang="en-US" altLang="zh-CN" dirty="0"/>
          </a:p>
          <a:p>
            <a:r>
              <a:rPr lang="en-US" altLang="zh-CN" dirty="0"/>
              <a:t>MAC</a:t>
            </a:r>
            <a:r>
              <a:rPr lang="zh-CN" altLang="en-US" dirty="0"/>
              <a:t>的结构种类多，对它进行攻击的研究较多</a:t>
            </a:r>
            <a:endParaRPr lang="zh-CN" altLang="en-US" dirty="0"/>
          </a:p>
          <a:p>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数据认证算法</a:t>
            </a:r>
            <a:r>
              <a:rPr lang="en-US" altLang="zh-CN" dirty="0"/>
              <a:t>(DAA)FIPS PUB 113</a:t>
            </a:r>
            <a:endParaRPr lang="zh-CN" altLang="en-US" dirty="0"/>
          </a:p>
        </p:txBody>
      </p:sp>
      <p:sp>
        <p:nvSpPr>
          <p:cNvPr id="3" name="文本占位符 2"/>
          <p:cNvSpPr>
            <a:spLocks noGrp="1"/>
          </p:cNvSpPr>
          <p:nvPr>
            <p:ph type="body" sz="quarter" idx="10"/>
          </p:nvPr>
        </p:nvSpPr>
        <p:spPr/>
        <p:txBody>
          <a:bodyPr/>
          <a:lstStyle/>
          <a:p>
            <a:r>
              <a:rPr lang="zh-CN" altLang="en-US" dirty="0"/>
              <a:t>待认证数据为</a:t>
            </a:r>
            <a:r>
              <a:rPr lang="en-US" altLang="zh-CN" dirty="0"/>
              <a:t>D</a:t>
            </a:r>
            <a:r>
              <a:rPr lang="en-US" altLang="zh-CN" baseline="-25000" dirty="0"/>
              <a:t>1</a:t>
            </a:r>
            <a:r>
              <a:rPr lang="en-US" altLang="zh-CN" dirty="0"/>
              <a:t>||D</a:t>
            </a:r>
            <a:r>
              <a:rPr lang="en-US" altLang="zh-CN" baseline="-25000" dirty="0"/>
              <a:t>2</a:t>
            </a:r>
            <a:r>
              <a:rPr lang="en-US" altLang="zh-CN" dirty="0"/>
              <a:t>||…||D</a:t>
            </a:r>
            <a:r>
              <a:rPr lang="en-US" altLang="zh-CN" baseline="-25000" dirty="0"/>
              <a:t>N</a:t>
            </a:r>
            <a:endParaRPr lang="en-US" altLang="zh-CN" baseline="-25000" dirty="0"/>
          </a:p>
          <a:p>
            <a:r>
              <a:rPr lang="en-US" altLang="zh-CN" dirty="0"/>
              <a:t>MAC</a:t>
            </a:r>
            <a:r>
              <a:rPr lang="zh-CN" altLang="en-US" dirty="0"/>
              <a:t>值为</a:t>
            </a:r>
            <a:r>
              <a:rPr lang="en-US" altLang="zh-CN" dirty="0"/>
              <a:t>DAC</a:t>
            </a:r>
            <a:endParaRPr lang="zh-CN" altLang="en-US" dirty="0"/>
          </a:p>
          <a:p>
            <a:pPr lvl="1"/>
            <a:r>
              <a:rPr lang="zh-CN" altLang="en-US" dirty="0"/>
              <a:t>以密码分组链接</a:t>
            </a:r>
            <a:r>
              <a:rPr lang="en-US" altLang="zh-CN" dirty="0"/>
              <a:t>(CBC)</a:t>
            </a:r>
            <a:r>
              <a:rPr lang="zh-CN" altLang="en-US" dirty="0"/>
              <a:t>为操作方式，又称为</a:t>
            </a:r>
            <a:r>
              <a:rPr lang="en-US" altLang="zh-CN" dirty="0"/>
              <a:t>CBC-MAC</a:t>
            </a:r>
            <a:endParaRPr lang="en-US" altLang="zh-CN" dirty="0"/>
          </a:p>
          <a:p>
            <a:pPr lvl="1"/>
            <a:r>
              <a:rPr lang="zh-CN" altLang="en-US" dirty="0"/>
              <a:t>用</a:t>
            </a:r>
            <a:r>
              <a:rPr lang="en-US" altLang="zh-CN" dirty="0"/>
              <a:t>0</a:t>
            </a:r>
            <a:r>
              <a:rPr lang="zh-CN" altLang="en-US" dirty="0"/>
              <a:t>作为初始化向量</a:t>
            </a:r>
            <a:endParaRPr lang="en-US" altLang="zh-CN" dirty="0"/>
          </a:p>
          <a:p>
            <a:pPr lvl="1"/>
            <a:r>
              <a:rPr lang="zh-CN" altLang="en-US" dirty="0"/>
              <a:t>基于</a:t>
            </a:r>
            <a:r>
              <a:rPr lang="en-US" altLang="zh-CN" dirty="0"/>
              <a:t>DES</a:t>
            </a:r>
            <a:r>
              <a:rPr lang="zh-CN" altLang="en-US" dirty="0"/>
              <a:t>加密算法</a:t>
            </a:r>
            <a:endParaRPr lang="en-US" altLang="zh-CN" dirty="0"/>
          </a:p>
          <a:p>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2598451" y="2973201"/>
            <a:ext cx="6652295" cy="3284163"/>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杂凑函数</a:t>
            </a:r>
            <a:r>
              <a:rPr lang="en-US" altLang="zh-CN" dirty="0"/>
              <a:t>Hash function</a:t>
            </a:r>
            <a:endParaRPr lang="zh-CN" altLang="en-US" dirty="0"/>
          </a:p>
        </p:txBody>
      </p:sp>
      <p:sp>
        <p:nvSpPr>
          <p:cNvPr id="3" name="文本占位符 2"/>
          <p:cNvSpPr>
            <a:spLocks noGrp="1"/>
          </p:cNvSpPr>
          <p:nvPr>
            <p:ph type="body" sz="quarter" idx="10"/>
          </p:nvPr>
        </p:nvSpPr>
        <p:spPr/>
        <p:txBody>
          <a:bodyPr/>
          <a:lstStyle/>
          <a:p>
            <a:r>
              <a:rPr lang="zh-CN" altLang="en-US" dirty="0">
                <a:cs typeface="Times New Roman" panose="02020603050405020304" pitchFamily="18" charset="0"/>
              </a:rPr>
              <a:t>杂凑函数对任意长度报文</a:t>
            </a:r>
            <a:r>
              <a:rPr lang="en-US" altLang="zh-CN" dirty="0">
                <a:cs typeface="Times New Roman" panose="02020603050405020304" pitchFamily="18" charset="0"/>
              </a:rPr>
              <a:t>m</a:t>
            </a:r>
            <a:r>
              <a:rPr lang="zh-CN" altLang="en-US" dirty="0">
                <a:cs typeface="Times New Roman" panose="02020603050405020304" pitchFamily="18" charset="0"/>
              </a:rPr>
              <a:t>，产生定长的</a:t>
            </a:r>
            <a:r>
              <a:rPr lang="zh-CN" altLang="en-US" dirty="0">
                <a:solidFill>
                  <a:srgbClr val="FF0000"/>
                </a:solidFill>
                <a:cs typeface="Times New Roman" panose="02020603050405020304" pitchFamily="18" charset="0"/>
              </a:rPr>
              <a:t>杂凑</a:t>
            </a:r>
            <a:r>
              <a:rPr lang="zh-CN" altLang="en-US" dirty="0">
                <a:solidFill>
                  <a:srgbClr val="FF0000"/>
                </a:solidFill>
                <a:cs typeface="Times New Roman" panose="02020603050405020304" pitchFamily="18" charset="0"/>
              </a:rPr>
              <a:t>值</a:t>
            </a:r>
            <a:r>
              <a:rPr lang="en-US" altLang="zh-CN" dirty="0">
                <a:cs typeface="Times New Roman" panose="02020603050405020304" pitchFamily="18" charset="0"/>
              </a:rPr>
              <a:t>h=H(m)</a:t>
            </a:r>
            <a:r>
              <a:rPr lang="zh-CN" altLang="en-US" dirty="0">
                <a:cs typeface="Times New Roman" panose="02020603050405020304" pitchFamily="18" charset="0"/>
              </a:rPr>
              <a:t>，亦称</a:t>
            </a:r>
            <a:r>
              <a:rPr lang="zh-CN" altLang="en-US" dirty="0">
                <a:solidFill>
                  <a:srgbClr val="FF0000"/>
                </a:solidFill>
                <a:cs typeface="Times New Roman" panose="02020603050405020304" pitchFamily="18" charset="0"/>
              </a:rPr>
              <a:t>报文摘要</a:t>
            </a:r>
            <a:r>
              <a:rPr lang="en-US" altLang="zh-CN" dirty="0">
                <a:cs typeface="Times New Roman" panose="02020603050405020304" pitchFamily="18" charset="0"/>
              </a:rPr>
              <a:t>Message Digest</a:t>
            </a:r>
            <a:r>
              <a:rPr lang="zh-CN" altLang="en-US" dirty="0">
                <a:cs typeface="Times New Roman" panose="02020603050405020304" pitchFamily="18" charset="0"/>
              </a:rPr>
              <a:t>，压缩函数、操作检验码、消息完整性校验</a:t>
            </a:r>
            <a:r>
              <a:rPr lang="en-US" altLang="zh-CN" dirty="0">
                <a:cs typeface="Times New Roman" panose="02020603050405020304" pitchFamily="18" charset="0"/>
              </a:rPr>
              <a:t>(MIC)</a:t>
            </a:r>
            <a:r>
              <a:rPr lang="zh-CN" altLang="en-US" dirty="0">
                <a:cs typeface="Times New Roman" panose="02020603050405020304" pitchFamily="18" charset="0"/>
              </a:rPr>
              <a:t>、</a:t>
            </a:r>
            <a:r>
              <a:rPr lang="zh-CN" altLang="en-US" dirty="0">
                <a:solidFill>
                  <a:srgbClr val="FF0000"/>
                </a:solidFill>
                <a:cs typeface="Times New Roman" panose="02020603050405020304" pitchFamily="18" charset="0"/>
              </a:rPr>
              <a:t>杂凑值</a:t>
            </a:r>
            <a:r>
              <a:rPr lang="zh-CN" altLang="en-US" dirty="0">
                <a:cs typeface="Times New Roman" panose="02020603050405020304" pitchFamily="18" charset="0"/>
              </a:rPr>
              <a:t>等</a:t>
            </a:r>
            <a:endParaRPr lang="en-US" altLang="zh-CN" dirty="0">
              <a:cs typeface="Times New Roman" panose="02020603050405020304" pitchFamily="18" charset="0"/>
            </a:endParaRPr>
          </a:p>
          <a:p>
            <a:pPr lvl="1"/>
            <a:r>
              <a:rPr lang="en-US" altLang="zh-CN" dirty="0">
                <a:cs typeface="Times New Roman" panose="02020603050405020304" pitchFamily="18" charset="0"/>
              </a:rPr>
              <a:t>Hash</a:t>
            </a:r>
            <a:r>
              <a:rPr lang="zh-CN" altLang="en-US" dirty="0">
                <a:cs typeface="Times New Roman" panose="02020603050405020304" pitchFamily="18" charset="0"/>
              </a:rPr>
              <a:t>函数也是多对一的映射，期望是均匀的映射</a:t>
            </a:r>
            <a:endParaRPr lang="en-US" altLang="zh-CN" dirty="0">
              <a:cs typeface="Times New Roman" panose="02020603050405020304" pitchFamily="18" charset="0"/>
            </a:endParaRPr>
          </a:p>
          <a:p>
            <a:pPr lvl="1"/>
            <a:endParaRPr lang="en-US" altLang="zh-CN" dirty="0">
              <a:cs typeface="Times New Roman" panose="02020603050405020304" pitchFamily="18" charset="0"/>
            </a:endParaRPr>
          </a:p>
          <a:p>
            <a:pPr lvl="1"/>
            <a:r>
              <a:rPr lang="zh-CN" altLang="en-US" dirty="0">
                <a:cs typeface="Times New Roman" panose="02020603050405020304" pitchFamily="18" charset="0"/>
              </a:rPr>
              <a:t>是报文所有比特的函数值，具有差错检测能力</a:t>
            </a:r>
            <a:endParaRPr lang="en-US" altLang="zh-CN" dirty="0">
              <a:cs typeface="Times New Roman" panose="02020603050405020304" pitchFamily="18" charset="0"/>
            </a:endParaRPr>
          </a:p>
          <a:p>
            <a:pPr lvl="2"/>
            <a:endParaRPr lang="en-US" altLang="zh-CN" dirty="0">
              <a:cs typeface="Times New Roman" panose="02020603050405020304" pitchFamily="18" charset="0"/>
            </a:endParaRPr>
          </a:p>
          <a:p>
            <a:pPr lvl="1"/>
            <a:r>
              <a:rPr lang="zh-CN" altLang="en-US" dirty="0">
                <a:cs typeface="Times New Roman" panose="02020603050405020304" pitchFamily="18" charset="0"/>
              </a:rPr>
              <a:t>杂凑值是明文的“指纹”或称摘要。对杂凑值的数字签名，可以视为对明文的数字签名</a:t>
            </a:r>
            <a:endParaRPr lang="en-US" altLang="zh-CN" dirty="0">
              <a:cs typeface="Times New Roman" panose="02020603050405020304" pitchFamily="18" charset="0"/>
            </a:endParaRPr>
          </a:p>
          <a:p>
            <a:pPr lvl="2"/>
            <a:r>
              <a:rPr lang="zh-CN" altLang="en-US" dirty="0">
                <a:cs typeface="Times New Roman" panose="02020603050405020304" pitchFamily="18" charset="0"/>
              </a:rPr>
              <a:t>可以用来提高数字签名的效率</a:t>
            </a:r>
            <a:endParaRPr lang="en-US" altLang="zh-CN" dirty="0">
              <a:cs typeface="Times New Roman" panose="02020603050405020304" pitchFamily="18" charset="0"/>
            </a:endParaRPr>
          </a:p>
          <a:p>
            <a:pPr lvl="2"/>
            <a:endParaRPr lang="en-US" altLang="zh-CN" dirty="0">
              <a:cs typeface="Times New Roman" panose="02020603050405020304" pitchFamily="18" charset="0"/>
            </a:endParaRPr>
          </a:p>
          <a:p>
            <a:pPr lvl="1"/>
            <a:r>
              <a:rPr lang="zh-CN" altLang="en-US" dirty="0">
                <a:cs typeface="Times New Roman" panose="02020603050405020304" pitchFamily="18" charset="0"/>
              </a:rPr>
              <a:t>通常认为</a:t>
            </a:r>
            <a:r>
              <a:rPr lang="en-US" altLang="zh-CN" dirty="0">
                <a:cs typeface="Times New Roman" panose="02020603050405020304" pitchFamily="18" charset="0"/>
              </a:rPr>
              <a:t>Hash</a:t>
            </a:r>
            <a:r>
              <a:rPr lang="zh-CN" altLang="en-US" dirty="0">
                <a:cs typeface="Times New Roman" panose="02020603050405020304" pitchFamily="18" charset="0"/>
              </a:rPr>
              <a:t>函数是公开的，无密钥的</a:t>
            </a:r>
            <a:endParaRPr lang="en-AU" altLang="zh-CN" dirty="0">
              <a:cs typeface="Times New Roman" panose="02020603050405020304" pitchFamily="18" charset="0"/>
            </a:endParaRPr>
          </a:p>
          <a:p>
            <a:pPr lvl="2"/>
            <a:r>
              <a:rPr lang="en-US" altLang="zh-CN" dirty="0">
                <a:cs typeface="Times New Roman" panose="02020603050405020304" pitchFamily="18" charset="0"/>
              </a:rPr>
              <a:t>MAC</a:t>
            </a:r>
            <a:r>
              <a:rPr lang="zh-CN" altLang="en-US" dirty="0">
                <a:cs typeface="Times New Roman" panose="02020603050405020304" pitchFamily="18" charset="0"/>
              </a:rPr>
              <a:t>是有密钥的</a:t>
            </a:r>
            <a:endParaRPr lang="en-US" altLang="zh-CN" dirty="0">
              <a:cs typeface="Times New Roman" panose="02020603050405020304" pitchFamily="18" charset="0"/>
            </a:endParaRPr>
          </a:p>
          <a:p>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杂凑函数的使用</a:t>
            </a:r>
            <a:endParaRPr lang="zh-CN" altLang="en-US" dirty="0"/>
          </a:p>
        </p:txBody>
      </p:sp>
      <p:sp>
        <p:nvSpPr>
          <p:cNvPr id="3" name="文本占位符 2"/>
          <p:cNvSpPr>
            <a:spLocks noGrp="1"/>
          </p:cNvSpPr>
          <p:nvPr>
            <p:ph type="body" sz="quarter" idx="10"/>
          </p:nvPr>
        </p:nvSpPr>
        <p:spPr/>
        <p:txBody>
          <a:bodyPr/>
          <a:lstStyle/>
          <a:p>
            <a:r>
              <a:rPr lang="zh-CN" altLang="en-US" dirty="0"/>
              <a:t>对避免加密的方法重视的原因</a:t>
            </a:r>
            <a:endParaRPr lang="zh-CN" altLang="en-US" dirty="0"/>
          </a:p>
          <a:p>
            <a:pPr lvl="1"/>
            <a:r>
              <a:rPr lang="zh-CN" altLang="en-US" dirty="0"/>
              <a:t>加密过程很慢，硬件开销，传输量问题，专利问题，出口限制等等</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nSpc>
                <a:spcPct val="110000"/>
              </a:lnSpc>
            </a:pPr>
            <a:r>
              <a:rPr lang="zh-CN" altLang="en-US" dirty="0"/>
              <a:t>杂凑函数的用途</a:t>
            </a:r>
            <a:endParaRPr lang="en-US" altLang="zh-CN" dirty="0"/>
          </a:p>
          <a:p>
            <a:pPr lvl="1">
              <a:lnSpc>
                <a:spcPct val="110000"/>
              </a:lnSpc>
            </a:pPr>
            <a:r>
              <a:rPr lang="zh-CN" altLang="en-US" dirty="0"/>
              <a:t>用作消息完整性认证</a:t>
            </a:r>
            <a:endParaRPr lang="en-US" altLang="zh-CN" dirty="0"/>
          </a:p>
          <a:p>
            <a:pPr lvl="1">
              <a:lnSpc>
                <a:spcPct val="110000"/>
              </a:lnSpc>
            </a:pPr>
            <a:r>
              <a:rPr lang="zh-CN" altLang="en-US" dirty="0"/>
              <a:t>验证双方是否共享</a:t>
            </a:r>
            <a:r>
              <a:rPr lang="en-US" altLang="zh-CN" dirty="0"/>
              <a:t>K</a:t>
            </a:r>
            <a:r>
              <a:rPr lang="en-US" altLang="zh-CN" baseline="-25000" dirty="0"/>
              <a:t>AB</a:t>
            </a:r>
            <a:endParaRPr lang="en-US" altLang="zh-CN" dirty="0"/>
          </a:p>
          <a:p>
            <a:pPr lvl="1">
              <a:lnSpc>
                <a:spcPct val="110000"/>
              </a:lnSpc>
            </a:pPr>
            <a:r>
              <a:rPr lang="zh-CN" altLang="en-US" dirty="0"/>
              <a:t>用于加密：将分组加密转换成序列加密，产生流密钥，有</a:t>
            </a:r>
            <a:r>
              <a:rPr lang="en-US" altLang="zh-CN" dirty="0"/>
              <a:t>OFB</a:t>
            </a:r>
            <a:r>
              <a:rPr lang="zh-CN" altLang="en-US" dirty="0"/>
              <a:t>和</a:t>
            </a:r>
            <a:r>
              <a:rPr lang="en-US" altLang="zh-CN" dirty="0"/>
              <a:t>CFB</a:t>
            </a:r>
            <a:r>
              <a:rPr lang="zh-CN" altLang="en-US" dirty="0"/>
              <a:t>方式</a:t>
            </a:r>
            <a:endParaRPr lang="zh-CN" altLang="en-US" dirty="0"/>
          </a:p>
        </p:txBody>
      </p:sp>
      <p:graphicFrame>
        <p:nvGraphicFramePr>
          <p:cNvPr id="5" name="表格 4"/>
          <p:cNvGraphicFramePr>
            <a:graphicFrameLocks noGrp="1"/>
          </p:cNvGraphicFramePr>
          <p:nvPr/>
        </p:nvGraphicFramePr>
        <p:xfrm>
          <a:off x="2652950" y="1846021"/>
          <a:ext cx="5842992" cy="1737360"/>
        </p:xfrm>
        <a:graphic>
          <a:graphicData uri="http://schemas.openxmlformats.org/drawingml/2006/table">
            <a:tbl>
              <a:tblPr/>
              <a:tblGrid>
                <a:gridCol w="1947664"/>
                <a:gridCol w="1947664"/>
                <a:gridCol w="1947664"/>
              </a:tblGrid>
              <a:tr h="275509">
                <a:tc>
                  <a:txBody>
                    <a:bodyPr/>
                    <a:lstStyle/>
                    <a:p>
                      <a:pPr algn="ctr"/>
                      <a:r>
                        <a:rPr lang="zh-CN" altLang="en-US" sz="1400">
                          <a:effectLst/>
                        </a:rPr>
                        <a:t>用户</a:t>
                      </a:r>
                      <a:endParaRPr lang="zh-CN" altLang="en-US" sz="14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zh-CN" altLang="en-US" sz="1400">
                          <a:effectLst/>
                        </a:rPr>
                        <a:t>密码产品产地</a:t>
                      </a:r>
                      <a:endParaRPr lang="zh-CN" altLang="en-US" sz="14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zh-CN" altLang="en-US" sz="1400">
                          <a:effectLst/>
                        </a:rPr>
                        <a:t>限制使用情况 </a:t>
                      </a:r>
                      <a:endParaRPr lang="zh-CN" altLang="en-US" sz="14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r>
              <a:tr h="275509">
                <a:tc rowSpan="2">
                  <a:txBody>
                    <a:bodyPr/>
                    <a:lstStyle/>
                    <a:p>
                      <a:r>
                        <a:rPr lang="zh-CN" altLang="en-US" sz="1400">
                          <a:effectLst/>
                        </a:rPr>
                        <a:t>境外组织、个人</a:t>
                      </a:r>
                      <a:endParaRPr lang="zh-CN" altLang="en-US" sz="14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zh-CN" altLang="en-US" sz="1400" dirty="0">
                          <a:effectLst/>
                        </a:rPr>
                        <a:t>境内</a:t>
                      </a:r>
                      <a:endParaRPr lang="zh-CN" altLang="en-US" sz="1400" dirty="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zh-CN" altLang="en-US" sz="1400">
                          <a:effectLst/>
                        </a:rPr>
                        <a:t>可以使用 </a:t>
                      </a:r>
                      <a:endParaRPr lang="zh-CN" altLang="en-US" sz="14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90FF90"/>
                    </a:solidFill>
                  </a:tcPr>
                </a:tc>
              </a:tr>
              <a:tr h="482141">
                <a:tc vMerge="1">
                  <a:tcPr/>
                </a:tc>
                <a:tc>
                  <a:txBody>
                    <a:bodyPr/>
                    <a:lstStyle/>
                    <a:p>
                      <a:r>
                        <a:rPr lang="zh-CN" altLang="en-US" sz="1400">
                          <a:effectLst/>
                        </a:rPr>
                        <a:t>境外</a:t>
                      </a:r>
                      <a:endParaRPr lang="zh-CN" altLang="en-US" sz="14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zh-CN" altLang="en-US" sz="1400">
                          <a:solidFill>
                            <a:srgbClr val="000000"/>
                          </a:solidFill>
                          <a:effectLst/>
                        </a:rPr>
                        <a:t>需要</a:t>
                      </a:r>
                      <a:r>
                        <a:rPr lang="en-US" altLang="zh-CN" sz="1400">
                          <a:solidFill>
                            <a:srgbClr val="000000"/>
                          </a:solidFill>
                          <a:effectLst/>
                        </a:rPr>
                        <a:t>《</a:t>
                      </a:r>
                      <a:r>
                        <a:rPr lang="zh-CN" altLang="en-US" sz="1400">
                          <a:solidFill>
                            <a:srgbClr val="000000"/>
                          </a:solidFill>
                          <a:effectLst/>
                        </a:rPr>
                        <a:t>使用境外生产的密码产品准用证</a:t>
                      </a:r>
                      <a:r>
                        <a:rPr lang="en-US" altLang="zh-CN" sz="1400">
                          <a:solidFill>
                            <a:srgbClr val="000000"/>
                          </a:solidFill>
                          <a:effectLst/>
                        </a:rPr>
                        <a:t>》 </a:t>
                      </a:r>
                      <a:endParaRPr lang="en-US" altLang="zh-CN" sz="1400">
                        <a:solidFill>
                          <a:srgbClr val="000000"/>
                        </a:solidFill>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FFF90"/>
                    </a:solidFill>
                  </a:tcPr>
                </a:tc>
              </a:tr>
              <a:tr h="275509">
                <a:tc rowSpan="2">
                  <a:txBody>
                    <a:bodyPr/>
                    <a:lstStyle/>
                    <a:p>
                      <a:r>
                        <a:rPr lang="zh-CN" altLang="en-US" sz="1400">
                          <a:effectLst/>
                        </a:rPr>
                        <a:t>中国法人、组织、公民</a:t>
                      </a:r>
                      <a:endParaRPr lang="zh-CN" altLang="en-US" sz="14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zh-CN" altLang="en-US" sz="1400">
                          <a:effectLst/>
                        </a:rPr>
                        <a:t>境内</a:t>
                      </a:r>
                      <a:endParaRPr lang="zh-CN" altLang="en-US" sz="14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zh-CN" altLang="en-US" sz="1400">
                          <a:effectLst/>
                        </a:rPr>
                        <a:t>可以使用 </a:t>
                      </a:r>
                      <a:endParaRPr lang="zh-CN" altLang="en-US" sz="14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90FF90"/>
                    </a:solidFill>
                  </a:tcPr>
                </a:tc>
              </a:tr>
              <a:tr h="275509">
                <a:tc vMerge="1">
                  <a:tcPr/>
                </a:tc>
                <a:tc>
                  <a:txBody>
                    <a:bodyPr/>
                    <a:lstStyle/>
                    <a:p>
                      <a:r>
                        <a:rPr lang="zh-CN" altLang="en-US" sz="1400">
                          <a:effectLst/>
                        </a:rPr>
                        <a:t>境外</a:t>
                      </a:r>
                      <a:endParaRPr lang="zh-CN" altLang="en-US" sz="140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zh-CN" altLang="en-US" sz="1400" dirty="0">
                          <a:effectLst/>
                        </a:rPr>
                        <a:t>不得使用 </a:t>
                      </a:r>
                      <a:endParaRPr lang="zh-CN" altLang="en-US" sz="1400" dirty="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F9090"/>
                    </a:solidFill>
                  </a:tcPr>
                </a:tc>
              </a:tr>
            </a:tbl>
          </a:graphicData>
        </a:graphic>
      </p:graphicFrame>
      <p:sp>
        <p:nvSpPr>
          <p:cNvPr id="7" name="文本框 6"/>
          <p:cNvSpPr txBox="1"/>
          <p:nvPr/>
        </p:nvSpPr>
        <p:spPr>
          <a:xfrm>
            <a:off x="2473655" y="3561613"/>
            <a:ext cx="6374509" cy="646331"/>
          </a:xfrm>
          <a:prstGeom prst="rect">
            <a:avLst/>
          </a:prstGeom>
          <a:noFill/>
        </p:spPr>
        <p:txBody>
          <a:bodyPr wrap="square">
            <a:spAutoFit/>
          </a:bodyPr>
          <a:lstStyle/>
          <a:p>
            <a:r>
              <a:rPr lang="zh-CN" altLang="en-US" b="0" i="0" u="none" strike="noStrike" dirty="0">
                <a:solidFill>
                  <a:srgbClr val="0645AD"/>
                </a:solidFill>
                <a:effectLst/>
                <a:latin typeface="Times New Roman" panose="02020603050405020304" pitchFamily="18" charset="0"/>
                <a:ea typeface="黑体" panose="02010609060101010101" pitchFamily="49" charset="-122"/>
                <a:cs typeface="Times New Roman" panose="02020603050405020304" pitchFamily="18" charset="0"/>
              </a:rPr>
              <a:t>国家密码管理局</a:t>
            </a:r>
            <a:r>
              <a:rPr lang="en-US" altLang="zh-CN"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2007</a:t>
            </a:r>
            <a:r>
              <a:rPr lang="zh-CN" altLang="en-US"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年</a:t>
            </a:r>
            <a:r>
              <a:rPr lang="en-US" altLang="zh-CN"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4</a:t>
            </a:r>
            <a:r>
              <a:rPr lang="zh-CN" altLang="en-US"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月</a:t>
            </a:r>
            <a:r>
              <a:rPr lang="en-US" altLang="zh-CN"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23</a:t>
            </a:r>
            <a:r>
              <a:rPr lang="zh-CN" altLang="en-US"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日公布的</a:t>
            </a:r>
            <a:r>
              <a:rPr lang="en-US" altLang="zh-CN"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商用密码产品使用管理规定</a:t>
            </a:r>
            <a:r>
              <a:rPr lang="en-US" altLang="zh-CN"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和</a:t>
            </a:r>
            <a:r>
              <a:rPr lang="en-US" altLang="zh-CN"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境外组织和个人在华使用密码产品管理办法</a:t>
            </a:r>
            <a:r>
              <a:rPr lang="en-US" altLang="zh-CN" b="0" i="0" u="none" strike="noStrike" dirty="0">
                <a:solidFill>
                  <a:srgbClr val="202122"/>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杂凑函数的使用</a:t>
            </a:r>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1444691" y="1016732"/>
            <a:ext cx="5935647" cy="5133056"/>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r="49235"/>
          <a:stretch>
            <a:fillRect/>
          </a:stretch>
        </p:blipFill>
        <p:spPr bwMode="auto">
          <a:xfrm>
            <a:off x="7581851" y="1363731"/>
            <a:ext cx="3095114" cy="4853702"/>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杂凑函数的使用</a:t>
            </a:r>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1296987" y="1088594"/>
            <a:ext cx="6186861" cy="5168770"/>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l="49969"/>
          <a:stretch>
            <a:fillRect/>
          </a:stretch>
        </p:blipFill>
        <p:spPr bwMode="auto">
          <a:xfrm>
            <a:off x="7568619" y="1308499"/>
            <a:ext cx="3224887" cy="4948865"/>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简单杂凑函数例子</a:t>
            </a:r>
            <a:endParaRPr lang="zh-CN" altLang="en-US" dirty="0"/>
          </a:p>
        </p:txBody>
      </p:sp>
      <p:sp>
        <p:nvSpPr>
          <p:cNvPr id="3" name="文本占位符 2"/>
          <p:cNvSpPr>
            <a:spLocks noGrp="1"/>
          </p:cNvSpPr>
          <p:nvPr>
            <p:ph type="body" sz="quarter" idx="10"/>
          </p:nvPr>
        </p:nvSpPr>
        <p:spPr/>
        <p:txBody>
          <a:bodyPr/>
          <a:lstStyle/>
          <a:p>
            <a:r>
              <a:rPr lang="zh-CN" altLang="en-US" dirty="0"/>
              <a:t>经度（垂直）冗余校验</a:t>
            </a:r>
            <a:endParaRPr lang="en-US" altLang="zh-CN" dirty="0"/>
          </a:p>
          <a:p>
            <a:pPr lvl="1"/>
            <a:r>
              <a:rPr lang="zh-CN" altLang="en-US" dirty="0"/>
              <a:t>每分组对应位异或</a:t>
            </a:r>
            <a:endParaRPr lang="en-US" altLang="zh-CN" dirty="0"/>
          </a:p>
          <a:p>
            <a:pPr lvl="1"/>
            <a:r>
              <a:rPr lang="zh-CN" altLang="en-US" dirty="0"/>
              <a:t>数据格式可能影响有效性</a:t>
            </a:r>
            <a:endParaRPr lang="en-US" altLang="zh-CN" dirty="0"/>
          </a:p>
          <a:p>
            <a:r>
              <a:rPr lang="zh-CN" altLang="en-US" dirty="0"/>
              <a:t>带循环移位的冗余校验</a:t>
            </a:r>
            <a:endParaRPr lang="en-US" altLang="zh-CN" dirty="0"/>
          </a:p>
          <a:p>
            <a:pPr lvl="1"/>
            <a:r>
              <a:rPr lang="zh-CN" altLang="en-US" dirty="0"/>
              <a:t>每处理一分组，散列值循环移位一次</a:t>
            </a:r>
            <a:endParaRPr lang="en-US" altLang="zh-CN" dirty="0"/>
          </a:p>
          <a:p>
            <a:pPr lvl="1"/>
            <a:r>
              <a:rPr lang="zh-CN" altLang="en-US" dirty="0"/>
              <a:t>可以保护数据完整性</a:t>
            </a:r>
            <a:endParaRPr lang="en-US" altLang="zh-CN" dirty="0"/>
          </a:p>
          <a:p>
            <a:r>
              <a:rPr lang="zh-CN" altLang="en-US" dirty="0"/>
              <a:t>安全性差</a:t>
            </a:r>
            <a:endParaRPr lang="en-US" altLang="zh-CN" dirty="0"/>
          </a:p>
          <a:p>
            <a:pPr lvl="1"/>
            <a:r>
              <a:rPr lang="zh-CN" altLang="en-US" dirty="0"/>
              <a:t>很容易构造假消息</a:t>
            </a:r>
            <a:endParaRPr lang="en-US" altLang="zh-CN" dirty="0"/>
          </a:p>
          <a:p>
            <a:pPr lvl="2"/>
            <a:r>
              <a:rPr lang="zh-CN" altLang="en-US" dirty="0"/>
              <a:t>只需在假消息后附加一个特定分组</a:t>
            </a:r>
            <a:endParaRPr lang="en-US" altLang="zh-CN" dirty="0"/>
          </a:p>
          <a:p>
            <a:pPr lvl="1"/>
            <a:r>
              <a:rPr lang="zh-CN" altLang="en-US" dirty="0"/>
              <a:t>分组顺序可以改变</a:t>
            </a:r>
            <a:endParaRPr lang="zh-CN" altLang="en-US" dirty="0"/>
          </a:p>
        </p:txBody>
      </p:sp>
      <p:pic>
        <p:nvPicPr>
          <p:cNvPr id="5" name="Picture 1"/>
          <p:cNvPicPr>
            <a:picLocks noChangeAspect="1" noChangeArrowheads="1"/>
          </p:cNvPicPr>
          <p:nvPr/>
        </p:nvPicPr>
        <p:blipFill>
          <a:blip r:embed="rId1" cstate="print"/>
          <a:srcRect/>
          <a:stretch>
            <a:fillRect/>
          </a:stretch>
        </p:blipFill>
        <p:spPr bwMode="auto">
          <a:xfrm>
            <a:off x="6567680" y="775556"/>
            <a:ext cx="3807797" cy="4392488"/>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密码学对杂凑函数的要求</a:t>
            </a:r>
            <a:endParaRPr lang="zh-CN" altLang="en-US" dirty="0"/>
          </a:p>
        </p:txBody>
      </p:sp>
      <p:sp>
        <p:nvSpPr>
          <p:cNvPr id="3" name="文本占位符 2"/>
          <p:cNvSpPr>
            <a:spLocks noGrp="1"/>
          </p:cNvSpPr>
          <p:nvPr>
            <p:ph type="body" sz="quarter" idx="10"/>
          </p:nvPr>
        </p:nvSpPr>
        <p:spPr/>
        <p:txBody>
          <a:bodyPr/>
          <a:lstStyle/>
          <a:p>
            <a:pPr>
              <a:lnSpc>
                <a:spcPct val="90000"/>
              </a:lnSpc>
            </a:pPr>
            <a:r>
              <a:rPr lang="zh-CN" altLang="en-US" dirty="0">
                <a:cs typeface="Times New Roman" panose="02020603050405020304" pitchFamily="18" charset="0"/>
              </a:rPr>
              <a:t>应用要求：</a:t>
            </a:r>
            <a:endParaRPr lang="en-US" altLang="zh-CN" dirty="0">
              <a:cs typeface="Times New Roman" panose="02020603050405020304" pitchFamily="18" charset="0"/>
            </a:endParaRPr>
          </a:p>
          <a:p>
            <a:pPr lvl="1">
              <a:lnSpc>
                <a:spcPct val="90000"/>
              </a:lnSpc>
            </a:pPr>
            <a:r>
              <a:rPr lang="zh-CN" altLang="en-US" dirty="0">
                <a:solidFill>
                  <a:srgbClr val="0070C0"/>
                </a:solidFill>
                <a:cs typeface="Times New Roman" panose="02020603050405020304" pitchFamily="18" charset="0"/>
              </a:rPr>
              <a:t>低代价</a:t>
            </a:r>
            <a:r>
              <a:rPr lang="zh-CN" altLang="en-US" dirty="0">
                <a:cs typeface="Times New Roman" panose="02020603050405020304" pitchFamily="18" charset="0"/>
              </a:rPr>
              <a:t>：对任意明文</a:t>
            </a:r>
            <a:r>
              <a:rPr lang="en-US" altLang="zh-CN" dirty="0">
                <a:cs typeface="Times New Roman" panose="02020603050405020304" pitchFamily="18" charset="0"/>
              </a:rPr>
              <a:t>m</a:t>
            </a:r>
            <a:r>
              <a:rPr lang="zh-CN" altLang="en-US" dirty="0">
                <a:cs typeface="Times New Roman" panose="02020603050405020304" pitchFamily="18" charset="0"/>
              </a:rPr>
              <a:t>，杂凑函数</a:t>
            </a:r>
            <a:r>
              <a:rPr lang="en-US" altLang="zh-CN" dirty="0">
                <a:cs typeface="Times New Roman" panose="02020603050405020304" pitchFamily="18" charset="0"/>
              </a:rPr>
              <a:t>H(m)</a:t>
            </a:r>
            <a:r>
              <a:rPr lang="zh-CN" altLang="en-US" dirty="0">
                <a:cs typeface="Times New Roman" panose="02020603050405020304" pitchFamily="18" charset="0"/>
              </a:rPr>
              <a:t>由软</a:t>
            </a:r>
            <a:r>
              <a:rPr lang="en-US" altLang="zh-CN" dirty="0">
                <a:cs typeface="Times New Roman" panose="02020603050405020304" pitchFamily="18" charset="0"/>
              </a:rPr>
              <a:t>/</a:t>
            </a:r>
            <a:r>
              <a:rPr lang="zh-CN" altLang="en-US" dirty="0">
                <a:cs typeface="Times New Roman" panose="02020603050405020304" pitchFamily="18" charset="0"/>
              </a:rPr>
              <a:t>硬件容易实现</a:t>
            </a:r>
            <a:endParaRPr lang="en-US" altLang="zh-CN" dirty="0">
              <a:cs typeface="Times New Roman" panose="02020603050405020304" pitchFamily="18" charset="0"/>
            </a:endParaRPr>
          </a:p>
          <a:p>
            <a:pPr lvl="1">
              <a:lnSpc>
                <a:spcPct val="90000"/>
              </a:lnSpc>
            </a:pPr>
            <a:r>
              <a:rPr lang="zh-CN" altLang="en-US" dirty="0">
                <a:solidFill>
                  <a:srgbClr val="0070C0"/>
                </a:solidFill>
                <a:cs typeface="Times New Roman" panose="02020603050405020304" pitchFamily="18" charset="0"/>
              </a:rPr>
              <a:t>均匀性</a:t>
            </a:r>
            <a:r>
              <a:rPr lang="zh-CN" altLang="en-US" dirty="0">
                <a:cs typeface="Times New Roman" panose="02020603050405020304" pitchFamily="18" charset="0"/>
              </a:rPr>
              <a:t>：任意明文应等概率地映射为某个杂凑值</a:t>
            </a:r>
            <a:endParaRPr lang="en-US" altLang="zh-CN" dirty="0">
              <a:cs typeface="Times New Roman" panose="02020603050405020304" pitchFamily="18" charset="0"/>
            </a:endParaRPr>
          </a:p>
          <a:p>
            <a:r>
              <a:rPr lang="zh-CN" altLang="en-US" dirty="0">
                <a:cs typeface="Times New Roman" panose="02020603050405020304" pitchFamily="18" charset="0"/>
              </a:rPr>
              <a:t>安全性要求：</a:t>
            </a:r>
            <a:endParaRPr lang="en-US" altLang="zh-CN" dirty="0">
              <a:cs typeface="Times New Roman" panose="02020603050405020304" pitchFamily="18" charset="0"/>
            </a:endParaRPr>
          </a:p>
          <a:p>
            <a:pPr marL="756285" lvl="1" indent="-360045">
              <a:buFont typeface="+mj-lt"/>
              <a:buAutoNum type="arabicPeriod"/>
            </a:pPr>
            <a:r>
              <a:rPr lang="zh-CN" altLang="en-US" dirty="0">
                <a:solidFill>
                  <a:srgbClr val="FF0000"/>
                </a:solidFill>
                <a:cs typeface="Times New Roman" panose="02020603050405020304" pitchFamily="18" charset="0"/>
              </a:rPr>
              <a:t>单向性：</a:t>
            </a:r>
            <a:r>
              <a:rPr lang="zh-CN" altLang="en-US" dirty="0">
                <a:cs typeface="Times New Roman" panose="02020603050405020304" pitchFamily="18" charset="0"/>
              </a:rPr>
              <a:t>对任意杂凑值</a:t>
            </a:r>
            <a:r>
              <a:rPr lang="en-US" altLang="zh-CN" dirty="0">
                <a:cs typeface="Times New Roman" panose="02020603050405020304" pitchFamily="18" charset="0"/>
              </a:rPr>
              <a:t>h</a:t>
            </a:r>
            <a:r>
              <a:rPr lang="zh-CN" altLang="en-US" dirty="0">
                <a:cs typeface="Times New Roman" panose="02020603050405020304" pitchFamily="18" charset="0"/>
              </a:rPr>
              <a:t>，要找到一个明文</a:t>
            </a:r>
            <a:r>
              <a:rPr lang="en-US" altLang="zh-CN" dirty="0">
                <a:cs typeface="Times New Roman" panose="02020603050405020304" pitchFamily="18" charset="0"/>
              </a:rPr>
              <a:t>m</a:t>
            </a:r>
            <a:r>
              <a:rPr lang="zh-CN" altLang="en-US" dirty="0">
                <a:cs typeface="Times New Roman" panose="02020603050405020304" pitchFamily="18" charset="0"/>
              </a:rPr>
              <a:t>与之对应，即</a:t>
            </a:r>
            <a:r>
              <a:rPr lang="en-US" altLang="zh-CN" dirty="0">
                <a:cs typeface="Times New Roman" panose="02020603050405020304" pitchFamily="18" charset="0"/>
              </a:rPr>
              <a:t>h=H(m)</a:t>
            </a:r>
            <a:r>
              <a:rPr lang="zh-CN" altLang="en-US" dirty="0">
                <a:cs typeface="Times New Roman" panose="02020603050405020304" pitchFamily="18" charset="0"/>
              </a:rPr>
              <a:t>，在计算上不可行</a:t>
            </a:r>
            <a:endParaRPr lang="en-US" altLang="zh-CN" dirty="0">
              <a:cs typeface="Times New Roman" panose="02020603050405020304" pitchFamily="18" charset="0"/>
            </a:endParaRPr>
          </a:p>
          <a:p>
            <a:pPr marL="1082675" lvl="2" indent="-285750"/>
            <a:r>
              <a:rPr lang="zh-CN" altLang="en-US" dirty="0">
                <a:cs typeface="Times New Roman" panose="02020603050405020304" pitchFamily="18" charset="0"/>
              </a:rPr>
              <a:t>抗伪造攻击（</a:t>
            </a:r>
            <a:r>
              <a:rPr lang="zh-CN" altLang="en-US" dirty="0">
                <a:solidFill>
                  <a:srgbClr val="0070C0"/>
                </a:solidFill>
                <a:cs typeface="Times New Roman" panose="02020603050405020304" pitchFamily="18" charset="0"/>
              </a:rPr>
              <a:t>抗原像攻击</a:t>
            </a:r>
            <a:r>
              <a:rPr lang="zh-CN" altLang="en-US" dirty="0">
                <a:cs typeface="Times New Roman" panose="02020603050405020304" pitchFamily="18" charset="0"/>
              </a:rPr>
              <a:t>）</a:t>
            </a:r>
            <a:endParaRPr lang="zh-CN" altLang="en-US" dirty="0">
              <a:cs typeface="Times New Roman" panose="02020603050405020304" pitchFamily="18" charset="0"/>
            </a:endParaRPr>
          </a:p>
          <a:p>
            <a:pPr marL="756285" lvl="1" indent="-360045">
              <a:buFont typeface="+mj-lt"/>
              <a:buAutoNum type="arabicPeriod"/>
            </a:pPr>
            <a:r>
              <a:rPr lang="zh-CN" altLang="en-US" dirty="0">
                <a:solidFill>
                  <a:srgbClr val="FF0000"/>
                </a:solidFill>
                <a:cs typeface="Times New Roman" panose="02020603050405020304" pitchFamily="18" charset="0"/>
              </a:rPr>
              <a:t>抗弱碰撞：</a:t>
            </a:r>
            <a:r>
              <a:rPr lang="zh-CN" altLang="en-US" dirty="0">
                <a:cs typeface="Times New Roman" panose="02020603050405020304" pitchFamily="18" charset="0"/>
              </a:rPr>
              <a:t>给定明文</a:t>
            </a:r>
            <a:r>
              <a:rPr lang="en-US" altLang="zh-CN" dirty="0">
                <a:cs typeface="Times New Roman" panose="02020603050405020304" pitchFamily="18" charset="0"/>
              </a:rPr>
              <a:t>m</a:t>
            </a:r>
            <a:r>
              <a:rPr lang="en-US" altLang="zh-CN" baseline="-25000" dirty="0">
                <a:cs typeface="Times New Roman" panose="02020603050405020304" pitchFamily="18" charset="0"/>
              </a:rPr>
              <a:t>1</a:t>
            </a:r>
            <a:r>
              <a:rPr lang="zh-CN" altLang="en-US" dirty="0">
                <a:cs typeface="Times New Roman" panose="02020603050405020304" pitchFamily="18" charset="0"/>
              </a:rPr>
              <a:t>，要找到另一明文</a:t>
            </a:r>
            <a:r>
              <a:rPr lang="en-US" altLang="zh-CN" dirty="0">
                <a:cs typeface="Times New Roman" panose="02020603050405020304" pitchFamily="18" charset="0"/>
              </a:rPr>
              <a:t>m</a:t>
            </a:r>
            <a:r>
              <a:rPr lang="en-US" altLang="zh-CN" baseline="-25000" dirty="0">
                <a:cs typeface="Times New Roman" panose="02020603050405020304" pitchFamily="18" charset="0"/>
              </a:rPr>
              <a:t>2</a:t>
            </a:r>
            <a:r>
              <a:rPr lang="zh-CN" altLang="en-US" dirty="0">
                <a:cs typeface="Times New Roman" panose="02020603050405020304" pitchFamily="18" charset="0"/>
              </a:rPr>
              <a:t>，具有相同杂凑值，即</a:t>
            </a:r>
            <a:r>
              <a:rPr lang="en-US" altLang="zh-CN" dirty="0">
                <a:cs typeface="Times New Roman" panose="02020603050405020304" pitchFamily="18" charset="0"/>
              </a:rPr>
              <a:t>h(m</a:t>
            </a:r>
            <a:r>
              <a:rPr lang="en-US" altLang="zh-CN" baseline="-25000" dirty="0">
                <a:cs typeface="Times New Roman" panose="02020603050405020304" pitchFamily="18" charset="0"/>
              </a:rPr>
              <a:t>1</a:t>
            </a:r>
            <a:r>
              <a:rPr lang="en-US" altLang="zh-CN" dirty="0">
                <a:cs typeface="Times New Roman" panose="02020603050405020304" pitchFamily="18" charset="0"/>
              </a:rPr>
              <a:t>)=h(m</a:t>
            </a:r>
            <a:r>
              <a:rPr lang="en-US" altLang="zh-CN" baseline="-25000" dirty="0">
                <a:cs typeface="Times New Roman" panose="02020603050405020304" pitchFamily="18" charset="0"/>
              </a:rPr>
              <a:t>2</a:t>
            </a:r>
            <a:r>
              <a:rPr lang="en-US" altLang="zh-CN" dirty="0">
                <a:cs typeface="Times New Roman" panose="02020603050405020304" pitchFamily="18" charset="0"/>
              </a:rPr>
              <a:t>)</a:t>
            </a:r>
            <a:r>
              <a:rPr lang="zh-CN" altLang="en-US" dirty="0">
                <a:cs typeface="Times New Roman" panose="02020603050405020304" pitchFamily="18" charset="0"/>
              </a:rPr>
              <a:t>，在计算上不可行（</a:t>
            </a:r>
            <a:r>
              <a:rPr lang="zh-CN" altLang="en-US" dirty="0">
                <a:solidFill>
                  <a:srgbClr val="0070C0"/>
                </a:solidFill>
                <a:cs typeface="Times New Roman" panose="02020603050405020304" pitchFamily="18" charset="0"/>
              </a:rPr>
              <a:t>抗第二原像攻击</a:t>
            </a:r>
            <a:r>
              <a:rPr lang="zh-CN" altLang="en-US" dirty="0">
                <a:cs typeface="Times New Roman" panose="02020603050405020304" pitchFamily="18" charset="0"/>
              </a:rPr>
              <a:t>）</a:t>
            </a:r>
            <a:endParaRPr lang="en-US" altLang="zh-CN" dirty="0">
              <a:cs typeface="Times New Roman" panose="02020603050405020304" pitchFamily="18" charset="0"/>
            </a:endParaRPr>
          </a:p>
          <a:p>
            <a:pPr marL="1082675" lvl="2" indent="-285750"/>
            <a:r>
              <a:rPr lang="zh-CN" altLang="en-US" dirty="0">
                <a:cs typeface="Times New Roman" panose="02020603050405020304" pitchFamily="18" charset="0"/>
              </a:rPr>
              <a:t>抗伪造攻击</a:t>
            </a:r>
            <a:endParaRPr lang="zh-CN" altLang="en-US" dirty="0">
              <a:cs typeface="Times New Roman" panose="02020603050405020304" pitchFamily="18" charset="0"/>
            </a:endParaRPr>
          </a:p>
          <a:p>
            <a:pPr marL="756285" lvl="1" indent="-360045">
              <a:buFont typeface="+mj-lt"/>
              <a:buAutoNum type="arabicPeriod"/>
            </a:pPr>
            <a:r>
              <a:rPr lang="zh-CN" altLang="en-US" dirty="0">
                <a:solidFill>
                  <a:srgbClr val="FF0000"/>
                </a:solidFill>
                <a:cs typeface="Times New Roman" panose="02020603050405020304" pitchFamily="18" charset="0"/>
              </a:rPr>
              <a:t>抗强碰撞：</a:t>
            </a:r>
            <a:r>
              <a:rPr lang="zh-CN" altLang="en-US" dirty="0">
                <a:cs typeface="Times New Roman" panose="02020603050405020304" pitchFamily="18" charset="0"/>
              </a:rPr>
              <a:t>要找到任意一对具有相同杂凑值的明文，即</a:t>
            </a:r>
            <a:r>
              <a:rPr lang="en-US" altLang="zh-CN" dirty="0">
                <a:cs typeface="Times New Roman" panose="02020603050405020304" pitchFamily="18" charset="0"/>
              </a:rPr>
              <a:t>(m</a:t>
            </a:r>
            <a:r>
              <a:rPr lang="en-US" altLang="zh-CN" baseline="-25000" dirty="0">
                <a:cs typeface="Times New Roman" panose="02020603050405020304" pitchFamily="18" charset="0"/>
              </a:rPr>
              <a:t>1</a:t>
            </a:r>
            <a:r>
              <a:rPr lang="en-US" altLang="zh-CN" dirty="0">
                <a:cs typeface="Times New Roman" panose="02020603050405020304" pitchFamily="18" charset="0"/>
              </a:rPr>
              <a:t>,m</a:t>
            </a:r>
            <a:r>
              <a:rPr lang="en-US" altLang="zh-CN" baseline="-25000" dirty="0">
                <a:cs typeface="Times New Roman" panose="02020603050405020304" pitchFamily="18" charset="0"/>
              </a:rPr>
              <a:t>2</a:t>
            </a:r>
            <a:r>
              <a:rPr lang="en-US" altLang="zh-CN" dirty="0">
                <a:cs typeface="Times New Roman" panose="02020603050405020304" pitchFamily="18" charset="0"/>
              </a:rPr>
              <a:t>)</a:t>
            </a:r>
            <a:r>
              <a:rPr lang="zh-CN" altLang="en-US" dirty="0">
                <a:cs typeface="Times New Roman" panose="02020603050405020304" pitchFamily="18" charset="0"/>
              </a:rPr>
              <a:t>，</a:t>
            </a:r>
            <a:r>
              <a:rPr lang="en-US" altLang="zh-CN" dirty="0">
                <a:cs typeface="Times New Roman" panose="02020603050405020304" pitchFamily="18" charset="0"/>
              </a:rPr>
              <a:t>h(m</a:t>
            </a:r>
            <a:r>
              <a:rPr lang="en-US" altLang="zh-CN" baseline="-25000" dirty="0">
                <a:cs typeface="Times New Roman" panose="02020603050405020304" pitchFamily="18" charset="0"/>
              </a:rPr>
              <a:t>1</a:t>
            </a:r>
            <a:r>
              <a:rPr lang="en-US" altLang="zh-CN" dirty="0">
                <a:cs typeface="Times New Roman" panose="02020603050405020304" pitchFamily="18" charset="0"/>
              </a:rPr>
              <a:t>)=h(m</a:t>
            </a:r>
            <a:r>
              <a:rPr lang="en-US" altLang="zh-CN" baseline="-25000" dirty="0">
                <a:cs typeface="Times New Roman" panose="02020603050405020304" pitchFamily="18" charset="0"/>
              </a:rPr>
              <a:t>2</a:t>
            </a:r>
            <a:r>
              <a:rPr lang="en-US" altLang="zh-CN" dirty="0">
                <a:cs typeface="Times New Roman" panose="02020603050405020304" pitchFamily="18" charset="0"/>
              </a:rPr>
              <a:t>)</a:t>
            </a:r>
            <a:r>
              <a:rPr lang="zh-CN" altLang="en-US" dirty="0">
                <a:cs typeface="Times New Roman" panose="02020603050405020304" pitchFamily="18" charset="0"/>
              </a:rPr>
              <a:t>，在计算上不可行</a:t>
            </a:r>
            <a:endParaRPr lang="en-US" altLang="zh-CN" dirty="0">
              <a:cs typeface="Times New Roman" panose="02020603050405020304" pitchFamily="18" charset="0"/>
            </a:endParaRPr>
          </a:p>
          <a:p>
            <a:pPr marL="1082040" lvl="2" indent="-285750"/>
            <a:r>
              <a:rPr lang="zh-CN" altLang="en-US" dirty="0">
                <a:cs typeface="Times New Roman" panose="02020603050405020304" pitchFamily="18" charset="0"/>
              </a:rPr>
              <a:t>抗生日攻击</a:t>
            </a:r>
            <a:endParaRPr lang="en-US" altLang="zh-CN" dirty="0">
              <a:cs typeface="Times New Roman" panose="02020603050405020304" pitchFamily="18" charset="0"/>
            </a:endParaRPr>
          </a:p>
          <a:p>
            <a:pPr marL="756285" lvl="1" indent="-360045"/>
            <a:r>
              <a:rPr lang="zh-CN" altLang="en-US" dirty="0"/>
              <a:t>应用在数字签名上的杂凑函数必须是强杂凑函数</a:t>
            </a:r>
            <a:endParaRPr lang="zh-CN" altLang="en-US" dirty="0"/>
          </a:p>
        </p:txBody>
      </p:sp>
      <p:sp>
        <p:nvSpPr>
          <p:cNvPr id="4" name="TextBox 4"/>
          <p:cNvSpPr txBox="1"/>
          <p:nvPr/>
        </p:nvSpPr>
        <p:spPr>
          <a:xfrm>
            <a:off x="720382" y="2730198"/>
            <a:ext cx="459740" cy="1234440"/>
          </a:xfrm>
          <a:prstGeom prst="rect">
            <a:avLst/>
          </a:prstGeom>
          <a:noFill/>
        </p:spPr>
        <p:txBody>
          <a:bodyPr vert="eaVert" wrap="none" rtlCol="0">
            <a:spAutoFit/>
          </a:bodyPr>
          <a:lstStyle/>
          <a:p>
            <a:pPr algn="l"/>
            <a:r>
              <a:rPr lang="zh-CN" altLang="en-US" dirty="0">
                <a:latin typeface="楷体" panose="02010609060101010101" pitchFamily="49" charset="-122"/>
                <a:ea typeface="楷体" panose="02010609060101010101" pitchFamily="49" charset="-122"/>
              </a:rPr>
              <a:t>弱杂凑函数</a:t>
            </a:r>
            <a:endParaRPr lang="zh-CN" altLang="en-US" dirty="0">
              <a:latin typeface="楷体" panose="02010609060101010101" pitchFamily="49" charset="-122"/>
              <a:ea typeface="楷体" panose="02010609060101010101" pitchFamily="49" charset="-122"/>
            </a:endParaRPr>
          </a:p>
        </p:txBody>
      </p:sp>
      <p:sp>
        <p:nvSpPr>
          <p:cNvPr id="5" name="TextBox 6"/>
          <p:cNvSpPr txBox="1"/>
          <p:nvPr/>
        </p:nvSpPr>
        <p:spPr>
          <a:xfrm>
            <a:off x="309639" y="3388712"/>
            <a:ext cx="459740" cy="1234440"/>
          </a:xfrm>
          <a:prstGeom prst="rect">
            <a:avLst/>
          </a:prstGeom>
          <a:noFill/>
        </p:spPr>
        <p:txBody>
          <a:bodyPr vert="eaVert" wrap="none" rtlCol="0">
            <a:spAutoFit/>
          </a:bodyPr>
          <a:lstStyle/>
          <a:p>
            <a:pPr algn="l"/>
            <a:r>
              <a:rPr lang="zh-CN" altLang="en-US" dirty="0">
                <a:latin typeface="楷体" panose="02010609060101010101" pitchFamily="49" charset="-122"/>
                <a:ea typeface="楷体" panose="02010609060101010101" pitchFamily="49" charset="-122"/>
              </a:rPr>
              <a:t>强杂凑函数</a:t>
            </a:r>
            <a:endParaRPr lang="zh-CN" altLang="en-US" dirty="0">
              <a:latin typeface="楷体" panose="02010609060101010101" pitchFamily="49" charset="-122"/>
              <a:ea typeface="楷体" panose="02010609060101010101" pitchFamily="49" charset="-122"/>
            </a:endParaRPr>
          </a:p>
        </p:txBody>
      </p:sp>
      <p:cxnSp>
        <p:nvCxnSpPr>
          <p:cNvPr id="6" name="直接连接符 5"/>
          <p:cNvCxnSpPr/>
          <p:nvPr/>
        </p:nvCxnSpPr>
        <p:spPr>
          <a:xfrm>
            <a:off x="1108114" y="2618982"/>
            <a:ext cx="0" cy="1477889"/>
          </a:xfrm>
          <a:prstGeom prst="line">
            <a:avLst/>
          </a:prstGeom>
          <a:ln>
            <a:headEnd type="stealth"/>
            <a:tailEnd type="stealth"/>
          </a:ln>
        </p:spPr>
        <p:style>
          <a:lnRef idx="3">
            <a:schemeClr val="accent3"/>
          </a:lnRef>
          <a:fillRef idx="0">
            <a:schemeClr val="accent3"/>
          </a:fillRef>
          <a:effectRef idx="2">
            <a:schemeClr val="accent3"/>
          </a:effectRef>
          <a:fontRef idx="minor">
            <a:schemeClr val="tx1"/>
          </a:fontRef>
        </p:style>
      </p:cxnSp>
      <p:cxnSp>
        <p:nvCxnSpPr>
          <p:cNvPr id="7" name="直接连接符 6"/>
          <p:cNvCxnSpPr/>
          <p:nvPr/>
        </p:nvCxnSpPr>
        <p:spPr>
          <a:xfrm>
            <a:off x="718457" y="2618982"/>
            <a:ext cx="0" cy="2880320"/>
          </a:xfrm>
          <a:prstGeom prst="line">
            <a:avLst/>
          </a:prstGeom>
          <a:ln>
            <a:headEnd type="stealth"/>
            <a:tailEnd type="stealth"/>
          </a:ln>
        </p:spPr>
        <p:style>
          <a:lnRef idx="3">
            <a:schemeClr val="accent5"/>
          </a:lnRef>
          <a:fillRef idx="0">
            <a:schemeClr val="accent5"/>
          </a:fillRef>
          <a:effectRef idx="2">
            <a:schemeClr val="accent5"/>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不能抗弱碰撞的一种设计反例</a:t>
            </a:r>
            <a:endParaRPr lang="zh-CN" altLang="en-US" dirty="0"/>
          </a:p>
        </p:txBody>
      </p:sp>
      <p:sp>
        <p:nvSpPr>
          <p:cNvPr id="3" name="文本占位符 2"/>
          <p:cNvSpPr>
            <a:spLocks noGrp="1"/>
          </p:cNvSpPr>
          <p:nvPr>
            <p:ph type="body" sz="quarter" idx="10"/>
          </p:nvPr>
        </p:nvSpPr>
        <p:spPr/>
        <p:txBody>
          <a:bodyPr/>
          <a:lstStyle/>
          <a:p>
            <a:r>
              <a:rPr lang="zh-CN" altLang="en-US" dirty="0"/>
              <a:t>例：美国国家标准局曾用过的一种方法：</a:t>
            </a:r>
            <a:endParaRPr lang="en-US" altLang="zh-CN" dirty="0"/>
          </a:p>
          <a:p>
            <a:pPr>
              <a:buNone/>
            </a:pPr>
            <a:r>
              <a:rPr lang="en-US" altLang="zh-CN" dirty="0"/>
              <a:t>				C=</a:t>
            </a:r>
            <a:r>
              <a:rPr lang="en-US" altLang="zh-CN" dirty="0">
                <a:solidFill>
                  <a:srgbClr val="7030A0"/>
                </a:solidFill>
              </a:rPr>
              <a:t>X</a:t>
            </a:r>
            <a:r>
              <a:rPr lang="en-US" altLang="zh-CN" baseline="-25000" dirty="0">
                <a:solidFill>
                  <a:srgbClr val="7030A0"/>
                </a:solidFill>
              </a:rPr>
              <a:t>N+1</a:t>
            </a:r>
            <a:r>
              <a:rPr lang="en-US" altLang="zh-CN" dirty="0"/>
              <a:t>=X</a:t>
            </a:r>
            <a:r>
              <a:rPr lang="en-US" altLang="zh-CN" baseline="-25000" dirty="0"/>
              <a:t>1</a:t>
            </a:r>
            <a:r>
              <a:rPr lang="en-US" altLang="zh-CN" dirty="0">
                <a:sym typeface="Symbol" panose="05050102010706020507"/>
              </a:rPr>
              <a:t></a:t>
            </a:r>
            <a:r>
              <a:rPr lang="en-US" altLang="zh-CN" dirty="0"/>
              <a:t>X</a:t>
            </a:r>
            <a:r>
              <a:rPr lang="en-US" altLang="zh-CN" baseline="-25000" dirty="0"/>
              <a:t>2</a:t>
            </a:r>
            <a:r>
              <a:rPr lang="en-US" altLang="zh-CN" dirty="0">
                <a:sym typeface="Symbol" panose="05050102010706020507"/>
              </a:rPr>
              <a:t></a:t>
            </a:r>
            <a:r>
              <a:rPr lang="en-US" altLang="zh-CN" dirty="0"/>
              <a:t>…</a:t>
            </a:r>
            <a:r>
              <a:rPr lang="en-US" altLang="zh-CN" dirty="0">
                <a:sym typeface="Symbol" panose="05050102010706020507"/>
              </a:rPr>
              <a:t></a:t>
            </a:r>
            <a:r>
              <a:rPr lang="en-US" altLang="zh-CN" dirty="0"/>
              <a:t>X</a:t>
            </a:r>
            <a:r>
              <a:rPr lang="en-US" altLang="zh-CN" baseline="-25000" dirty="0"/>
              <a:t>N</a:t>
            </a:r>
            <a:endParaRPr lang="en-US" altLang="zh-CN" dirty="0"/>
          </a:p>
          <a:p>
            <a:pPr>
              <a:buNone/>
            </a:pPr>
            <a:r>
              <a:rPr lang="en-US" altLang="zh-CN" dirty="0"/>
              <a:t>	</a:t>
            </a:r>
            <a:r>
              <a:rPr lang="zh-CN" altLang="en-US" dirty="0"/>
              <a:t>用密文分组链接</a:t>
            </a:r>
            <a:r>
              <a:rPr lang="en-US" altLang="zh-CN" dirty="0"/>
              <a:t>CBC</a:t>
            </a:r>
            <a:r>
              <a:rPr lang="zh-CN" altLang="en-US" dirty="0"/>
              <a:t>对整个消息和杂凑</a:t>
            </a:r>
            <a:r>
              <a:rPr lang="zh-CN" altLang="en-US" dirty="0"/>
              <a:t>值加密，得</a:t>
            </a:r>
            <a:endParaRPr lang="en-US" altLang="zh-CN" dirty="0"/>
          </a:p>
          <a:p>
            <a:pPr>
              <a:buNone/>
            </a:pPr>
            <a:r>
              <a:rPr lang="en-US" altLang="zh-CN" dirty="0"/>
              <a:t>				Y</a:t>
            </a:r>
            <a:r>
              <a:rPr lang="en-US" altLang="zh-CN" baseline="-25000" dirty="0"/>
              <a:t>1</a:t>
            </a:r>
            <a:r>
              <a:rPr lang="en-US" altLang="zh-CN" dirty="0"/>
              <a:t>,Y</a:t>
            </a:r>
            <a:r>
              <a:rPr lang="en-US" altLang="zh-CN" baseline="-25000" dirty="0"/>
              <a:t>2</a:t>
            </a:r>
            <a:r>
              <a:rPr lang="en-US" altLang="zh-CN" dirty="0"/>
              <a:t>,…,Y</a:t>
            </a:r>
            <a:r>
              <a:rPr lang="en-US" altLang="zh-CN" baseline="-25000" dirty="0"/>
              <a:t>N</a:t>
            </a:r>
            <a:r>
              <a:rPr lang="en-US" altLang="zh-CN" dirty="0"/>
              <a:t>,Y</a:t>
            </a:r>
            <a:r>
              <a:rPr lang="en-US" altLang="zh-CN" baseline="-25000" dirty="0"/>
              <a:t>N+1</a:t>
            </a:r>
            <a:endParaRPr lang="en-US" altLang="zh-CN" baseline="-25000" dirty="0"/>
          </a:p>
          <a:p>
            <a:pPr lvl="1"/>
            <a:endParaRPr lang="en-US" altLang="zh-CN" dirty="0"/>
          </a:p>
          <a:p>
            <a:pPr lvl="1"/>
            <a:r>
              <a:rPr lang="zh-CN" altLang="en-US" dirty="0"/>
              <a:t>不安全。注意，</a:t>
            </a:r>
            <a:endParaRPr lang="en-US" altLang="zh-CN" dirty="0"/>
          </a:p>
          <a:p>
            <a:pPr lvl="1">
              <a:buNone/>
            </a:pPr>
            <a:r>
              <a:rPr lang="en-US" altLang="zh-CN" dirty="0"/>
              <a:t>	X</a:t>
            </a:r>
            <a:r>
              <a:rPr lang="en-US" altLang="zh-CN" baseline="-25000" dirty="0"/>
              <a:t>N+1</a:t>
            </a:r>
            <a:r>
              <a:rPr lang="en-US" altLang="zh-CN" dirty="0"/>
              <a:t>=X</a:t>
            </a:r>
            <a:r>
              <a:rPr lang="en-US" altLang="zh-CN" baseline="-25000" dirty="0"/>
              <a:t>1</a:t>
            </a:r>
            <a:r>
              <a:rPr lang="en-US" altLang="zh-CN" dirty="0">
                <a:sym typeface="Symbol" panose="05050102010706020507"/>
              </a:rPr>
              <a:t></a:t>
            </a:r>
            <a:r>
              <a:rPr lang="en-US" altLang="zh-CN" dirty="0"/>
              <a:t>X</a:t>
            </a:r>
            <a:r>
              <a:rPr lang="en-US" altLang="zh-CN" baseline="-25000" dirty="0"/>
              <a:t>2</a:t>
            </a:r>
            <a:r>
              <a:rPr lang="en-US" altLang="zh-CN" dirty="0">
                <a:sym typeface="Symbol" panose="05050102010706020507"/>
              </a:rPr>
              <a:t></a:t>
            </a:r>
            <a:r>
              <a:rPr lang="en-US" altLang="zh-CN" dirty="0"/>
              <a:t>…</a:t>
            </a:r>
            <a:r>
              <a:rPr lang="en-US" altLang="zh-CN" dirty="0">
                <a:sym typeface="Symbol" panose="05050102010706020507"/>
              </a:rPr>
              <a:t></a:t>
            </a:r>
            <a:r>
              <a:rPr lang="en-US" altLang="zh-CN" dirty="0"/>
              <a:t>X</a:t>
            </a:r>
            <a:r>
              <a:rPr lang="en-US" altLang="zh-CN" baseline="-25000" dirty="0"/>
              <a:t>N</a:t>
            </a:r>
            <a:endParaRPr lang="en-US" altLang="zh-CN" baseline="-25000" dirty="0"/>
          </a:p>
          <a:p>
            <a:pPr lvl="1">
              <a:buNone/>
            </a:pPr>
            <a:r>
              <a:rPr lang="en-US" altLang="zh-CN" dirty="0"/>
              <a:t>		  =[IV</a:t>
            </a:r>
            <a:r>
              <a:rPr lang="en-US" altLang="zh-CN" dirty="0">
                <a:sym typeface="Symbol" panose="05050102010706020507"/>
              </a:rPr>
              <a:t></a:t>
            </a:r>
            <a:r>
              <a:rPr lang="en-US" altLang="zh-CN" dirty="0"/>
              <a:t>D</a:t>
            </a:r>
            <a:r>
              <a:rPr lang="en-US" altLang="zh-CN" baseline="-25000" dirty="0"/>
              <a:t>K</a:t>
            </a:r>
            <a:r>
              <a:rPr lang="en-US" altLang="zh-CN" dirty="0"/>
              <a:t>(Y</a:t>
            </a:r>
            <a:r>
              <a:rPr lang="en-US" altLang="zh-CN" baseline="-25000" dirty="0"/>
              <a:t>1</a:t>
            </a:r>
            <a:r>
              <a:rPr lang="en-US" altLang="zh-CN" dirty="0"/>
              <a:t>)]</a:t>
            </a:r>
            <a:r>
              <a:rPr lang="en-US" altLang="zh-CN" dirty="0">
                <a:sym typeface="Symbol" panose="05050102010706020507"/>
              </a:rPr>
              <a:t></a:t>
            </a:r>
            <a:r>
              <a:rPr lang="en-US" altLang="zh-CN" dirty="0"/>
              <a:t>[Y</a:t>
            </a:r>
            <a:r>
              <a:rPr lang="en-US" altLang="zh-CN" baseline="-25000" dirty="0"/>
              <a:t>1</a:t>
            </a:r>
            <a:r>
              <a:rPr lang="en-US" altLang="zh-CN" dirty="0">
                <a:sym typeface="Symbol" panose="05050102010706020507"/>
              </a:rPr>
              <a:t></a:t>
            </a:r>
            <a:r>
              <a:rPr lang="en-US" altLang="zh-CN" dirty="0"/>
              <a:t>D</a:t>
            </a:r>
            <a:r>
              <a:rPr lang="en-US" altLang="zh-CN" baseline="-25000" dirty="0"/>
              <a:t>K</a:t>
            </a:r>
            <a:r>
              <a:rPr lang="en-US" altLang="zh-CN" dirty="0"/>
              <a:t>(Y</a:t>
            </a:r>
            <a:r>
              <a:rPr lang="en-US" altLang="zh-CN" baseline="-25000" dirty="0"/>
              <a:t>2</a:t>
            </a:r>
            <a:r>
              <a:rPr lang="en-US" altLang="zh-CN" dirty="0"/>
              <a:t>)]</a:t>
            </a:r>
            <a:r>
              <a:rPr lang="en-US" altLang="zh-CN" dirty="0">
                <a:sym typeface="Symbol" panose="05050102010706020507"/>
              </a:rPr>
              <a:t></a:t>
            </a:r>
            <a:r>
              <a:rPr lang="en-US" altLang="zh-CN" dirty="0"/>
              <a:t>…</a:t>
            </a:r>
            <a:r>
              <a:rPr lang="en-US" altLang="zh-CN" dirty="0">
                <a:sym typeface="Symbol" panose="05050102010706020507"/>
              </a:rPr>
              <a:t></a:t>
            </a:r>
            <a:r>
              <a:rPr lang="en-US" altLang="zh-CN" dirty="0"/>
              <a:t>[Y</a:t>
            </a:r>
            <a:r>
              <a:rPr lang="en-US" altLang="zh-CN" baseline="-25000" dirty="0"/>
              <a:t>N-1</a:t>
            </a:r>
            <a:r>
              <a:rPr lang="en-US" altLang="zh-CN" dirty="0">
                <a:sym typeface="Symbol" panose="05050102010706020507"/>
              </a:rPr>
              <a:t></a:t>
            </a:r>
            <a:r>
              <a:rPr lang="en-US" altLang="zh-CN" dirty="0"/>
              <a:t>D</a:t>
            </a:r>
            <a:r>
              <a:rPr lang="en-US" altLang="zh-CN" baseline="-25000" dirty="0"/>
              <a:t>K</a:t>
            </a:r>
            <a:r>
              <a:rPr lang="en-US" altLang="zh-CN" dirty="0"/>
              <a:t>(Y</a:t>
            </a:r>
            <a:r>
              <a:rPr lang="en-US" altLang="zh-CN" baseline="-25000" dirty="0"/>
              <a:t>N</a:t>
            </a:r>
            <a:r>
              <a:rPr lang="en-US" altLang="zh-CN" dirty="0"/>
              <a:t>)]</a:t>
            </a:r>
            <a:endParaRPr lang="en-US" altLang="zh-CN" dirty="0"/>
          </a:p>
          <a:p>
            <a:pPr lvl="1">
              <a:buNone/>
            </a:pPr>
            <a:r>
              <a:rPr lang="en-US" altLang="zh-CN" dirty="0"/>
              <a:t>	</a:t>
            </a:r>
            <a:r>
              <a:rPr lang="zh-CN" altLang="en-US" dirty="0"/>
              <a:t>密文分组的顺序改变，对杂凑</a:t>
            </a:r>
            <a:r>
              <a:rPr lang="zh-CN" altLang="en-US" dirty="0"/>
              <a:t>值没有影响</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生日悖论</a:t>
            </a:r>
            <a:endParaRPr lang="zh-CN" altLang="en-US" dirty="0"/>
          </a:p>
        </p:txBody>
      </p:sp>
      <p:sp>
        <p:nvSpPr>
          <p:cNvPr id="3" name="文本占位符 2"/>
          <p:cNvSpPr>
            <a:spLocks noGrp="1"/>
          </p:cNvSpPr>
          <p:nvPr>
            <p:ph type="body" sz="quarter" idx="10"/>
          </p:nvPr>
        </p:nvSpPr>
        <p:spPr/>
        <p:txBody>
          <a:bodyPr/>
          <a:lstStyle/>
          <a:p>
            <a:r>
              <a:rPr lang="zh-CN" altLang="en-US" dirty="0"/>
              <a:t>数学背景</a:t>
            </a:r>
            <a:r>
              <a:rPr lang="en-US" altLang="zh-CN" dirty="0"/>
              <a:t>——</a:t>
            </a:r>
            <a:r>
              <a:rPr lang="zh-CN" altLang="en-US" dirty="0">
                <a:solidFill>
                  <a:srgbClr val="FF0000"/>
                </a:solidFill>
              </a:rPr>
              <a:t>生日悖论</a:t>
            </a:r>
            <a:r>
              <a:rPr lang="zh-CN" altLang="en-US" dirty="0"/>
              <a:t>：</a:t>
            </a:r>
            <a:endParaRPr lang="en-US" altLang="zh-CN" dirty="0"/>
          </a:p>
          <a:p>
            <a:pPr>
              <a:buNone/>
            </a:pPr>
            <a:r>
              <a:rPr lang="en-US" altLang="zh-CN" dirty="0"/>
              <a:t>	k</a:t>
            </a:r>
            <a:r>
              <a:rPr lang="zh-CN" altLang="en-US" dirty="0"/>
              <a:t>要多大，才能使得在</a:t>
            </a:r>
            <a:r>
              <a:rPr lang="en-US" altLang="zh-CN" dirty="0"/>
              <a:t>k</a:t>
            </a:r>
            <a:r>
              <a:rPr lang="zh-CN" altLang="en-US" dirty="0"/>
              <a:t>个人中，至少有两个人生日相同的概率大于</a:t>
            </a:r>
            <a:r>
              <a:rPr lang="en-US" altLang="zh-CN" dirty="0"/>
              <a:t>1/2</a:t>
            </a:r>
            <a:r>
              <a:rPr lang="zh-CN" altLang="en-US" dirty="0"/>
              <a:t>？</a:t>
            </a:r>
            <a:endParaRPr lang="en-US" altLang="zh-CN" dirty="0"/>
          </a:p>
          <a:p>
            <a:pPr lvl="1"/>
            <a:endParaRPr lang="en-US" altLang="zh-CN" dirty="0"/>
          </a:p>
          <a:p>
            <a:pPr lvl="1"/>
            <a:r>
              <a:rPr lang="en-US" altLang="zh-CN" dirty="0"/>
              <a:t>k</a:t>
            </a:r>
            <a:r>
              <a:rPr lang="zh-CN" altLang="en-US" dirty="0"/>
              <a:t>个人生日的总排列数是</a:t>
            </a:r>
            <a:r>
              <a:rPr lang="en-US" altLang="zh-CN" dirty="0"/>
              <a:t>365</a:t>
            </a:r>
            <a:r>
              <a:rPr lang="en-US" altLang="zh-CN" baseline="30000" dirty="0"/>
              <a:t>k</a:t>
            </a:r>
            <a:r>
              <a:rPr lang="zh-CN" altLang="en-US" dirty="0"/>
              <a:t>，</a:t>
            </a:r>
            <a:r>
              <a:rPr lang="en-US" altLang="zh-CN" dirty="0"/>
              <a:t>k</a:t>
            </a:r>
            <a:r>
              <a:rPr lang="zh-CN" altLang="en-US" dirty="0"/>
              <a:t>个人有不同生日的总排列数为</a:t>
            </a:r>
            <a:br>
              <a:rPr lang="en-US" altLang="zh-CN" dirty="0"/>
            </a:br>
            <a:r>
              <a:rPr lang="en-US" altLang="zh-CN" dirty="0"/>
              <a:t>N = P</a:t>
            </a:r>
            <a:r>
              <a:rPr lang="en-US" altLang="zh-CN" baseline="-25000" dirty="0"/>
              <a:t>k</a:t>
            </a:r>
            <a:r>
              <a:rPr lang="en-US" altLang="zh-CN" baseline="30000" dirty="0"/>
              <a:t>365</a:t>
            </a:r>
            <a:r>
              <a:rPr lang="en-US" altLang="zh-CN" dirty="0"/>
              <a:t> = 365!/(365-k)!</a:t>
            </a:r>
            <a:endParaRPr lang="en-US" altLang="zh-CN" dirty="0"/>
          </a:p>
          <a:p>
            <a:pPr lvl="1"/>
            <a:r>
              <a:rPr lang="en-US" altLang="zh-CN" dirty="0"/>
              <a:t>k</a:t>
            </a:r>
            <a:r>
              <a:rPr lang="zh-CN" altLang="en-US" dirty="0"/>
              <a:t>个人有不同生日的概率：</a:t>
            </a:r>
            <a:br>
              <a:rPr lang="en-US" altLang="zh-CN" dirty="0"/>
            </a:br>
            <a:r>
              <a:rPr lang="en-US" altLang="zh-CN" dirty="0"/>
              <a:t>Q(365,k)=[365!/(365-k)!]/365</a:t>
            </a:r>
            <a:r>
              <a:rPr lang="en-US" altLang="zh-CN" baseline="30000" dirty="0"/>
              <a:t>k</a:t>
            </a:r>
            <a:r>
              <a:rPr lang="en-US" altLang="zh-CN" dirty="0"/>
              <a:t>=365!/(365</a:t>
            </a:r>
            <a:r>
              <a:rPr lang="en-US" altLang="zh-CN" baseline="30000" dirty="0"/>
              <a:t>k</a:t>
            </a:r>
            <a:r>
              <a:rPr lang="en-US" altLang="zh-CN" dirty="0"/>
              <a:t>(365-k)!)</a:t>
            </a:r>
            <a:endParaRPr lang="en-US" altLang="zh-CN" dirty="0"/>
          </a:p>
          <a:p>
            <a:pPr lvl="1"/>
            <a:r>
              <a:rPr lang="en-US" altLang="zh-CN" dirty="0"/>
              <a:t>k</a:t>
            </a:r>
            <a:r>
              <a:rPr lang="zh-CN" altLang="en-US" dirty="0"/>
              <a:t>个人中至少有两个人有相同生日的概率是：</a:t>
            </a:r>
            <a:br>
              <a:rPr lang="en-US" altLang="zh-CN" dirty="0"/>
            </a:br>
            <a:r>
              <a:rPr lang="en-US" altLang="zh-CN" dirty="0"/>
              <a:t>P(365, k) = 1- Q(365, k)</a:t>
            </a:r>
            <a:endParaRPr lang="en-US" altLang="zh-CN" dirty="0"/>
          </a:p>
          <a:p>
            <a:pPr lvl="1"/>
            <a:endParaRPr lang="en-US" altLang="zh-CN" dirty="0"/>
          </a:p>
          <a:p>
            <a:pPr lvl="1"/>
            <a:endParaRPr lang="en-US" altLang="zh-CN" dirty="0"/>
          </a:p>
          <a:p>
            <a:pPr lvl="1"/>
            <a:endParaRPr lang="en-US" altLang="zh-CN" dirty="0"/>
          </a:p>
          <a:p>
            <a:pPr lvl="1">
              <a:lnSpc>
                <a:spcPct val="110000"/>
              </a:lnSpc>
            </a:pPr>
            <a:r>
              <a:rPr lang="zh-CN" altLang="en-US" dirty="0"/>
              <a:t>计算得</a:t>
            </a:r>
            <a:r>
              <a:rPr lang="en-US" altLang="zh-CN" dirty="0"/>
              <a:t>P(365, 23) = 0.5073</a:t>
            </a:r>
            <a:r>
              <a:rPr lang="zh-CN" altLang="en-US" dirty="0"/>
              <a:t>，即</a:t>
            </a:r>
            <a:r>
              <a:rPr lang="en-US" altLang="zh-CN" dirty="0"/>
              <a:t>k = 23</a:t>
            </a:r>
            <a:endParaRPr lang="zh-CN" altLang="en-US" dirty="0"/>
          </a:p>
          <a:p>
            <a:pPr lvl="1">
              <a:lnSpc>
                <a:spcPct val="110000"/>
              </a:lnSpc>
            </a:pPr>
            <a:r>
              <a:rPr lang="en-US" altLang="zh-CN" dirty="0"/>
              <a:t>P(365,50)=0.9744;   P(365, 100)=0.999 999 8</a:t>
            </a:r>
            <a:endParaRPr lang="en-US" altLang="zh-CN" dirty="0"/>
          </a:p>
        </p:txBody>
      </p:sp>
      <p:pic>
        <p:nvPicPr>
          <p:cNvPr id="5" name="Picture 2"/>
          <p:cNvPicPr>
            <a:picLocks noChangeAspect="1" noChangeArrowheads="1"/>
          </p:cNvPicPr>
          <p:nvPr/>
        </p:nvPicPr>
        <p:blipFill>
          <a:blip r:embed="rId1" cstate="print"/>
          <a:srcRect/>
          <a:stretch>
            <a:fillRect/>
          </a:stretch>
        </p:blipFill>
        <p:spPr bwMode="auto">
          <a:xfrm>
            <a:off x="7271759" y="2869794"/>
            <a:ext cx="3585506" cy="2607641"/>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生日悖论的推广</a:t>
            </a:r>
            <a:endParaRPr lang="zh-CN" altLang="en-US" dirty="0"/>
          </a:p>
        </p:txBody>
      </p:sp>
      <p:sp>
        <p:nvSpPr>
          <p:cNvPr id="3" name="文本占位符 2"/>
          <p:cNvSpPr>
            <a:spLocks noGrp="1"/>
          </p:cNvSpPr>
          <p:nvPr>
            <p:ph type="body" sz="quarter" idx="10"/>
          </p:nvPr>
        </p:nvSpPr>
        <p:spPr/>
        <p:txBody>
          <a:bodyPr/>
          <a:lstStyle/>
          <a:p>
            <a:r>
              <a:rPr lang="zh-CN" altLang="en-US" dirty="0">
                <a:solidFill>
                  <a:srgbClr val="FF0000"/>
                </a:solidFill>
              </a:rPr>
              <a:t>一个集合中元素重复的一般情形：</a:t>
            </a:r>
            <a:r>
              <a:rPr lang="zh-CN" altLang="en-US" dirty="0"/>
              <a:t>给定一个在</a:t>
            </a:r>
            <a:r>
              <a:rPr lang="en-US" altLang="zh-CN" dirty="0"/>
              <a:t>1</a:t>
            </a:r>
            <a:r>
              <a:rPr lang="zh-CN" altLang="en-US" dirty="0"/>
              <a:t>到</a:t>
            </a:r>
            <a:r>
              <a:rPr lang="en-US" altLang="zh-CN" dirty="0"/>
              <a:t>n</a:t>
            </a:r>
            <a:r>
              <a:rPr lang="zh-CN" altLang="en-US" dirty="0"/>
              <a:t>之间均匀分布的随机整数变量和</a:t>
            </a:r>
            <a:r>
              <a:rPr lang="en-US" altLang="zh-CN" dirty="0"/>
              <a:t>k</a:t>
            </a:r>
            <a:r>
              <a:rPr lang="zh-CN" altLang="en-US" dirty="0"/>
              <a:t>个实例，那么至少有一个重复的概率：</a:t>
            </a:r>
            <a:endParaRPr lang="en-US" altLang="zh-CN" dirty="0"/>
          </a:p>
          <a:p>
            <a:pPr>
              <a:buNone/>
            </a:pPr>
            <a:r>
              <a:rPr lang="en-US" altLang="zh-CN" dirty="0"/>
              <a:t>		</a:t>
            </a:r>
            <a:r>
              <a:rPr lang="en-US" altLang="zh-CN" sz="2000" dirty="0"/>
              <a:t>P(</a:t>
            </a:r>
            <a:r>
              <a:rPr lang="en-US" altLang="zh-CN" sz="2000" dirty="0" err="1"/>
              <a:t>n,k</a:t>
            </a:r>
            <a:r>
              <a:rPr lang="en-US" altLang="zh-CN" sz="2000" dirty="0"/>
              <a:t>)=1-[n!/(n-k)!]/</a:t>
            </a:r>
            <a:r>
              <a:rPr lang="en-US" altLang="zh-CN" sz="2000" dirty="0" err="1"/>
              <a:t>n</a:t>
            </a:r>
            <a:r>
              <a:rPr lang="en-US" altLang="zh-CN" sz="2000" baseline="30000" dirty="0" err="1"/>
              <a:t>k</a:t>
            </a:r>
            <a:r>
              <a:rPr lang="zh-CN" altLang="en-US" sz="2000" dirty="0"/>
              <a:t> </a:t>
            </a:r>
            <a:r>
              <a:rPr lang="en-US" altLang="zh-CN" sz="2000" dirty="0"/>
              <a:t>&gt;</a:t>
            </a:r>
            <a:r>
              <a:rPr lang="zh-CN" altLang="en-US" sz="2000" dirty="0"/>
              <a:t> </a:t>
            </a:r>
            <a:r>
              <a:rPr lang="en-US" altLang="zh-CN" sz="2000" dirty="0"/>
              <a:t>1-exp[-k(k-1)/(2n)]</a:t>
            </a:r>
            <a:endParaRPr lang="en-US" altLang="zh-CN" sz="2000" dirty="0"/>
          </a:p>
          <a:p>
            <a:pPr>
              <a:buNone/>
            </a:pPr>
            <a:r>
              <a:rPr lang="en-US" altLang="zh-CN" dirty="0"/>
              <a:t>		</a:t>
            </a:r>
            <a:r>
              <a:rPr lang="zh-CN" altLang="en-US" dirty="0"/>
              <a:t>当</a:t>
            </a:r>
            <a:r>
              <a:rPr lang="en-US" altLang="zh-CN" dirty="0">
                <a:solidFill>
                  <a:srgbClr val="C00000"/>
                </a:solidFill>
              </a:rPr>
              <a:t>k ≈ 1.18n</a:t>
            </a:r>
            <a:r>
              <a:rPr lang="en-US" altLang="zh-CN" baseline="30000" dirty="0">
                <a:solidFill>
                  <a:srgbClr val="C00000"/>
                </a:solidFill>
              </a:rPr>
              <a:t>1/2</a:t>
            </a:r>
            <a:r>
              <a:rPr lang="zh-CN" altLang="en-US" dirty="0"/>
              <a:t>时，</a:t>
            </a:r>
            <a:r>
              <a:rPr lang="en-US" altLang="zh-CN" dirty="0"/>
              <a:t>P(</a:t>
            </a:r>
            <a:r>
              <a:rPr lang="en-US" altLang="zh-CN" dirty="0" err="1"/>
              <a:t>n,k</a:t>
            </a:r>
            <a:r>
              <a:rPr lang="en-US" altLang="zh-CN" dirty="0"/>
              <a:t>)&gt;0.5</a:t>
            </a:r>
            <a:endParaRPr lang="en-US" altLang="zh-CN" dirty="0"/>
          </a:p>
          <a:p>
            <a:pPr lvl="1"/>
            <a:endParaRPr lang="en-US" altLang="zh-CN" dirty="0"/>
          </a:p>
          <a:p>
            <a:r>
              <a:rPr lang="zh-CN" altLang="en-US" dirty="0">
                <a:solidFill>
                  <a:srgbClr val="FF0000"/>
                </a:solidFill>
              </a:rPr>
              <a:t>两个集合中元素的重复：</a:t>
            </a:r>
            <a:r>
              <a:rPr lang="en-US" altLang="zh-CN" dirty="0"/>
              <a:t>	</a:t>
            </a:r>
            <a:r>
              <a:rPr lang="zh-CN" altLang="en-US" dirty="0"/>
              <a:t>给定一个在</a:t>
            </a:r>
            <a:r>
              <a:rPr lang="en-US" altLang="zh-CN" dirty="0"/>
              <a:t>1</a:t>
            </a:r>
            <a:r>
              <a:rPr lang="zh-CN" altLang="en-US" dirty="0"/>
              <a:t>到</a:t>
            </a:r>
            <a:r>
              <a:rPr lang="en-US" altLang="zh-CN" dirty="0"/>
              <a:t>n</a:t>
            </a:r>
            <a:r>
              <a:rPr lang="zh-CN" altLang="en-US" dirty="0"/>
              <a:t>之间均匀分布的随机整数变量和它的两个实例集，每个集中有</a:t>
            </a:r>
            <a:r>
              <a:rPr lang="en-US" altLang="zh-CN" dirty="0"/>
              <a:t>k</a:t>
            </a:r>
            <a:r>
              <a:rPr lang="zh-CN" altLang="en-US" dirty="0"/>
              <a:t>个元素，那么这两个集相交（即至少有一个元素同属于两个集）的概率：</a:t>
            </a:r>
            <a:endParaRPr lang="en-US" altLang="zh-CN" dirty="0"/>
          </a:p>
          <a:p>
            <a:pPr>
              <a:buNone/>
            </a:pPr>
            <a:r>
              <a:rPr lang="en-US" altLang="zh-CN" dirty="0"/>
              <a:t>	R(</a:t>
            </a:r>
            <a:r>
              <a:rPr lang="en-US" altLang="zh-CN" dirty="0" err="1"/>
              <a:t>n,k</a:t>
            </a:r>
            <a:r>
              <a:rPr lang="en-US" altLang="zh-CN" dirty="0"/>
              <a:t>) = 1-((1-1/n)</a:t>
            </a:r>
            <a:r>
              <a:rPr lang="en-US" altLang="zh-CN" baseline="30000" dirty="0"/>
              <a:t>k</a:t>
            </a:r>
            <a:r>
              <a:rPr lang="en-US" altLang="zh-CN" dirty="0"/>
              <a:t>)</a:t>
            </a:r>
            <a:r>
              <a:rPr lang="en-US" altLang="zh-CN" baseline="30000" dirty="0"/>
              <a:t>k</a:t>
            </a:r>
            <a:r>
              <a:rPr lang="en-US" altLang="zh-CN" dirty="0"/>
              <a:t> = 1-(1-1/n)</a:t>
            </a:r>
            <a:r>
              <a:rPr lang="en-US" altLang="zh-CN" baseline="30000" dirty="0"/>
              <a:t>k</a:t>
            </a:r>
            <a:r>
              <a:rPr lang="en-US" altLang="zh-CN" baseline="50000" dirty="0"/>
              <a:t>2</a:t>
            </a:r>
            <a:r>
              <a:rPr lang="en-US" altLang="zh-CN" dirty="0"/>
              <a:t> &gt; 1-e</a:t>
            </a:r>
            <a:r>
              <a:rPr lang="en-US" altLang="zh-CN" baseline="30000" dirty="0"/>
              <a:t>-k</a:t>
            </a:r>
            <a:r>
              <a:rPr lang="en-US" altLang="zh-CN" baseline="50000" dirty="0"/>
              <a:t>2</a:t>
            </a:r>
            <a:r>
              <a:rPr lang="en-US" altLang="zh-CN" baseline="30000" dirty="0"/>
              <a:t>/n</a:t>
            </a:r>
            <a:endParaRPr lang="en-US" altLang="zh-CN" baseline="30000" dirty="0"/>
          </a:p>
          <a:p>
            <a:pPr>
              <a:buNone/>
            </a:pPr>
            <a:r>
              <a:rPr lang="en-US" altLang="zh-CN" dirty="0"/>
              <a:t>	</a:t>
            </a:r>
            <a:r>
              <a:rPr lang="zh-CN" altLang="en-US" dirty="0"/>
              <a:t>当</a:t>
            </a:r>
            <a:r>
              <a:rPr lang="en-US" altLang="zh-CN" dirty="0">
                <a:solidFill>
                  <a:srgbClr val="C00000"/>
                </a:solidFill>
              </a:rPr>
              <a:t>k ≈ 0.83n</a:t>
            </a:r>
            <a:r>
              <a:rPr lang="en-US" altLang="zh-CN" baseline="30000" dirty="0">
                <a:solidFill>
                  <a:srgbClr val="C00000"/>
                </a:solidFill>
              </a:rPr>
              <a:t>1/2</a:t>
            </a:r>
            <a:r>
              <a:rPr lang="zh-CN" altLang="en-US" dirty="0"/>
              <a:t>时，</a:t>
            </a:r>
            <a:r>
              <a:rPr lang="en-US" altLang="zh-CN" dirty="0"/>
              <a:t>R(</a:t>
            </a:r>
            <a:r>
              <a:rPr lang="en-US" altLang="zh-CN" dirty="0" err="1"/>
              <a:t>n,k</a:t>
            </a:r>
            <a:r>
              <a:rPr lang="en-US" altLang="zh-CN" dirty="0"/>
              <a:t>)&gt;0.5</a:t>
            </a:r>
            <a:endParaRPr lang="en-US" altLang="zh-CN" dirty="0"/>
          </a:p>
          <a:p>
            <a:pPr>
              <a:buNone/>
            </a:pPr>
            <a:r>
              <a:rPr lang="en-US" altLang="zh-CN" dirty="0"/>
              <a:t>	</a:t>
            </a:r>
            <a:r>
              <a:rPr lang="zh-CN" altLang="en-US" dirty="0"/>
              <a:t>当</a:t>
            </a:r>
            <a:r>
              <a:rPr lang="en-US" altLang="zh-CN" dirty="0"/>
              <a:t>k = n</a:t>
            </a:r>
            <a:r>
              <a:rPr lang="en-US" altLang="zh-CN" baseline="30000" dirty="0"/>
              <a:t>1/2</a:t>
            </a:r>
            <a:r>
              <a:rPr lang="zh-CN" altLang="en-US" dirty="0"/>
              <a:t>时，</a:t>
            </a:r>
            <a:r>
              <a:rPr lang="en-US" altLang="zh-CN" dirty="0"/>
              <a:t>R(</a:t>
            </a:r>
            <a:r>
              <a:rPr lang="en-US" altLang="zh-CN" dirty="0" err="1"/>
              <a:t>n,k</a:t>
            </a:r>
            <a:r>
              <a:rPr lang="en-US" altLang="zh-CN" dirty="0"/>
              <a:t>)&gt;0.6321</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生日悖论的推广</a:t>
            </a:r>
            <a:endParaRPr lang="zh-CN" altLang="en-US" dirty="0"/>
          </a:p>
        </p:txBody>
      </p:sp>
      <p:sp>
        <p:nvSpPr>
          <p:cNvPr id="3" name="文本占位符 2"/>
          <p:cNvSpPr>
            <a:spLocks noGrp="1"/>
          </p:cNvSpPr>
          <p:nvPr>
            <p:ph type="body" sz="quarter" idx="10"/>
          </p:nvPr>
        </p:nvSpPr>
        <p:spPr/>
        <p:txBody>
          <a:bodyPr/>
          <a:lstStyle/>
          <a:p>
            <a:r>
              <a:rPr lang="zh-CN" altLang="en-US" dirty="0">
                <a:solidFill>
                  <a:srgbClr val="00B050"/>
                </a:solidFill>
              </a:rPr>
              <a:t>函数形式的弱碰撞：</a:t>
            </a:r>
            <a:endParaRPr lang="en-US" altLang="zh-CN" dirty="0">
              <a:solidFill>
                <a:srgbClr val="00B050"/>
              </a:solidFill>
            </a:endParaRPr>
          </a:p>
          <a:p>
            <a:pPr>
              <a:buNone/>
            </a:pPr>
            <a:r>
              <a:rPr lang="en-US" altLang="zh-CN" dirty="0"/>
              <a:t>	</a:t>
            </a:r>
            <a:r>
              <a:rPr lang="zh-CN" altLang="en-US" dirty="0"/>
              <a:t>若一个函数可能有</a:t>
            </a:r>
            <a:r>
              <a:rPr lang="en-US" altLang="zh-CN" dirty="0"/>
              <a:t>n</a:t>
            </a:r>
            <a:r>
              <a:rPr lang="zh-CN" altLang="en-US" dirty="0"/>
              <a:t>个函数值，且已知一个函数值</a:t>
            </a:r>
            <a:r>
              <a:rPr lang="en-US" altLang="zh-CN" dirty="0"/>
              <a:t>h(x)</a:t>
            </a:r>
            <a:r>
              <a:rPr lang="zh-CN" altLang="en-US" dirty="0"/>
              <a:t>，任选</a:t>
            </a:r>
            <a:r>
              <a:rPr lang="en-US" altLang="zh-CN" dirty="0"/>
              <a:t>k</a:t>
            </a:r>
            <a:r>
              <a:rPr lang="zh-CN" altLang="en-US" dirty="0"/>
              <a:t>个数作为函数输入值，问：</a:t>
            </a:r>
            <a:r>
              <a:rPr lang="en-US" altLang="zh-CN" dirty="0"/>
              <a:t>k</a:t>
            </a:r>
            <a:r>
              <a:rPr lang="zh-CN" altLang="en-US" dirty="0"/>
              <a:t>必须多大才能保证找到至少一个满足</a:t>
            </a:r>
            <a:r>
              <a:rPr lang="en-US" altLang="zh-CN" dirty="0"/>
              <a:t>h(x)=h(y)</a:t>
            </a:r>
            <a:r>
              <a:rPr lang="zh-CN" altLang="en-US" dirty="0"/>
              <a:t>的输入值</a:t>
            </a:r>
            <a:r>
              <a:rPr lang="en-US" altLang="zh-CN" dirty="0"/>
              <a:t>y</a:t>
            </a:r>
            <a:r>
              <a:rPr lang="zh-CN" altLang="en-US" dirty="0"/>
              <a:t>的概率大于</a:t>
            </a:r>
            <a:r>
              <a:rPr lang="en-US" altLang="zh-CN" dirty="0"/>
              <a:t>1/2</a:t>
            </a:r>
            <a:r>
              <a:rPr lang="zh-CN" altLang="en-US" dirty="0"/>
              <a:t>？</a:t>
            </a:r>
            <a:endParaRPr lang="zh-CN" altLang="en-US" dirty="0"/>
          </a:p>
          <a:p>
            <a:pPr>
              <a:buNone/>
            </a:pPr>
            <a:r>
              <a:rPr lang="en-US" altLang="zh-CN" dirty="0"/>
              <a:t>		P(</a:t>
            </a:r>
            <a:r>
              <a:rPr lang="en-US" altLang="zh-CN" dirty="0" err="1"/>
              <a:t>n,k</a:t>
            </a:r>
            <a:r>
              <a:rPr lang="en-US" altLang="zh-CN" dirty="0"/>
              <a:t>) = 1-(1-1/n)</a:t>
            </a:r>
            <a:r>
              <a:rPr lang="en-US" altLang="zh-CN" baseline="30000" dirty="0"/>
              <a:t>k</a:t>
            </a:r>
            <a:r>
              <a:rPr lang="en-US" altLang="zh-CN" dirty="0"/>
              <a:t> ≈ 1-k/n</a:t>
            </a:r>
            <a:endParaRPr lang="en-US" altLang="zh-CN" dirty="0"/>
          </a:p>
          <a:p>
            <a:pPr>
              <a:buNone/>
            </a:pPr>
            <a:r>
              <a:rPr lang="en-US" altLang="zh-CN" dirty="0"/>
              <a:t>		</a:t>
            </a:r>
            <a:r>
              <a:rPr lang="zh-CN" altLang="en-US" dirty="0"/>
              <a:t>当</a:t>
            </a:r>
            <a:r>
              <a:rPr lang="en-US" altLang="zh-CN" dirty="0">
                <a:solidFill>
                  <a:srgbClr val="00B050"/>
                </a:solidFill>
              </a:rPr>
              <a:t>k=n/2</a:t>
            </a:r>
            <a:r>
              <a:rPr lang="zh-CN" altLang="en-US" dirty="0"/>
              <a:t>时，</a:t>
            </a:r>
            <a:r>
              <a:rPr lang="en-US" altLang="zh-CN" dirty="0"/>
              <a:t>P(</a:t>
            </a:r>
            <a:r>
              <a:rPr lang="en-US" altLang="zh-CN" dirty="0" err="1"/>
              <a:t>n,k</a:t>
            </a:r>
            <a:r>
              <a:rPr lang="en-US" altLang="zh-CN" dirty="0"/>
              <a:t>)&gt;0.5</a:t>
            </a:r>
            <a:endParaRPr lang="en-US" altLang="zh-CN" dirty="0"/>
          </a:p>
          <a:p>
            <a:endParaRPr lang="en-US" altLang="zh-CN" dirty="0"/>
          </a:p>
          <a:p>
            <a:r>
              <a:rPr lang="zh-CN" altLang="en-US" dirty="0"/>
              <a:t>对输出</a:t>
            </a:r>
            <a:r>
              <a:rPr lang="en-US" altLang="zh-CN" dirty="0"/>
              <a:t>n</a:t>
            </a:r>
            <a:r>
              <a:rPr lang="zh-CN" altLang="en-US" dirty="0"/>
              <a:t>比特的</a:t>
            </a:r>
            <a:r>
              <a:rPr lang="en-US" altLang="zh-CN" dirty="0"/>
              <a:t>hash</a:t>
            </a:r>
            <a:r>
              <a:rPr lang="zh-CN" altLang="en-US" dirty="0"/>
              <a:t>函数，弱碰撞的攻击代价为</a:t>
            </a:r>
            <a:r>
              <a:rPr lang="en-US" altLang="zh-CN" dirty="0"/>
              <a:t>2</a:t>
            </a:r>
            <a:r>
              <a:rPr lang="en-US" altLang="zh-CN" baseline="30000" dirty="0"/>
              <a:t>n</a:t>
            </a:r>
            <a:r>
              <a:rPr lang="zh-CN" altLang="en-US" dirty="0"/>
              <a:t>，强碰撞的生日攻击代价为</a:t>
            </a:r>
            <a:r>
              <a:rPr lang="en-US" altLang="zh-CN" dirty="0"/>
              <a:t>2</a:t>
            </a:r>
            <a:r>
              <a:rPr lang="en-US" altLang="zh-CN" baseline="30000" dirty="0"/>
              <a:t>n</a:t>
            </a:r>
            <a:r>
              <a:rPr lang="en-US" altLang="zh-CN" baseline="30000"/>
              <a:t>/2</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074" y="213028"/>
            <a:ext cx="6723467" cy="423787"/>
          </a:xfrm>
        </p:spPr>
        <p:txBody>
          <a:bodyPr/>
          <a:lstStyle/>
          <a:p>
            <a:r>
              <a:rPr lang="zh-CN" altLang="en-US" dirty="0"/>
              <a:t>基于生日悖论的攻击：制作假消息的生日攻击</a:t>
            </a:r>
            <a:endParaRPr lang="zh-CN" altLang="en-US" dirty="0"/>
          </a:p>
        </p:txBody>
      </p:sp>
      <p:sp>
        <p:nvSpPr>
          <p:cNvPr id="3" name="文本占位符 2"/>
          <p:cNvSpPr>
            <a:spLocks noGrp="1"/>
          </p:cNvSpPr>
          <p:nvPr>
            <p:ph type="body" sz="quarter" idx="10"/>
          </p:nvPr>
        </p:nvSpPr>
        <p:spPr>
          <a:xfrm>
            <a:off x="718458" y="938213"/>
            <a:ext cx="6838789" cy="5552394"/>
          </a:xfrm>
        </p:spPr>
        <p:txBody>
          <a:bodyPr/>
          <a:lstStyle/>
          <a:p>
            <a:r>
              <a:rPr lang="en-US" altLang="zh-CN" dirty="0"/>
              <a:t>Yuval</a:t>
            </a:r>
            <a:r>
              <a:rPr lang="zh-CN" altLang="en-US" dirty="0"/>
              <a:t>于</a:t>
            </a:r>
            <a:r>
              <a:rPr lang="en-US" altLang="zh-CN" dirty="0"/>
              <a:t>1979</a:t>
            </a:r>
            <a:r>
              <a:rPr lang="zh-CN" altLang="en-US" dirty="0"/>
              <a:t>年提出一种基于生日悖论的攻击：</a:t>
            </a:r>
            <a:endParaRPr lang="en-US" altLang="zh-CN" dirty="0"/>
          </a:p>
          <a:p>
            <a:pPr lvl="1"/>
            <a:r>
              <a:rPr lang="zh-CN" altLang="en-US" dirty="0"/>
              <a:t>攻击者需要在消息进行</a:t>
            </a:r>
            <a:r>
              <a:rPr lang="en-US" altLang="zh-CN" dirty="0"/>
              <a:t>Hash</a:t>
            </a:r>
            <a:r>
              <a:rPr lang="zh-CN" altLang="en-US" dirty="0"/>
              <a:t>前就介入。</a:t>
            </a:r>
            <a:endParaRPr lang="en-US" altLang="zh-CN" dirty="0"/>
          </a:p>
          <a:p>
            <a:pPr lvl="1"/>
            <a:r>
              <a:rPr lang="zh-CN" altLang="en-US" dirty="0"/>
              <a:t>假设消息签名方法是对</a:t>
            </a:r>
            <a:r>
              <a:rPr lang="en-US" altLang="zh-CN" dirty="0"/>
              <a:t>m</a:t>
            </a:r>
            <a:r>
              <a:rPr lang="zh-CN" altLang="en-US" dirty="0"/>
              <a:t>位杂凑</a:t>
            </a:r>
            <a:r>
              <a:rPr lang="zh-CN" altLang="en-US" dirty="0"/>
              <a:t>值加密后附于消息之后</a:t>
            </a:r>
            <a:endParaRPr lang="en-US" altLang="zh-CN" dirty="0"/>
          </a:p>
          <a:p>
            <a:pPr marL="806450" lvl="1" indent="-349250">
              <a:buFont typeface="+mj-lt"/>
              <a:buAutoNum type="arabicPeriod"/>
            </a:pPr>
            <a:r>
              <a:rPr lang="zh-CN" altLang="en-US" dirty="0"/>
              <a:t>攻击者产生该消息的</a:t>
            </a:r>
            <a:r>
              <a:rPr lang="en-US" altLang="zh-CN" dirty="0"/>
              <a:t>2</a:t>
            </a:r>
            <a:r>
              <a:rPr lang="en-US" altLang="zh-CN" baseline="30000" dirty="0"/>
              <a:t>m/2</a:t>
            </a:r>
            <a:r>
              <a:rPr lang="zh-CN" altLang="en-US" dirty="0"/>
              <a:t>种同义变形，再产生伪造消息的</a:t>
            </a:r>
            <a:r>
              <a:rPr lang="en-US" altLang="zh-CN" dirty="0"/>
              <a:t>2</a:t>
            </a:r>
            <a:r>
              <a:rPr lang="en-US" altLang="zh-CN" baseline="30000" dirty="0"/>
              <a:t>m/2</a:t>
            </a:r>
            <a:r>
              <a:rPr lang="zh-CN" altLang="en-US" dirty="0"/>
              <a:t>种同义变形，并分别计算它们的杂凑值；</a:t>
            </a:r>
            <a:endParaRPr lang="en-US" altLang="zh-CN" dirty="0"/>
          </a:p>
          <a:p>
            <a:pPr lvl="2" indent="-285750"/>
            <a:r>
              <a:rPr lang="zh-CN" altLang="en-US" dirty="0"/>
              <a:t>根据生日悖论，这两个集合以大于</a:t>
            </a:r>
            <a:r>
              <a:rPr lang="en-US" altLang="zh-CN" dirty="0"/>
              <a:t>0.5</a:t>
            </a:r>
            <a:r>
              <a:rPr lang="zh-CN" altLang="en-US" dirty="0"/>
              <a:t>的概率存在相同元素，即伪造消息变形和真实消息变形中以大于</a:t>
            </a:r>
            <a:r>
              <a:rPr lang="en-US" altLang="zh-CN" dirty="0"/>
              <a:t>0.5</a:t>
            </a:r>
            <a:r>
              <a:rPr lang="zh-CN" altLang="en-US" dirty="0"/>
              <a:t>的概率存在一对的杂凑值相同</a:t>
            </a:r>
            <a:endParaRPr lang="en-US" altLang="zh-CN" dirty="0"/>
          </a:p>
          <a:p>
            <a:pPr marL="806450" lvl="1" indent="-349250">
              <a:buFont typeface="+mj-lt"/>
              <a:buAutoNum type="arabicPeriod"/>
            </a:pPr>
            <a:r>
              <a:rPr lang="zh-CN" altLang="en-US" dirty="0"/>
              <a:t>攻击者将该真实消息的变形提交，进行杂凑运算及签名，之后，将伪造消息替代真实消息。因为它们的杂凑值相同，其加密签名的结果也相同。</a:t>
            </a:r>
            <a:endParaRPr lang="en-US" altLang="zh-CN" dirty="0"/>
          </a:p>
          <a:p>
            <a:pPr lvl="1"/>
            <a:endParaRPr lang="en-US" altLang="zh-CN" dirty="0"/>
          </a:p>
          <a:p>
            <a:pPr lvl="1"/>
            <a:r>
              <a:rPr lang="zh-CN" altLang="en-US" dirty="0"/>
              <a:t>对</a:t>
            </a:r>
            <a:r>
              <a:rPr lang="en-US" altLang="zh-CN" dirty="0"/>
              <a:t>64</a:t>
            </a:r>
            <a:r>
              <a:rPr lang="zh-CN" altLang="en-US" dirty="0"/>
              <a:t>位杂凑</a:t>
            </a:r>
            <a:r>
              <a:rPr lang="zh-CN" altLang="en-US" dirty="0"/>
              <a:t>值，所需代价仅为</a:t>
            </a:r>
            <a:r>
              <a:rPr lang="en-US" altLang="zh-CN" dirty="0"/>
              <a:t>2</a:t>
            </a:r>
            <a:r>
              <a:rPr lang="en-US" altLang="zh-CN" baseline="30000" dirty="0"/>
              <a:t>32</a:t>
            </a:r>
            <a:endParaRPr lang="zh-CN" altLang="en-US" baseline="30000" dirty="0"/>
          </a:p>
          <a:p>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7680726" y="1032583"/>
            <a:ext cx="4164870" cy="4792833"/>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074" y="213028"/>
            <a:ext cx="6373844" cy="423787"/>
          </a:xfrm>
        </p:spPr>
        <p:txBody>
          <a:bodyPr/>
          <a:lstStyle/>
          <a:p>
            <a:r>
              <a:rPr lang="zh-CN" altLang="en-US" dirty="0"/>
              <a:t>基于生日悖论的攻击：恶意程序的伪装</a:t>
            </a:r>
            <a:endParaRPr lang="zh-CN" altLang="en-US" dirty="0"/>
          </a:p>
        </p:txBody>
      </p:sp>
      <p:sp>
        <p:nvSpPr>
          <p:cNvPr id="3" name="文本占位符 2"/>
          <p:cNvSpPr>
            <a:spLocks noGrp="1"/>
          </p:cNvSpPr>
          <p:nvPr>
            <p:ph type="body" sz="quarter" idx="10"/>
          </p:nvPr>
        </p:nvSpPr>
        <p:spPr/>
        <p:txBody>
          <a:bodyPr/>
          <a:lstStyle/>
          <a:p>
            <a:r>
              <a:rPr lang="zh-CN" altLang="en-US" dirty="0"/>
              <a:t>目前有一些软件提供</a:t>
            </a:r>
            <a:r>
              <a:rPr lang="en-US" altLang="zh-CN" dirty="0"/>
              <a:t>MD5</a:t>
            </a:r>
            <a:r>
              <a:rPr lang="zh-CN" altLang="en-US" dirty="0"/>
              <a:t>验证，而</a:t>
            </a:r>
            <a:r>
              <a:rPr lang="en-US" altLang="zh-CN" dirty="0"/>
              <a:t>MD5</a:t>
            </a:r>
            <a:r>
              <a:rPr lang="zh-CN" altLang="en-US" dirty="0"/>
              <a:t>已被攻破</a:t>
            </a:r>
            <a:endParaRPr lang="en-US" altLang="zh-CN" dirty="0"/>
          </a:p>
          <a:p>
            <a:pPr lvl="1"/>
            <a:r>
              <a:rPr lang="zh-CN" altLang="en-US" dirty="0"/>
              <a:t>可以制作两个</a:t>
            </a:r>
            <a:r>
              <a:rPr lang="en-US" altLang="zh-CN" dirty="0"/>
              <a:t>Hash</a:t>
            </a:r>
            <a:r>
              <a:rPr lang="zh-CN" altLang="en-US" dirty="0"/>
              <a:t>值相同的程序，其一是很吸引人的某种正常用途，其二实现某种恶意攻击，会发生什么？</a:t>
            </a:r>
            <a:endParaRPr lang="en-US" altLang="zh-CN" dirty="0"/>
          </a:p>
          <a:p>
            <a:pPr lvl="1"/>
            <a:endParaRPr lang="en-US" altLang="zh-CN" dirty="0"/>
          </a:p>
          <a:p>
            <a:r>
              <a:rPr lang="en-US" altLang="zh-CN" dirty="0"/>
              <a:t>Windows</a:t>
            </a:r>
            <a:r>
              <a:rPr lang="zh-CN" altLang="en-US" dirty="0"/>
              <a:t>上的应用程序多是</a:t>
            </a:r>
            <a:r>
              <a:rPr lang="en-US" altLang="zh-CN" dirty="0"/>
              <a:t>PE</a:t>
            </a:r>
            <a:r>
              <a:rPr lang="zh-CN" altLang="en-US" dirty="0"/>
              <a:t>格式</a:t>
            </a:r>
            <a:endParaRPr lang="en-US" altLang="zh-CN" dirty="0"/>
          </a:p>
          <a:p>
            <a:r>
              <a:rPr lang="en-US" altLang="zh-CN" dirty="0"/>
              <a:t>PE</a:t>
            </a:r>
            <a:r>
              <a:rPr lang="zh-CN" altLang="en-US" dirty="0"/>
              <a:t>程序一般由以下几部分构成：</a:t>
            </a:r>
            <a:endParaRPr lang="zh-CN" altLang="en-US" dirty="0"/>
          </a:p>
          <a:p>
            <a:pPr>
              <a:buNone/>
            </a:pPr>
            <a:r>
              <a:rPr lang="en-US" altLang="zh-CN" sz="2000" dirty="0"/>
              <a:t>		PE header</a:t>
            </a:r>
            <a:r>
              <a:rPr lang="zh-CN" altLang="en-US" sz="2000" dirty="0"/>
              <a:t>，</a:t>
            </a:r>
            <a:r>
              <a:rPr lang="en-US" altLang="zh-CN" sz="2000" dirty="0"/>
              <a:t>PE</a:t>
            </a:r>
            <a:r>
              <a:rPr lang="zh-CN" altLang="en-US" sz="2000" dirty="0"/>
              <a:t>文件头</a:t>
            </a:r>
            <a:endParaRPr lang="zh-CN" altLang="en-US" sz="2000" dirty="0"/>
          </a:p>
          <a:p>
            <a:pPr>
              <a:buNone/>
            </a:pPr>
            <a:r>
              <a:rPr lang="en-US" altLang="zh-CN" sz="2000" dirty="0"/>
              <a:t>		.text section</a:t>
            </a:r>
            <a:r>
              <a:rPr lang="zh-CN" altLang="en-US" sz="2000" dirty="0"/>
              <a:t>，代码段</a:t>
            </a:r>
            <a:endParaRPr lang="zh-CN" altLang="en-US" sz="2000" dirty="0"/>
          </a:p>
          <a:p>
            <a:pPr>
              <a:buNone/>
            </a:pPr>
            <a:r>
              <a:rPr lang="en-US" altLang="zh-CN" sz="2000" dirty="0"/>
              <a:t>		.data section</a:t>
            </a:r>
            <a:r>
              <a:rPr lang="zh-CN" altLang="en-US" sz="2000" dirty="0"/>
              <a:t>，数据段</a:t>
            </a:r>
            <a:endParaRPr lang="zh-CN" altLang="en-US" sz="2000" dirty="0"/>
          </a:p>
          <a:p>
            <a:pPr>
              <a:buNone/>
            </a:pPr>
            <a:r>
              <a:rPr lang="en-US" altLang="zh-CN" sz="2000" dirty="0"/>
              <a:t>		other sections (.</a:t>
            </a:r>
            <a:r>
              <a:rPr lang="en-US" altLang="zh-CN" sz="2000" dirty="0" err="1"/>
              <a:t>reloc</a:t>
            </a:r>
            <a:r>
              <a:rPr lang="en-US" altLang="zh-CN" sz="2000" dirty="0"/>
              <a:t>, .</a:t>
            </a:r>
            <a:r>
              <a:rPr lang="en-US" altLang="zh-CN" sz="2000" dirty="0" err="1"/>
              <a:t>rdata</a:t>
            </a:r>
            <a:r>
              <a:rPr lang="en-US" altLang="zh-CN" sz="2000" dirty="0"/>
              <a:t>, .</a:t>
            </a:r>
            <a:r>
              <a:rPr lang="en-US" altLang="zh-CN" sz="2000" dirty="0" err="1"/>
              <a:t>tls</a:t>
            </a:r>
            <a:r>
              <a:rPr lang="en-US" altLang="zh-CN" sz="2000" dirty="0"/>
              <a:t>, </a:t>
            </a:r>
            <a:r>
              <a:rPr lang="en-US" altLang="zh-CN" sz="2000" dirty="0" err="1"/>
              <a:t>etc</a:t>
            </a:r>
            <a:r>
              <a:rPr lang="en-US" altLang="zh-CN" sz="2000" dirty="0"/>
              <a:t>)</a:t>
            </a:r>
            <a:endParaRPr lang="en-US" altLang="zh-CN" sz="2000" dirty="0"/>
          </a:p>
          <a:p>
            <a:endParaRPr lang="zh-CN" altLang="en-US" dirty="0"/>
          </a:p>
        </p:txBody>
      </p:sp>
      <p:sp>
        <p:nvSpPr>
          <p:cNvPr id="5" name="文本框 4"/>
          <p:cNvSpPr txBox="1"/>
          <p:nvPr/>
        </p:nvSpPr>
        <p:spPr>
          <a:xfrm>
            <a:off x="6769579" y="3429000"/>
            <a:ext cx="1933175" cy="1938992"/>
          </a:xfrm>
          <a:prstGeom prst="rect">
            <a:avLst/>
          </a:prstGeom>
          <a:noFill/>
        </p:spPr>
        <p:txBody>
          <a:bodyPr wrap="square">
            <a:spAutoFit/>
          </a:bodyPr>
          <a:lstStyle/>
          <a:p>
            <a:pPr marL="1905" lvl="2" indent="-1905">
              <a:buNone/>
            </a:pPr>
            <a:r>
              <a:rPr lang="en-US" altLang="zh-CN" sz="2000" dirty="0">
                <a:latin typeface="Times New Roman" panose="02020603050405020304" pitchFamily="18" charset="0"/>
                <a:cs typeface="Times New Roman" panose="02020603050405020304" pitchFamily="18" charset="0"/>
              </a:rPr>
              <a:t>PE header</a:t>
            </a:r>
            <a:endParaRPr lang="en-US" altLang="zh-CN" sz="2000" dirty="0">
              <a:latin typeface="Times New Roman" panose="02020603050405020304" pitchFamily="18" charset="0"/>
              <a:cs typeface="Times New Roman" panose="02020603050405020304" pitchFamily="18" charset="0"/>
            </a:endParaRPr>
          </a:p>
          <a:p>
            <a:pPr marL="1905" lvl="2" indent="-1905">
              <a:buNone/>
            </a:pPr>
            <a:r>
              <a:rPr lang="en-US" altLang="zh-CN" sz="2000" dirty="0">
                <a:solidFill>
                  <a:srgbClr val="00B050"/>
                </a:solidFill>
                <a:latin typeface="Times New Roman" panose="02020603050405020304" pitchFamily="18" charset="0"/>
                <a:cs typeface="Times New Roman" panose="02020603050405020304" pitchFamily="18" charset="0"/>
              </a:rPr>
              <a:t>reserved block1</a:t>
            </a:r>
            <a:endParaRPr lang="en-US" altLang="zh-CN" sz="2000" dirty="0">
              <a:solidFill>
                <a:srgbClr val="00B050"/>
              </a:solidFill>
              <a:latin typeface="Times New Roman" panose="02020603050405020304" pitchFamily="18" charset="0"/>
              <a:cs typeface="Times New Roman" panose="02020603050405020304" pitchFamily="18" charset="0"/>
            </a:endParaRPr>
          </a:p>
          <a:p>
            <a:pPr marL="1905" lvl="2" indent="-1905">
              <a:buNone/>
            </a:pPr>
            <a:r>
              <a:rPr lang="en-US" altLang="zh-CN" sz="2000" dirty="0">
                <a:latin typeface="Times New Roman" panose="02020603050405020304" pitchFamily="18" charset="0"/>
                <a:cs typeface="Times New Roman" panose="02020603050405020304" pitchFamily="18" charset="0"/>
              </a:rPr>
              <a:t>.text section</a:t>
            </a:r>
            <a:endParaRPr lang="en-US" altLang="zh-CN" sz="2000" dirty="0">
              <a:latin typeface="Times New Roman" panose="02020603050405020304" pitchFamily="18" charset="0"/>
              <a:cs typeface="Times New Roman" panose="02020603050405020304" pitchFamily="18" charset="0"/>
            </a:endParaRPr>
          </a:p>
          <a:p>
            <a:pPr marL="1905" lvl="2" indent="-1905">
              <a:buNone/>
            </a:pPr>
            <a:r>
              <a:rPr lang="en-US" altLang="zh-CN" sz="2000" dirty="0">
                <a:solidFill>
                  <a:srgbClr val="00B050"/>
                </a:solidFill>
                <a:latin typeface="Times New Roman" panose="02020603050405020304" pitchFamily="18" charset="0"/>
                <a:cs typeface="Times New Roman" panose="02020603050405020304" pitchFamily="18" charset="0"/>
              </a:rPr>
              <a:t>reserved block2</a:t>
            </a:r>
            <a:endParaRPr lang="en-US" altLang="zh-CN" sz="2000" dirty="0">
              <a:solidFill>
                <a:srgbClr val="00B050"/>
              </a:solidFill>
              <a:latin typeface="Times New Roman" panose="02020603050405020304" pitchFamily="18" charset="0"/>
              <a:cs typeface="Times New Roman" panose="02020603050405020304" pitchFamily="18" charset="0"/>
            </a:endParaRPr>
          </a:p>
          <a:p>
            <a:pPr marL="1905" lvl="2" indent="-1905">
              <a:buNone/>
            </a:pPr>
            <a:r>
              <a:rPr lang="en-US" altLang="zh-CN" sz="2000" dirty="0">
                <a:latin typeface="Times New Roman" panose="02020603050405020304" pitchFamily="18" charset="0"/>
                <a:cs typeface="Times New Roman" panose="02020603050405020304" pitchFamily="18" charset="0"/>
              </a:rPr>
              <a:t>.data section</a:t>
            </a:r>
            <a:endParaRPr lang="en-US" altLang="zh-CN" sz="2000" dirty="0">
              <a:latin typeface="Times New Roman" panose="02020603050405020304" pitchFamily="18" charset="0"/>
              <a:cs typeface="Times New Roman" panose="02020603050405020304" pitchFamily="18" charset="0"/>
            </a:endParaRPr>
          </a:p>
          <a:p>
            <a:pPr marL="1905" lvl="2" indent="-1905">
              <a:buNone/>
            </a:pPr>
            <a:r>
              <a:rPr lang="en-US" altLang="zh-CN" sz="2000" dirty="0">
                <a:latin typeface="Times New Roman" panose="02020603050405020304" pitchFamily="18" charset="0"/>
                <a:cs typeface="Times New Roman" panose="02020603050405020304" pitchFamily="18" charset="0"/>
              </a:rPr>
              <a:t>other sections</a:t>
            </a:r>
            <a:endParaRPr lang="en-US" altLang="zh-CN" sz="2000" dirty="0">
              <a:latin typeface="Times New Roman" panose="02020603050405020304" pitchFamily="18" charset="0"/>
              <a:cs typeface="Times New Roman" panose="02020603050405020304" pitchFamily="18" charset="0"/>
            </a:endParaRPr>
          </a:p>
        </p:txBody>
      </p:sp>
      <p:grpSp>
        <p:nvGrpSpPr>
          <p:cNvPr id="32" name="组合 31"/>
          <p:cNvGrpSpPr/>
          <p:nvPr/>
        </p:nvGrpSpPr>
        <p:grpSpPr>
          <a:xfrm>
            <a:off x="8805477" y="3429000"/>
            <a:ext cx="2237885" cy="2394229"/>
            <a:chOff x="8937439" y="3245795"/>
            <a:chExt cx="2237885" cy="2394229"/>
          </a:xfrm>
        </p:grpSpPr>
        <p:sp>
          <p:nvSpPr>
            <p:cNvPr id="6" name="矩形 5"/>
            <p:cNvSpPr/>
            <p:nvPr/>
          </p:nvSpPr>
          <p:spPr>
            <a:xfrm>
              <a:off x="9343731" y="4413266"/>
              <a:ext cx="1120589" cy="47961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功能</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流程图: 决策 6"/>
            <p:cNvSpPr/>
            <p:nvPr/>
          </p:nvSpPr>
          <p:spPr>
            <a:xfrm>
              <a:off x="8937439" y="3267636"/>
              <a:ext cx="1933175" cy="657825"/>
            </a:xfrm>
            <a:prstGeom prst="flowChartDecision">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if R1=R2</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p:cNvSpPr/>
            <p:nvPr/>
          </p:nvSpPr>
          <p:spPr>
            <a:xfrm>
              <a:off x="9343731" y="5160412"/>
              <a:ext cx="1120589" cy="47961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功能</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0" name="连接符: 肘形 9"/>
            <p:cNvCxnSpPr>
              <a:stCxn id="7" idx="3"/>
              <a:endCxn id="8" idx="3"/>
            </p:cNvCxnSpPr>
            <p:nvPr/>
          </p:nvCxnSpPr>
          <p:spPr>
            <a:xfrm flipH="1">
              <a:off x="10464320" y="3596549"/>
              <a:ext cx="406294" cy="1803669"/>
            </a:xfrm>
            <a:prstGeom prst="bentConnector3">
              <a:avLst>
                <a:gd name="adj1" fmla="val -5626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p:cNvCxnSpPr>
              <a:stCxn id="7" idx="2"/>
              <a:endCxn id="6" idx="0"/>
            </p:cNvCxnSpPr>
            <p:nvPr/>
          </p:nvCxnSpPr>
          <p:spPr>
            <a:xfrm rot="5400000">
              <a:off x="9660125" y="4169363"/>
              <a:ext cx="487805" cy="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10815775" y="3245795"/>
              <a:ext cx="359549" cy="400110"/>
            </a:xfrm>
            <a:prstGeom prst="rect">
              <a:avLst/>
            </a:prstGeom>
            <a:noFill/>
          </p:spPr>
          <p:txBody>
            <a:bodyPr wrap="square">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文本框 30"/>
            <p:cNvSpPr txBox="1"/>
            <p:nvPr/>
          </p:nvSpPr>
          <p:spPr>
            <a:xfrm>
              <a:off x="9904025" y="4046035"/>
              <a:ext cx="359549" cy="400110"/>
            </a:xfrm>
            <a:prstGeom prst="rect">
              <a:avLst/>
            </a:prstGeom>
            <a:noFill/>
          </p:spPr>
          <p:txBody>
            <a:bodyPr wrap="square">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Y</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34" name="文本框 33"/>
          <p:cNvSpPr txBox="1"/>
          <p:nvPr/>
        </p:nvSpPr>
        <p:spPr>
          <a:xfrm>
            <a:off x="8022557" y="2935870"/>
            <a:ext cx="1360394" cy="400110"/>
          </a:xfrm>
          <a:prstGeom prst="rect">
            <a:avLst/>
          </a:prstGeom>
          <a:noFill/>
        </p:spPr>
        <p:txBody>
          <a:bodyPr wrap="square">
            <a:spAutoFit/>
          </a:bodyPr>
          <a:lstStyle/>
          <a:p>
            <a:r>
              <a:rPr lang="zh-CN" altLang="en-US" sz="2000" dirty="0">
                <a:latin typeface="黑体" panose="02010609060101010101" pitchFamily="49" charset="-122"/>
                <a:ea typeface="黑体" panose="02010609060101010101" pitchFamily="49" charset="-122"/>
              </a:rPr>
              <a:t>改造目标</a:t>
            </a:r>
            <a:endParaRPr lang="zh-CN" altLang="en-US" sz="2000" dirty="0">
              <a:latin typeface="黑体" panose="02010609060101010101" pitchFamily="49" charset="-122"/>
              <a:ea typeface="黑体" panose="02010609060101010101"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基于生日悖论的攻击：恶意程序的伪装</a:t>
            </a:r>
            <a:endParaRPr lang="zh-CN" altLang="en-US" dirty="0"/>
          </a:p>
        </p:txBody>
      </p:sp>
      <p:sp>
        <p:nvSpPr>
          <p:cNvPr id="3" name="文本占位符 2"/>
          <p:cNvSpPr>
            <a:spLocks noGrp="1"/>
          </p:cNvSpPr>
          <p:nvPr>
            <p:ph type="body" sz="quarter" idx="10"/>
          </p:nvPr>
        </p:nvSpPr>
        <p:spPr/>
        <p:txBody>
          <a:bodyPr/>
          <a:lstStyle/>
          <a:p>
            <a:pPr>
              <a:spcBef>
                <a:spcPts val="600"/>
              </a:spcBef>
            </a:pPr>
            <a:r>
              <a:rPr lang="zh-CN" altLang="en-US" dirty="0"/>
              <a:t>伪装过程：</a:t>
            </a:r>
            <a:endParaRPr lang="en-US" altLang="zh-CN" dirty="0"/>
          </a:p>
          <a:p>
            <a:pPr marL="806450" lvl="1" indent="-349250">
              <a:spcBef>
                <a:spcPts val="600"/>
              </a:spcBef>
              <a:buFont typeface="+mj-lt"/>
              <a:buAutoNum type="arabicPeriod"/>
            </a:pPr>
            <a:r>
              <a:rPr lang="zh-CN" altLang="en-US" dirty="0"/>
              <a:t>编写应用程序，在其中实现两种不同功能</a:t>
            </a:r>
            <a:endParaRPr lang="zh-CN" altLang="en-US" dirty="0"/>
          </a:p>
          <a:p>
            <a:pPr marL="806450" lvl="1" indent="-349250">
              <a:spcBef>
                <a:spcPts val="600"/>
              </a:spcBef>
              <a:buFont typeface="+mj-lt"/>
              <a:buAutoNum type="arabicPeriod"/>
            </a:pPr>
            <a:r>
              <a:rPr lang="zh-CN" altLang="en-US" dirty="0"/>
              <a:t>手工调整</a:t>
            </a:r>
            <a:r>
              <a:rPr lang="en-US" altLang="zh-CN" dirty="0"/>
              <a:t>PE</a:t>
            </a:r>
            <a:r>
              <a:rPr lang="zh-CN" altLang="en-US" dirty="0"/>
              <a:t>文件结构，添加保留块</a:t>
            </a:r>
            <a:endParaRPr lang="zh-CN" altLang="en-US" dirty="0"/>
          </a:p>
          <a:p>
            <a:pPr marL="806450" lvl="1" indent="-349250">
              <a:spcBef>
                <a:spcPts val="600"/>
              </a:spcBef>
              <a:buFont typeface="+mj-lt"/>
              <a:buAutoNum type="arabicPeriod"/>
            </a:pPr>
            <a:r>
              <a:rPr lang="zh-CN" altLang="en-US" dirty="0"/>
              <a:t>以</a:t>
            </a:r>
            <a:r>
              <a:rPr lang="en-US" altLang="zh-CN" dirty="0"/>
              <a:t>PE header</a:t>
            </a:r>
            <a:r>
              <a:rPr lang="zh-CN" altLang="en-US" dirty="0"/>
              <a:t>为前导</a:t>
            </a:r>
            <a:r>
              <a:rPr lang="en-US" altLang="zh-CN" dirty="0"/>
              <a:t>(preamble)</a:t>
            </a:r>
            <a:r>
              <a:rPr lang="zh-CN" altLang="en-US" dirty="0"/>
              <a:t>，搜索随机碰撞</a:t>
            </a:r>
            <a:r>
              <a:rPr lang="en-US" altLang="zh-CN" dirty="0"/>
              <a:t>(collision)</a:t>
            </a:r>
            <a:r>
              <a:rPr lang="zh-CN" altLang="en-US" dirty="0"/>
              <a:t>，使得：</a:t>
            </a:r>
            <a:endParaRPr lang="zh-CN" altLang="en-US" dirty="0"/>
          </a:p>
          <a:p>
            <a:pPr marL="1884680" lvl="2" indent="-457200">
              <a:spcBef>
                <a:spcPts val="600"/>
              </a:spcBef>
              <a:buNone/>
            </a:pPr>
            <a:r>
              <a:rPr lang="en-US" altLang="zh-CN" sz="2000" dirty="0"/>
              <a:t>X1 = PE header || R1;</a:t>
            </a:r>
            <a:endParaRPr lang="en-US" altLang="zh-CN" sz="2000" dirty="0"/>
          </a:p>
          <a:p>
            <a:pPr marL="1884680" lvl="2" indent="-457200">
              <a:spcBef>
                <a:spcPts val="600"/>
              </a:spcBef>
              <a:buNone/>
            </a:pPr>
            <a:r>
              <a:rPr lang="en-US" altLang="zh-CN" sz="2000" dirty="0"/>
              <a:t>X2 = PE header || R2;</a:t>
            </a:r>
            <a:endParaRPr lang="en-US" altLang="zh-CN" sz="2000" dirty="0"/>
          </a:p>
          <a:p>
            <a:pPr marL="1884680" lvl="2" indent="-457200">
              <a:spcBef>
                <a:spcPts val="600"/>
              </a:spcBef>
              <a:buNone/>
            </a:pPr>
            <a:r>
              <a:rPr lang="en-US" altLang="zh-CN" sz="2000" dirty="0"/>
              <a:t>MD5(X1) = MD5(X2)</a:t>
            </a:r>
            <a:endParaRPr lang="en-US" altLang="zh-CN" sz="2000" dirty="0"/>
          </a:p>
          <a:p>
            <a:pPr marL="806450" lvl="1" indent="-406400">
              <a:spcBef>
                <a:spcPts val="600"/>
              </a:spcBef>
              <a:buFont typeface="+mj-lt"/>
              <a:buAutoNum type="arabicPeriod" startAt="4"/>
            </a:pPr>
            <a:r>
              <a:rPr lang="zh-CN" altLang="en-US" dirty="0"/>
              <a:t>手工制作两个文件：</a:t>
            </a:r>
            <a:endParaRPr lang="en-US" altLang="zh-CN" dirty="0"/>
          </a:p>
          <a:p>
            <a:pPr marL="1200150" lvl="2" indent="-342900">
              <a:spcBef>
                <a:spcPts val="600"/>
              </a:spcBef>
              <a:buFont typeface="+mj-lt"/>
              <a:buAutoNum type="alphaLcPeriod"/>
            </a:pPr>
            <a:r>
              <a:rPr lang="zh-CN" altLang="en-US" dirty="0"/>
              <a:t>将</a:t>
            </a:r>
            <a:r>
              <a:rPr lang="en-US" altLang="zh-CN" dirty="0"/>
              <a:t>R1</a:t>
            </a:r>
            <a:r>
              <a:rPr lang="zh-CN" altLang="en-US" dirty="0"/>
              <a:t>填入</a:t>
            </a:r>
            <a:r>
              <a:rPr lang="en-US" altLang="zh-CN" dirty="0"/>
              <a:t>reserved block1</a:t>
            </a:r>
            <a:r>
              <a:rPr lang="zh-CN" altLang="en-US" dirty="0"/>
              <a:t>和</a:t>
            </a:r>
            <a:r>
              <a:rPr lang="en-US" altLang="zh-CN" dirty="0"/>
              <a:t>reserved block2</a:t>
            </a:r>
            <a:r>
              <a:rPr lang="zh-CN" altLang="en-US" dirty="0"/>
              <a:t>中，该文件</a:t>
            </a:r>
            <a:r>
              <a:rPr lang="en-US" altLang="zh-CN" dirty="0"/>
              <a:t>a</a:t>
            </a:r>
            <a:r>
              <a:rPr lang="zh-CN" altLang="en-US" dirty="0"/>
              <a:t>执行功能</a:t>
            </a:r>
            <a:r>
              <a:rPr lang="en-US" altLang="zh-CN" dirty="0"/>
              <a:t>1</a:t>
            </a:r>
            <a:endParaRPr lang="en-US" altLang="zh-CN" dirty="0"/>
          </a:p>
          <a:p>
            <a:pPr marL="1200150" lvl="2" indent="-342900">
              <a:spcBef>
                <a:spcPts val="600"/>
              </a:spcBef>
              <a:buFont typeface="+mj-lt"/>
              <a:buAutoNum type="alphaLcPeriod"/>
            </a:pPr>
            <a:r>
              <a:rPr lang="zh-CN" altLang="en-US" dirty="0"/>
              <a:t>将</a:t>
            </a:r>
            <a:r>
              <a:rPr lang="en-US" altLang="zh-CN" dirty="0"/>
              <a:t>R2</a:t>
            </a:r>
            <a:r>
              <a:rPr lang="zh-CN" altLang="en-US" dirty="0"/>
              <a:t>和</a:t>
            </a:r>
            <a:r>
              <a:rPr lang="en-US" altLang="zh-CN" dirty="0"/>
              <a:t>R1</a:t>
            </a:r>
            <a:r>
              <a:rPr lang="zh-CN" altLang="en-US" dirty="0"/>
              <a:t>分别添入</a:t>
            </a:r>
            <a:r>
              <a:rPr lang="en-US" altLang="zh-CN" dirty="0"/>
              <a:t>reserved block1</a:t>
            </a:r>
            <a:r>
              <a:rPr lang="zh-CN" altLang="en-US" dirty="0"/>
              <a:t>和</a:t>
            </a:r>
            <a:r>
              <a:rPr lang="en-US" altLang="zh-CN" dirty="0"/>
              <a:t>reserved block2</a:t>
            </a:r>
            <a:r>
              <a:rPr lang="zh-CN" altLang="en-US" dirty="0"/>
              <a:t>中，该文件</a:t>
            </a:r>
            <a:r>
              <a:rPr lang="en-US" altLang="zh-CN" dirty="0"/>
              <a:t>b</a:t>
            </a:r>
            <a:r>
              <a:rPr lang="zh-CN" altLang="en-US" dirty="0"/>
              <a:t>执行功能</a:t>
            </a:r>
            <a:r>
              <a:rPr lang="en-US" altLang="zh-CN" dirty="0"/>
              <a:t>2</a:t>
            </a:r>
            <a:endParaRPr lang="zh-CN" altLang="en-US" dirty="0"/>
          </a:p>
          <a:p>
            <a:pPr marL="1085850" lvl="2" indent="-285750">
              <a:spcBef>
                <a:spcPts val="600"/>
              </a:spcBef>
            </a:pPr>
            <a:r>
              <a:rPr lang="zh-CN" altLang="en-US" dirty="0"/>
              <a:t>这两个文件后续部分相同，因此</a:t>
            </a:r>
            <a:r>
              <a:rPr lang="en-US" altLang="zh-CN" dirty="0"/>
              <a:t>MD5</a:t>
            </a:r>
            <a:r>
              <a:rPr lang="zh-CN" altLang="en-US" dirty="0"/>
              <a:t>保持相同</a:t>
            </a:r>
            <a:endParaRPr lang="en-US" altLang="zh-CN" dirty="0"/>
          </a:p>
          <a:p>
            <a:pPr marL="1085850" lvl="2" indent="-285750">
              <a:spcBef>
                <a:spcPts val="600"/>
              </a:spcBef>
            </a:pPr>
            <a:r>
              <a:rPr lang="zh-CN" altLang="en-US" dirty="0"/>
              <a:t>将文件</a:t>
            </a:r>
            <a:r>
              <a:rPr lang="en-US" altLang="zh-CN" dirty="0"/>
              <a:t>a</a:t>
            </a:r>
            <a:r>
              <a:rPr lang="zh-CN" altLang="en-US" dirty="0"/>
              <a:t>提交审核，将文件</a:t>
            </a:r>
            <a:r>
              <a:rPr lang="en-US" altLang="zh-CN" dirty="0"/>
              <a:t>b</a:t>
            </a:r>
            <a:r>
              <a:rPr lang="zh-CN" altLang="en-US" dirty="0"/>
              <a:t>用于实际传播</a:t>
            </a: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074" y="213028"/>
            <a:ext cx="6122832" cy="423787"/>
          </a:xfrm>
        </p:spPr>
        <p:txBody>
          <a:bodyPr/>
          <a:lstStyle/>
          <a:p>
            <a:r>
              <a:rPr lang="zh-CN" altLang="en-US" dirty="0"/>
              <a:t>基于生日悖论的攻击：伪造电子签名文档</a:t>
            </a:r>
            <a:endParaRPr lang="zh-CN" altLang="en-US" dirty="0"/>
          </a:p>
        </p:txBody>
      </p:sp>
      <p:sp>
        <p:nvSpPr>
          <p:cNvPr id="3" name="文本占位符 2"/>
          <p:cNvSpPr>
            <a:spLocks noGrp="1"/>
          </p:cNvSpPr>
          <p:nvPr>
            <p:ph type="body" sz="quarter" idx="10"/>
          </p:nvPr>
        </p:nvSpPr>
        <p:spPr/>
        <p:txBody>
          <a:bodyPr/>
          <a:lstStyle/>
          <a:p>
            <a:r>
              <a:rPr lang="zh-CN" altLang="en-US" dirty="0"/>
              <a:t>过程：</a:t>
            </a:r>
            <a:endParaRPr lang="en-US" altLang="zh-CN" dirty="0"/>
          </a:p>
          <a:p>
            <a:pPr marL="806450" lvl="1" indent="-406400">
              <a:buFont typeface="+mj-lt"/>
              <a:buAutoNum type="arabicPeriod"/>
            </a:pPr>
            <a:r>
              <a:rPr lang="zh-CN" altLang="en-US" dirty="0"/>
              <a:t>针对脚本式高级文档语言（比如</a:t>
            </a:r>
            <a:r>
              <a:rPr lang="en-US" altLang="zh-CN" dirty="0"/>
              <a:t>postscript</a:t>
            </a:r>
            <a:r>
              <a:rPr lang="zh-CN" altLang="en-US" dirty="0"/>
              <a:t>）；</a:t>
            </a:r>
            <a:endParaRPr lang="zh-CN" altLang="en-US" dirty="0"/>
          </a:p>
          <a:p>
            <a:pPr marL="806450" lvl="1" indent="-406400">
              <a:buFont typeface="+mj-lt"/>
              <a:buAutoNum type="arabicPeriod"/>
            </a:pPr>
            <a:r>
              <a:rPr lang="zh-CN" altLang="en-US" dirty="0"/>
              <a:t>基于</a:t>
            </a:r>
            <a:r>
              <a:rPr lang="en-US" altLang="zh-CN" dirty="0"/>
              <a:t>postscript</a:t>
            </a:r>
            <a:r>
              <a:rPr lang="zh-CN" altLang="en-US" dirty="0"/>
              <a:t>的要求构造</a:t>
            </a:r>
            <a:r>
              <a:rPr lang="en-US" altLang="zh-CN" dirty="0"/>
              <a:t>preamble</a:t>
            </a:r>
            <a:r>
              <a:rPr lang="zh-CN" altLang="en-US" dirty="0"/>
              <a:t>，寻找</a:t>
            </a:r>
            <a:r>
              <a:rPr lang="en-US" altLang="zh-CN" dirty="0"/>
              <a:t>MD5</a:t>
            </a:r>
            <a:r>
              <a:rPr lang="zh-CN" altLang="en-US" dirty="0"/>
              <a:t>随机碰撞：</a:t>
            </a:r>
            <a:endParaRPr lang="zh-CN" altLang="en-US" dirty="0"/>
          </a:p>
          <a:p>
            <a:pPr marL="1257300" lvl="2" indent="-457200">
              <a:buNone/>
            </a:pPr>
            <a:r>
              <a:rPr lang="en-US" altLang="zh-CN" dirty="0"/>
              <a:t>	X1 = preamble; put(R1);</a:t>
            </a:r>
            <a:endParaRPr lang="en-US" altLang="zh-CN" dirty="0"/>
          </a:p>
          <a:p>
            <a:pPr marL="1257300" lvl="2" indent="-457200">
              <a:buNone/>
            </a:pPr>
            <a:r>
              <a:rPr lang="en-US" altLang="zh-CN" dirty="0"/>
              <a:t>	X2 = preamble; put(R2);</a:t>
            </a:r>
            <a:endParaRPr lang="en-US" altLang="zh-CN" dirty="0"/>
          </a:p>
          <a:p>
            <a:pPr marL="1257300" lvl="2" indent="-457200">
              <a:buNone/>
            </a:pPr>
            <a:r>
              <a:rPr lang="en-US" altLang="zh-CN" dirty="0"/>
              <a:t>	MD5(X1) = MD5(X2)</a:t>
            </a:r>
            <a:endParaRPr lang="en-US" altLang="zh-CN" dirty="0"/>
          </a:p>
          <a:p>
            <a:pPr marL="806450" lvl="1" indent="-406400">
              <a:buFont typeface="+mj-lt"/>
              <a:buAutoNum type="arabicPeriod"/>
            </a:pPr>
            <a:r>
              <a:rPr lang="zh-CN" altLang="en-US" dirty="0"/>
              <a:t>给</a:t>
            </a:r>
            <a:r>
              <a:rPr lang="en-US" altLang="zh-CN" dirty="0"/>
              <a:t>X1</a:t>
            </a:r>
            <a:r>
              <a:rPr lang="zh-CN" altLang="en-US" dirty="0"/>
              <a:t>和</a:t>
            </a:r>
            <a:r>
              <a:rPr lang="en-US" altLang="zh-CN" dirty="0"/>
              <a:t>X2</a:t>
            </a:r>
            <a:r>
              <a:rPr lang="zh-CN" altLang="en-US" dirty="0"/>
              <a:t>添加相同后缀</a:t>
            </a:r>
            <a:r>
              <a:rPr lang="en-US" altLang="zh-CN" dirty="0"/>
              <a:t>S</a:t>
            </a:r>
            <a:r>
              <a:rPr lang="zh-CN" altLang="en-US" dirty="0"/>
              <a:t>：</a:t>
            </a:r>
            <a:r>
              <a:rPr lang="en-US" altLang="zh-CN" dirty="0"/>
              <a:t>MD5(X1||S) = MD5(X2||S)</a:t>
            </a:r>
            <a:endParaRPr lang="en-US" altLang="zh-CN" dirty="0"/>
          </a:p>
          <a:p>
            <a:pPr marL="806450" lvl="1" indent="-406400">
              <a:buFont typeface="+mj-lt"/>
              <a:buAutoNum type="arabicPeriod"/>
            </a:pPr>
            <a:r>
              <a:rPr lang="zh-CN" altLang="en-US" dirty="0"/>
              <a:t>准备两份文本</a:t>
            </a:r>
            <a:r>
              <a:rPr lang="en-US" altLang="zh-CN" dirty="0"/>
              <a:t>T1</a:t>
            </a:r>
            <a:r>
              <a:rPr lang="zh-CN" altLang="en-US" dirty="0"/>
              <a:t>和</a:t>
            </a:r>
            <a:r>
              <a:rPr lang="en-US" altLang="zh-CN" dirty="0"/>
              <a:t>T2</a:t>
            </a:r>
            <a:r>
              <a:rPr lang="zh-CN" altLang="en-US" dirty="0"/>
              <a:t>，</a:t>
            </a:r>
            <a:r>
              <a:rPr lang="en-US" altLang="zh-CN" dirty="0"/>
              <a:t>T1</a:t>
            </a:r>
            <a:r>
              <a:rPr lang="zh-CN" altLang="en-US" dirty="0"/>
              <a:t>是正常文本（用来骗取签名），</a:t>
            </a:r>
            <a:r>
              <a:rPr lang="en-US" altLang="zh-CN" dirty="0"/>
              <a:t>T2</a:t>
            </a:r>
            <a:r>
              <a:rPr lang="zh-CN" altLang="en-US" dirty="0"/>
              <a:t>是其他用途文本。</a:t>
            </a:r>
            <a:endParaRPr lang="zh-CN" altLang="en-US" dirty="0"/>
          </a:p>
          <a:p>
            <a:pPr marL="806450" lvl="1" indent="-406400">
              <a:buFont typeface="+mj-lt"/>
              <a:buAutoNum type="arabicPeriod"/>
            </a:pPr>
            <a:r>
              <a:rPr lang="zh-CN" altLang="en-US" dirty="0"/>
              <a:t>最后形成两份</a:t>
            </a:r>
            <a:r>
              <a:rPr lang="en-US" altLang="zh-CN" dirty="0"/>
              <a:t>postscript</a:t>
            </a:r>
            <a:r>
              <a:rPr lang="zh-CN" altLang="en-US" dirty="0"/>
              <a:t>文档：</a:t>
            </a:r>
            <a:endParaRPr lang="zh-CN" altLang="en-US" dirty="0"/>
          </a:p>
          <a:p>
            <a:pPr marL="1257300" lvl="2" indent="-457200">
              <a:buNone/>
            </a:pPr>
            <a:r>
              <a:rPr lang="en-US" altLang="zh-CN" dirty="0"/>
              <a:t>	Y1 = preamble; </a:t>
            </a:r>
            <a:r>
              <a:rPr lang="en-US" altLang="zh-CN" dirty="0">
                <a:solidFill>
                  <a:schemeClr val="accent6"/>
                </a:solidFill>
              </a:rPr>
              <a:t>put(R1);</a:t>
            </a:r>
            <a:r>
              <a:rPr lang="en-US" altLang="zh-CN" dirty="0"/>
              <a:t> </a:t>
            </a:r>
            <a:r>
              <a:rPr lang="en-US" altLang="zh-CN" dirty="0">
                <a:solidFill>
                  <a:srgbClr val="00B050"/>
                </a:solidFill>
              </a:rPr>
              <a:t>put(R1);</a:t>
            </a:r>
            <a:r>
              <a:rPr lang="en-US" altLang="zh-CN" dirty="0"/>
              <a:t> if(=) then T1 else T2</a:t>
            </a:r>
            <a:endParaRPr lang="en-US" altLang="zh-CN" dirty="0"/>
          </a:p>
          <a:p>
            <a:pPr marL="1257300" lvl="2" indent="-457200">
              <a:buNone/>
            </a:pPr>
            <a:r>
              <a:rPr lang="en-US" altLang="zh-CN" dirty="0"/>
              <a:t>	Y2 = preamble; </a:t>
            </a:r>
            <a:r>
              <a:rPr lang="en-US" altLang="zh-CN" dirty="0">
                <a:solidFill>
                  <a:schemeClr val="accent6"/>
                </a:solidFill>
              </a:rPr>
              <a:t>put(R2);</a:t>
            </a:r>
            <a:r>
              <a:rPr lang="en-US" altLang="zh-CN" dirty="0"/>
              <a:t> </a:t>
            </a:r>
            <a:r>
              <a:rPr lang="en-US" altLang="zh-CN" dirty="0">
                <a:solidFill>
                  <a:srgbClr val="00B050"/>
                </a:solidFill>
              </a:rPr>
              <a:t>put(R1);</a:t>
            </a:r>
            <a:r>
              <a:rPr lang="en-US" altLang="zh-CN" dirty="0"/>
              <a:t> if(=) then T1 else T2</a:t>
            </a:r>
            <a:endParaRPr lang="en-US" altLang="zh-CN" dirty="0"/>
          </a:p>
          <a:p>
            <a:r>
              <a:rPr lang="zh-CN" altLang="en-US" dirty="0"/>
              <a:t>打开</a:t>
            </a:r>
            <a:r>
              <a:rPr lang="en-US" altLang="zh-CN" dirty="0"/>
              <a:t>Y1</a:t>
            </a:r>
            <a:r>
              <a:rPr lang="zh-CN" altLang="en-US" dirty="0"/>
              <a:t>，看到的是</a:t>
            </a:r>
            <a:r>
              <a:rPr lang="en-US" altLang="zh-CN" dirty="0"/>
              <a:t>T1</a:t>
            </a:r>
            <a:r>
              <a:rPr lang="zh-CN" altLang="en-US" dirty="0"/>
              <a:t>；打开</a:t>
            </a:r>
            <a:r>
              <a:rPr lang="en-US" altLang="zh-CN" dirty="0"/>
              <a:t>Y2</a:t>
            </a:r>
            <a:r>
              <a:rPr lang="zh-CN" altLang="en-US" dirty="0"/>
              <a:t>，看到的是</a:t>
            </a:r>
            <a:r>
              <a:rPr lang="en-US" altLang="zh-CN" dirty="0"/>
              <a:t>T2</a:t>
            </a:r>
            <a:r>
              <a:rPr lang="zh-CN" altLang="en-US" dirty="0"/>
              <a:t>。</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074" y="213028"/>
            <a:ext cx="6391773" cy="423787"/>
          </a:xfrm>
        </p:spPr>
        <p:txBody>
          <a:bodyPr/>
          <a:lstStyle/>
          <a:p>
            <a:r>
              <a:rPr lang="zh-CN" altLang="en-US" dirty="0"/>
              <a:t>基于生日攻击的“中间相遇”攻击</a:t>
            </a:r>
            <a:endParaRPr lang="zh-CN" altLang="en-US" dirty="0"/>
          </a:p>
        </p:txBody>
      </p:sp>
      <p:sp>
        <p:nvSpPr>
          <p:cNvPr id="3" name="文本占位符 2"/>
          <p:cNvSpPr>
            <a:spLocks noGrp="1"/>
          </p:cNvSpPr>
          <p:nvPr>
            <p:ph type="body" sz="quarter" idx="10"/>
          </p:nvPr>
        </p:nvSpPr>
        <p:spPr/>
        <p:txBody>
          <a:bodyPr/>
          <a:lstStyle/>
          <a:p>
            <a:r>
              <a:rPr lang="en-US" altLang="zh-CN" dirty="0"/>
              <a:t>Rabin</a:t>
            </a:r>
            <a:r>
              <a:rPr lang="zh-CN" altLang="en-US" dirty="0"/>
              <a:t>于</a:t>
            </a:r>
            <a:r>
              <a:rPr lang="en-US" altLang="zh-CN" dirty="0"/>
              <a:t>1978</a:t>
            </a:r>
            <a:r>
              <a:rPr lang="zh-CN" altLang="en-US" dirty="0"/>
              <a:t>年提出一种算法：</a:t>
            </a:r>
            <a:endParaRPr lang="en-US" altLang="zh-CN" dirty="0"/>
          </a:p>
          <a:p>
            <a:pPr lvl="1"/>
            <a:r>
              <a:rPr lang="zh-CN" altLang="en-US" dirty="0"/>
              <a:t>消息</a:t>
            </a:r>
            <a:r>
              <a:rPr lang="en-US" altLang="zh-CN" dirty="0"/>
              <a:t>M=M</a:t>
            </a:r>
            <a:r>
              <a:rPr lang="en-US" altLang="zh-CN" baseline="-25000" dirty="0"/>
              <a:t>1</a:t>
            </a:r>
            <a:r>
              <a:rPr lang="en-US" altLang="zh-CN" dirty="0"/>
              <a:t>||M</a:t>
            </a:r>
            <a:r>
              <a:rPr lang="en-US" altLang="zh-CN" baseline="-25000" dirty="0"/>
              <a:t>2</a:t>
            </a:r>
            <a:r>
              <a:rPr lang="en-US" altLang="zh-CN" dirty="0"/>
              <a:t>||…|M</a:t>
            </a:r>
            <a:r>
              <a:rPr lang="en-US" altLang="zh-CN" baseline="-25000" dirty="0"/>
              <a:t>N</a:t>
            </a:r>
            <a:r>
              <a:rPr lang="zh-CN" altLang="en-US" dirty="0"/>
              <a:t>，使用分组加密算法（如</a:t>
            </a:r>
            <a:r>
              <a:rPr lang="en-US" altLang="zh-CN" dirty="0"/>
              <a:t>AES</a:t>
            </a:r>
            <a:r>
              <a:rPr lang="zh-CN" altLang="en-US" dirty="0"/>
              <a:t>），分组长度</a:t>
            </a:r>
            <a:r>
              <a:rPr lang="en-US" altLang="zh-CN" dirty="0"/>
              <a:t>m</a:t>
            </a:r>
            <a:endParaRPr lang="en-US" altLang="zh-CN" dirty="0"/>
          </a:p>
          <a:p>
            <a:pPr lvl="1"/>
            <a:r>
              <a:rPr lang="en-US" altLang="zh-CN" dirty="0"/>
              <a:t>H</a:t>
            </a:r>
            <a:r>
              <a:rPr lang="en-US" altLang="zh-CN" baseline="-25000" dirty="0"/>
              <a:t>0</a:t>
            </a:r>
            <a:r>
              <a:rPr lang="en-US" altLang="zh-CN" dirty="0"/>
              <a:t>=</a:t>
            </a:r>
            <a:r>
              <a:rPr lang="zh-CN" altLang="en-US" dirty="0"/>
              <a:t>初始值，</a:t>
            </a:r>
            <a:r>
              <a:rPr lang="en-US" altLang="zh-CN" dirty="0"/>
              <a:t>H</a:t>
            </a:r>
            <a:r>
              <a:rPr lang="en-US" altLang="zh-CN" baseline="-25000" dirty="0"/>
              <a:t>i</a:t>
            </a:r>
            <a:r>
              <a:rPr lang="en-US" altLang="zh-CN" dirty="0"/>
              <a:t>=E(M</a:t>
            </a:r>
            <a:r>
              <a:rPr lang="en-US" altLang="zh-CN" baseline="-25000" dirty="0"/>
              <a:t>i</a:t>
            </a:r>
            <a:r>
              <a:rPr lang="en-US" altLang="zh-CN" dirty="0"/>
              <a:t>, H</a:t>
            </a:r>
            <a:r>
              <a:rPr lang="en-US" altLang="zh-CN" baseline="-25000" dirty="0"/>
              <a:t>i-1</a:t>
            </a:r>
            <a:r>
              <a:rPr lang="en-US" altLang="zh-CN" dirty="0"/>
              <a:t>)</a:t>
            </a:r>
            <a:endParaRPr lang="en-US" altLang="zh-CN" dirty="0"/>
          </a:p>
          <a:p>
            <a:pPr lvl="1"/>
            <a:r>
              <a:rPr lang="zh-CN" altLang="en-US" dirty="0"/>
              <a:t>杂凑</a:t>
            </a:r>
            <a:r>
              <a:rPr lang="zh-CN" altLang="en-US" dirty="0"/>
              <a:t>值</a:t>
            </a:r>
            <a:r>
              <a:rPr lang="en-US" altLang="zh-CN" dirty="0"/>
              <a:t>G=H</a:t>
            </a:r>
            <a:r>
              <a:rPr lang="en-US" altLang="zh-CN" baseline="-25000" dirty="0"/>
              <a:t>N</a:t>
            </a:r>
            <a:endParaRPr lang="en-US" altLang="zh-CN" dirty="0"/>
          </a:p>
          <a:p>
            <a:pPr lvl="1"/>
            <a:endParaRPr lang="en-US" altLang="zh-CN" dirty="0"/>
          </a:p>
          <a:p>
            <a:r>
              <a:rPr lang="zh-CN" altLang="en-US" dirty="0"/>
              <a:t>基于生日悖论的“中间相遇”攻击</a:t>
            </a:r>
            <a:endParaRPr lang="en-US" altLang="zh-CN" dirty="0"/>
          </a:p>
          <a:p>
            <a:pPr lvl="1"/>
            <a:r>
              <a:rPr lang="zh-CN" altLang="en-US" dirty="0"/>
              <a:t>计算消息的杂凑值</a:t>
            </a:r>
            <a:r>
              <a:rPr lang="en-US" altLang="zh-CN" dirty="0"/>
              <a:t>G</a:t>
            </a:r>
            <a:endParaRPr lang="en-US" altLang="zh-CN" dirty="0"/>
          </a:p>
          <a:p>
            <a:pPr lvl="1"/>
            <a:r>
              <a:rPr lang="zh-CN" altLang="en-US" dirty="0"/>
              <a:t>构造消息</a:t>
            </a:r>
            <a:r>
              <a:rPr lang="en-US" altLang="zh-CN" dirty="0"/>
              <a:t>Q</a:t>
            </a:r>
            <a:r>
              <a:rPr lang="en-US" altLang="zh-CN" baseline="-25000" dirty="0"/>
              <a:t>1</a:t>
            </a:r>
            <a:r>
              <a:rPr lang="en-US" altLang="zh-CN" dirty="0"/>
              <a:t>||Q</a:t>
            </a:r>
            <a:r>
              <a:rPr lang="en-US" altLang="zh-CN" baseline="-25000" dirty="0"/>
              <a:t>2</a:t>
            </a:r>
            <a:r>
              <a:rPr lang="en-US" altLang="zh-CN" dirty="0"/>
              <a:t>||…||Q</a:t>
            </a:r>
            <a:r>
              <a:rPr lang="en-US" altLang="zh-CN" baseline="-25000" dirty="0"/>
              <a:t>N-2</a:t>
            </a:r>
            <a:r>
              <a:rPr lang="zh-CN" altLang="en-US" dirty="0"/>
              <a:t>，并计算</a:t>
            </a:r>
            <a:r>
              <a:rPr lang="en-US" altLang="zh-CN" dirty="0"/>
              <a:t>H</a:t>
            </a:r>
            <a:r>
              <a:rPr lang="en-US" altLang="zh-CN" baseline="-25000" dirty="0"/>
              <a:t>N-2</a:t>
            </a:r>
            <a:r>
              <a:rPr lang="zh-CN" altLang="en-US" dirty="0"/>
              <a:t>，</a:t>
            </a:r>
            <a:endParaRPr lang="en-US" altLang="zh-CN" dirty="0"/>
          </a:p>
          <a:p>
            <a:pPr lvl="1"/>
            <a:r>
              <a:rPr lang="zh-CN" altLang="en-US" dirty="0"/>
              <a:t>产生</a:t>
            </a:r>
            <a:r>
              <a:rPr lang="en-US" altLang="zh-CN" dirty="0"/>
              <a:t>2</a:t>
            </a:r>
            <a:r>
              <a:rPr lang="en-US" altLang="zh-CN" baseline="30000" dirty="0"/>
              <a:t>m/2</a:t>
            </a:r>
            <a:r>
              <a:rPr lang="zh-CN" altLang="en-US" dirty="0"/>
              <a:t>个随机分组，对每一分组</a:t>
            </a:r>
            <a:r>
              <a:rPr lang="en-US" altLang="zh-CN" dirty="0"/>
              <a:t>X</a:t>
            </a:r>
            <a:r>
              <a:rPr lang="zh-CN" altLang="en-US" dirty="0"/>
              <a:t>，计算</a:t>
            </a:r>
            <a:r>
              <a:rPr lang="en-US" altLang="zh-CN" dirty="0"/>
              <a:t>E(X,H</a:t>
            </a:r>
            <a:r>
              <a:rPr lang="en-US" altLang="zh-CN" baseline="-25000" dirty="0"/>
              <a:t>N-2</a:t>
            </a:r>
            <a:r>
              <a:rPr lang="en-US" altLang="zh-CN" dirty="0"/>
              <a:t>)</a:t>
            </a:r>
            <a:r>
              <a:rPr lang="zh-CN" altLang="en-US" dirty="0"/>
              <a:t>；</a:t>
            </a:r>
            <a:endParaRPr lang="en-US" altLang="zh-CN" dirty="0"/>
          </a:p>
          <a:p>
            <a:pPr lvl="1"/>
            <a:r>
              <a:rPr lang="zh-CN" altLang="en-US" dirty="0"/>
              <a:t>再产生</a:t>
            </a:r>
            <a:r>
              <a:rPr lang="en-US" altLang="zh-CN" dirty="0"/>
              <a:t>2</a:t>
            </a:r>
            <a:r>
              <a:rPr lang="en-US" altLang="zh-CN" baseline="30000" dirty="0"/>
              <a:t>m/2</a:t>
            </a:r>
            <a:r>
              <a:rPr lang="zh-CN" altLang="en-US" dirty="0"/>
              <a:t>个随机分组，对每一分组</a:t>
            </a:r>
            <a:r>
              <a:rPr lang="en-US" altLang="zh-CN" dirty="0"/>
              <a:t>Y</a:t>
            </a:r>
            <a:r>
              <a:rPr lang="zh-CN" altLang="en-US" dirty="0"/>
              <a:t>，计算</a:t>
            </a:r>
            <a:r>
              <a:rPr lang="en-US" altLang="zh-CN" dirty="0"/>
              <a:t>D(Y,G)</a:t>
            </a:r>
            <a:endParaRPr lang="en-US" altLang="zh-CN" dirty="0"/>
          </a:p>
          <a:p>
            <a:pPr lvl="1"/>
            <a:r>
              <a:rPr lang="zh-CN" altLang="en-US" dirty="0"/>
              <a:t>根据生日悖论，存在</a:t>
            </a:r>
            <a:r>
              <a:rPr lang="en-US" altLang="zh-CN" dirty="0"/>
              <a:t>X</a:t>
            </a:r>
            <a:r>
              <a:rPr lang="zh-CN" altLang="en-US" dirty="0"/>
              <a:t>和</a:t>
            </a:r>
            <a:r>
              <a:rPr lang="en-US" altLang="zh-CN" dirty="0"/>
              <a:t>Y</a:t>
            </a:r>
            <a:r>
              <a:rPr lang="zh-CN" altLang="en-US" dirty="0"/>
              <a:t>满足</a:t>
            </a:r>
            <a:r>
              <a:rPr lang="en-US" altLang="zh-CN" dirty="0"/>
              <a:t>E(X,H</a:t>
            </a:r>
            <a:r>
              <a:rPr lang="en-US" altLang="zh-CN" baseline="-25000" dirty="0"/>
              <a:t>N-2</a:t>
            </a:r>
            <a:r>
              <a:rPr lang="en-US" altLang="zh-CN" dirty="0"/>
              <a:t>)=D(Y,G)</a:t>
            </a:r>
            <a:r>
              <a:rPr lang="zh-CN" altLang="en-US" dirty="0"/>
              <a:t>的概率较大</a:t>
            </a:r>
            <a:endParaRPr lang="en-US" altLang="zh-CN" dirty="0"/>
          </a:p>
          <a:p>
            <a:pPr lvl="1"/>
            <a:r>
              <a:rPr lang="zh-CN" altLang="en-US" dirty="0"/>
              <a:t>构造消息</a:t>
            </a:r>
            <a:r>
              <a:rPr lang="en-US" altLang="zh-CN" dirty="0"/>
              <a:t>Q</a:t>
            </a:r>
            <a:r>
              <a:rPr lang="en-US" altLang="zh-CN" baseline="-25000" dirty="0"/>
              <a:t>1</a:t>
            </a:r>
            <a:r>
              <a:rPr lang="en-US" altLang="zh-CN" dirty="0"/>
              <a:t>||Q</a:t>
            </a:r>
            <a:r>
              <a:rPr lang="en-US" altLang="zh-CN" baseline="-25000" dirty="0"/>
              <a:t>2</a:t>
            </a:r>
            <a:r>
              <a:rPr lang="en-US" altLang="zh-CN" dirty="0"/>
              <a:t>||…||Q</a:t>
            </a:r>
            <a:r>
              <a:rPr lang="en-US" altLang="zh-CN" baseline="-25000" dirty="0"/>
              <a:t>N-2</a:t>
            </a:r>
            <a:r>
              <a:rPr lang="en-US" altLang="zh-CN" dirty="0"/>
              <a:t>||X||Y</a:t>
            </a:r>
            <a:r>
              <a:rPr lang="zh-CN" altLang="en-US" dirty="0"/>
              <a:t>，其散列码也为</a:t>
            </a:r>
            <a:r>
              <a:rPr lang="en-US" altLang="zh-CN" dirty="0"/>
              <a:t>G</a:t>
            </a:r>
            <a:endParaRPr lang="en-US" altLang="zh-CN" dirty="0"/>
          </a:p>
          <a:p>
            <a:pPr lvl="1"/>
            <a:endParaRPr lang="en-US" altLang="zh-CN" dirty="0"/>
          </a:p>
          <a:p>
            <a:r>
              <a:rPr lang="zh-CN" altLang="en-US" dirty="0">
                <a:solidFill>
                  <a:srgbClr val="FF0000"/>
                </a:solidFill>
              </a:rPr>
              <a:t>生日攻击能成功地攻击任何使用分组链接但分组算法可逆的杂凑方法</a:t>
            </a:r>
            <a:endParaRPr lang="zh-CN" altLang="en-US" dirty="0">
              <a:solidFill>
                <a:srgbClr val="FF0000"/>
              </a:solidFill>
            </a:endParaRPr>
          </a:p>
        </p:txBody>
      </p:sp>
      <p:sp>
        <p:nvSpPr>
          <p:cNvPr id="5" name="文本框 4"/>
          <p:cNvSpPr txBox="1"/>
          <p:nvPr/>
        </p:nvSpPr>
        <p:spPr>
          <a:xfrm>
            <a:off x="5209614" y="1805499"/>
            <a:ext cx="2866465" cy="40011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如果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H</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=E(H</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i-1</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呢？</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箭头: 五边形 1"/>
          <p:cNvSpPr/>
          <p:nvPr/>
        </p:nvSpPr>
        <p:spPr bwMode="auto">
          <a:xfrm>
            <a:off x="2993514" y="704273"/>
            <a:ext cx="2493040" cy="576064"/>
          </a:xfrm>
          <a:prstGeom prst="homePlate">
            <a:avLst>
              <a:gd name="adj" fmla="val 0"/>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zh-CN" altLang="en-US" dirty="0">
                <a:latin typeface="微软雅黑" panose="020B0503020204020204" pitchFamily="34" charset="-122"/>
                <a:ea typeface="微软雅黑" panose="020B0503020204020204" pitchFamily="34" charset="-122"/>
              </a:rPr>
              <a:t>消息认证</a:t>
            </a:r>
            <a:endParaRPr lang="zh-CN" altLang="en-US" dirty="0">
              <a:latin typeface="微软雅黑" panose="020B0503020204020204" pitchFamily="34" charset="-122"/>
              <a:ea typeface="微软雅黑" panose="020B0503020204020204" pitchFamily="34" charset="-122"/>
            </a:endParaRPr>
          </a:p>
        </p:txBody>
      </p:sp>
      <p:sp>
        <p:nvSpPr>
          <p:cNvPr id="3" name="箭头: 五边形 2"/>
          <p:cNvSpPr/>
          <p:nvPr/>
        </p:nvSpPr>
        <p:spPr bwMode="auto">
          <a:xfrm>
            <a:off x="4086128" y="2125033"/>
            <a:ext cx="2498747" cy="504056"/>
          </a:xfrm>
          <a:prstGeom prst="homePlat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lstStyle/>
          <a:p>
            <a:pPr algn="ctr" eaLnBrk="1" hangingPunct="1"/>
            <a:r>
              <a:rPr lang="zh-CN" altLang="en-US" dirty="0">
                <a:latin typeface="微软雅黑" panose="020B0503020204020204" pitchFamily="34" charset="-122"/>
                <a:ea typeface="微软雅黑" panose="020B0503020204020204" pitchFamily="34" charset="-122"/>
              </a:rPr>
              <a:t>认证的概念</a:t>
            </a:r>
            <a:endParaRPr lang="zh-CN" altLang="en-US" dirty="0">
              <a:latin typeface="微软雅黑" panose="020B0503020204020204" pitchFamily="34" charset="-122"/>
              <a:ea typeface="微软雅黑" panose="020B0503020204020204" pitchFamily="34" charset="-122"/>
            </a:endParaRPr>
          </a:p>
        </p:txBody>
      </p:sp>
      <p:cxnSp>
        <p:nvCxnSpPr>
          <p:cNvPr id="5" name="连接符: 曲线 4"/>
          <p:cNvCxnSpPr>
            <a:stCxn id="3" idx="3"/>
            <a:endCxn id="7" idx="1"/>
          </p:cNvCxnSpPr>
          <p:nvPr/>
        </p:nvCxnSpPr>
        <p:spPr bwMode="auto">
          <a:xfrm flipH="1">
            <a:off x="5491659" y="2377061"/>
            <a:ext cx="1093216" cy="1599823"/>
          </a:xfrm>
          <a:prstGeom prst="curvedConnector5">
            <a:avLst>
              <a:gd name="adj1" fmla="val -20911"/>
              <a:gd name="adj2" fmla="val 50000"/>
              <a:gd name="adj3" fmla="val 120911"/>
            </a:avLst>
          </a:prstGeom>
          <a:ln w="57150">
            <a:headEnd type="none" w="med" len="med"/>
            <a:tailEnd type="triangle"/>
          </a:ln>
        </p:spPr>
        <p:style>
          <a:lnRef idx="3">
            <a:schemeClr val="accent4"/>
          </a:lnRef>
          <a:fillRef idx="0">
            <a:schemeClr val="accent4"/>
          </a:fillRef>
          <a:effectRef idx="2">
            <a:schemeClr val="accent4"/>
          </a:effectRef>
          <a:fontRef idx="minor">
            <a:schemeClr val="tx1"/>
          </a:fontRef>
        </p:style>
      </p:cxnSp>
      <p:sp>
        <p:nvSpPr>
          <p:cNvPr id="6" name="箭头: 五边形 5"/>
          <p:cNvSpPr/>
          <p:nvPr/>
        </p:nvSpPr>
        <p:spPr bwMode="auto">
          <a:xfrm>
            <a:off x="7150677" y="5060630"/>
            <a:ext cx="2262284" cy="504056"/>
          </a:xfrm>
          <a:prstGeom prst="homePlate">
            <a:avLst>
              <a:gd name="adj" fmla="val 0"/>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ctr" anchorCtr="0" compatLnSpc="1"/>
          <a:lstStyle/>
          <a:p>
            <a:pPr algn="ctr" eaLnBrk="1" hangingPunct="1"/>
            <a:r>
              <a:rPr lang="zh-CN" altLang="en-US" dirty="0">
                <a:latin typeface="微软雅黑" panose="020B0503020204020204" pitchFamily="34" charset="-122"/>
                <a:ea typeface="微软雅黑" panose="020B0503020204020204" pitchFamily="34" charset="-122"/>
              </a:rPr>
              <a:t>消息认证算法</a:t>
            </a:r>
            <a:endParaRPr lang="zh-CN" altLang="en-US" dirty="0">
              <a:latin typeface="微软雅黑" panose="020B0503020204020204" pitchFamily="34" charset="-122"/>
              <a:ea typeface="微软雅黑" panose="020B0503020204020204" pitchFamily="34" charset="-122"/>
            </a:endParaRPr>
          </a:p>
        </p:txBody>
      </p:sp>
      <p:sp>
        <p:nvSpPr>
          <p:cNvPr id="7" name="箭头: 五边形 6"/>
          <p:cNvSpPr/>
          <p:nvPr/>
        </p:nvSpPr>
        <p:spPr bwMode="auto">
          <a:xfrm>
            <a:off x="5491659" y="3724856"/>
            <a:ext cx="2469544" cy="504056"/>
          </a:xfrm>
          <a:prstGeom prst="homePlat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lstStyle/>
          <a:p>
            <a:pPr algn="ctr" eaLnBrk="1" hangingPunct="1"/>
            <a:r>
              <a:rPr lang="zh-CN" altLang="en-US" dirty="0">
                <a:latin typeface="微软雅黑" panose="020B0503020204020204" pitchFamily="34" charset="-122"/>
                <a:ea typeface="微软雅黑" panose="020B0503020204020204" pitchFamily="34" charset="-122"/>
              </a:rPr>
              <a:t>消息认证的实现</a:t>
            </a:r>
            <a:endParaRPr lang="zh-CN" altLang="en-US" dirty="0">
              <a:latin typeface="微软雅黑" panose="020B0503020204020204" pitchFamily="34" charset="-122"/>
              <a:ea typeface="微软雅黑" panose="020B0503020204020204" pitchFamily="34" charset="-122"/>
            </a:endParaRPr>
          </a:p>
        </p:txBody>
      </p:sp>
      <p:cxnSp>
        <p:nvCxnSpPr>
          <p:cNvPr id="8" name="连接符: 曲线 7"/>
          <p:cNvCxnSpPr>
            <a:stCxn id="7" idx="3"/>
            <a:endCxn id="6" idx="1"/>
          </p:cNvCxnSpPr>
          <p:nvPr/>
        </p:nvCxnSpPr>
        <p:spPr bwMode="auto">
          <a:xfrm flipH="1">
            <a:off x="7150677" y="3976884"/>
            <a:ext cx="810526" cy="1335774"/>
          </a:xfrm>
          <a:prstGeom prst="curvedConnector5">
            <a:avLst>
              <a:gd name="adj1" fmla="val -28204"/>
              <a:gd name="adj2" fmla="val 50000"/>
              <a:gd name="adj3" fmla="val 128204"/>
            </a:avLst>
          </a:prstGeom>
          <a:ln w="57150">
            <a:headEnd type="none" w="med" len="med"/>
            <a:tailEnd type="triangle"/>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典型的安全杂凑函数链接结构</a:t>
            </a:r>
            <a:endParaRPr lang="zh-CN" altLang="en-US" dirty="0"/>
          </a:p>
        </p:txBody>
      </p:sp>
      <p:sp>
        <p:nvSpPr>
          <p:cNvPr id="3" name="文本占位符 2"/>
          <p:cNvSpPr>
            <a:spLocks noGrp="1"/>
          </p:cNvSpPr>
          <p:nvPr>
            <p:ph type="body" sz="quarter" idx="10"/>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若压缩函数具有抗碰撞能力，那么迭代杂凑函数也具有抗碰撞能力</a:t>
            </a:r>
            <a:endParaRPr lang="zh-CN" altLang="en-US" dirty="0"/>
          </a:p>
          <a:p>
            <a:endParaRPr lang="zh-CN" altLang="en-US" dirty="0"/>
          </a:p>
        </p:txBody>
      </p:sp>
      <p:pic>
        <p:nvPicPr>
          <p:cNvPr id="5" name="Picture 3"/>
          <p:cNvPicPr>
            <a:picLocks noChangeAspect="1" noChangeArrowheads="1"/>
          </p:cNvPicPr>
          <p:nvPr/>
        </p:nvPicPr>
        <p:blipFill>
          <a:blip r:embed="rId1" cstate="print"/>
          <a:srcRect/>
          <a:stretch>
            <a:fillRect/>
          </a:stretch>
        </p:blipFill>
        <p:spPr bwMode="auto">
          <a:xfrm>
            <a:off x="2023220" y="1412776"/>
            <a:ext cx="8145561" cy="3643338"/>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杂凑函数安全性</a:t>
            </a:r>
            <a:endParaRPr lang="zh-CN" altLang="en-US" dirty="0"/>
          </a:p>
        </p:txBody>
      </p:sp>
      <p:sp>
        <p:nvSpPr>
          <p:cNvPr id="3" name="文本占位符 2"/>
          <p:cNvSpPr>
            <a:spLocks noGrp="1"/>
          </p:cNvSpPr>
          <p:nvPr>
            <p:ph type="body" sz="quarter" idx="10"/>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sz="2400" dirty="0"/>
              <a:t>有算法可以将</a:t>
            </a:r>
            <a:r>
              <a:rPr lang="en-US" altLang="zh-CN" sz="2400" dirty="0"/>
              <a:t>MD4</a:t>
            </a:r>
            <a:r>
              <a:rPr lang="zh-CN" altLang="en-US" sz="2400" dirty="0"/>
              <a:t>的抗强碰撞能力降到</a:t>
            </a:r>
            <a:r>
              <a:rPr lang="en-US" altLang="zh-CN" sz="2400" dirty="0"/>
              <a:t>2</a:t>
            </a:r>
            <a:r>
              <a:rPr lang="en-US" altLang="zh-CN" sz="2400" baseline="30000" dirty="0"/>
              <a:t>20</a:t>
            </a:r>
            <a:endParaRPr lang="en-US" altLang="zh-CN" sz="2400" baseline="30000" dirty="0"/>
          </a:p>
          <a:p>
            <a:r>
              <a:rPr lang="zh-CN" altLang="en-US" sz="2400" dirty="0"/>
              <a:t>已有对</a:t>
            </a:r>
            <a:r>
              <a:rPr lang="en-US" altLang="zh-CN" sz="2400" dirty="0"/>
              <a:t>MD5</a:t>
            </a:r>
            <a:r>
              <a:rPr lang="zh-CN" altLang="en-US" sz="2400" dirty="0"/>
              <a:t>和</a:t>
            </a:r>
            <a:r>
              <a:rPr lang="en-US" altLang="zh-CN" sz="2400" dirty="0"/>
              <a:t>SHA-1</a:t>
            </a:r>
            <a:r>
              <a:rPr lang="zh-CN" altLang="en-US" sz="2400" dirty="0"/>
              <a:t>的攻击，找到碰撞</a:t>
            </a:r>
            <a:endParaRPr lang="en-US" altLang="zh-CN" sz="2400" dirty="0"/>
          </a:p>
          <a:p>
            <a:r>
              <a:rPr lang="en-US" altLang="zh-CN" sz="2400" dirty="0"/>
              <a:t>2012</a:t>
            </a:r>
            <a:r>
              <a:rPr lang="zh-CN" altLang="en-US" sz="2400" dirty="0"/>
              <a:t>年选出</a:t>
            </a:r>
            <a:r>
              <a:rPr lang="en-US" altLang="zh-CN" sz="2400" dirty="0"/>
              <a:t>SHA-3</a:t>
            </a:r>
            <a:r>
              <a:rPr lang="zh-CN" altLang="en-US" sz="2400" dirty="0"/>
              <a:t>优胜者</a:t>
            </a:r>
            <a:r>
              <a:rPr lang="en-US" altLang="zh-CN" sz="2400" dirty="0"/>
              <a:t>Keccak</a:t>
            </a:r>
            <a:r>
              <a:rPr lang="zh-CN" altLang="en-US" sz="2400" dirty="0"/>
              <a:t>，采用海绵结构，允许变长的输入和输出</a:t>
            </a:r>
            <a:endParaRPr lang="en-US" altLang="zh-CN" sz="2400" dirty="0"/>
          </a:p>
        </p:txBody>
      </p:sp>
      <p:graphicFrame>
        <p:nvGraphicFramePr>
          <p:cNvPr id="5" name="内容占位符 5"/>
          <p:cNvGraphicFramePr/>
          <p:nvPr/>
        </p:nvGraphicFramePr>
        <p:xfrm>
          <a:off x="1909838" y="1207155"/>
          <a:ext cx="8001062" cy="3566160"/>
        </p:xfrm>
        <a:graphic>
          <a:graphicData uri="http://schemas.openxmlformats.org/drawingml/2006/table">
            <a:tbl>
              <a:tblPr firstRow="1" firstCol="1" bandRow="1">
                <a:tableStyleId>{9D7B26C5-4107-4FEC-AEDC-1716B250A1EF}</a:tableStyleId>
              </a:tblPr>
              <a:tblGrid>
                <a:gridCol w="1998774"/>
                <a:gridCol w="1500572"/>
                <a:gridCol w="1500572"/>
                <a:gridCol w="1500572"/>
                <a:gridCol w="1500572"/>
              </a:tblGrid>
              <a:tr h="396240">
                <a:tc>
                  <a:txBody>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杂凑函数</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分组长度</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摘要长度</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抗单向性</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marL="0" indent="0"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抗强碰撞</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tc>
              </a:tr>
              <a:tr h="396240">
                <a:tc>
                  <a:txBody>
                    <a:bodyPr/>
                    <a:lstStyle/>
                    <a:p>
                      <a:pPr algn="ct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MD2</a:t>
                      </a:r>
                      <a:endParaRPr lang="zh-CN" altLang="en-US" sz="2000" b="0" dirty="0">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128</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128</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128</a:t>
                      </a:r>
                      <a:endParaRPr lang="zh-CN" altLang="en-US" sz="2000" b="1" baseline="30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64</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r>
              <a:tr h="396240">
                <a:tc>
                  <a:txBody>
                    <a:bodyPr/>
                    <a:lstStyle/>
                    <a:p>
                      <a:pPr algn="ct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MD4</a:t>
                      </a:r>
                      <a:endParaRPr lang="zh-CN" altLang="en-US" sz="2000" b="0" dirty="0">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512</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128</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128</a:t>
                      </a:r>
                      <a:endParaRPr lang="zh-CN" altLang="en-US" sz="2000" b="1" baseline="30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64</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r>
              <a:tr h="396240">
                <a:tc>
                  <a:txBody>
                    <a:bodyPr/>
                    <a:lstStyle/>
                    <a:p>
                      <a:pPr algn="ct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MD5</a:t>
                      </a:r>
                      <a:endPar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algn="ct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512</a:t>
                      </a:r>
                      <a:endPar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algn="ct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128</a:t>
                      </a:r>
                      <a:endPar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algn="ct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128</a:t>
                      </a:r>
                      <a:endPar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c>
                  <a:txBody>
                    <a:bodyPr/>
                    <a:lstStyle/>
                    <a:p>
                      <a:pPr algn="ct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64</a:t>
                      </a:r>
                      <a:endPar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1">
                        <a:lumMod val="20000"/>
                        <a:lumOff val="80000"/>
                      </a:schemeClr>
                    </a:solidFill>
                  </a:tcPr>
                </a:tc>
              </a:tr>
              <a:tr h="396240">
                <a:tc>
                  <a:txBody>
                    <a:bodyPr/>
                    <a:lstStyle/>
                    <a:p>
                      <a:pPr algn="ct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RipeMD-160</a:t>
                      </a:r>
                      <a:endParaRPr lang="zh-CN" altLang="en-US" sz="2000" b="0"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512</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160</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160</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80</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tc>
              </a:tr>
              <a:tr h="396240">
                <a:tc>
                  <a:txBody>
                    <a:bodyPr/>
                    <a:lstStyle/>
                    <a:p>
                      <a:pPr algn="ct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SHA-1</a:t>
                      </a:r>
                      <a:endPar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512</a:t>
                      </a:r>
                      <a:endPar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160</a:t>
                      </a:r>
                      <a:endPar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160</a:t>
                      </a:r>
                      <a:endPar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80</a:t>
                      </a:r>
                      <a:endPar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r>
              <a:tr h="396240">
                <a:tc>
                  <a:txBody>
                    <a:bodyPr/>
                    <a:lstStyle/>
                    <a:p>
                      <a:pPr algn="ct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SHA-256</a:t>
                      </a:r>
                      <a:endParaRPr lang="zh-CN" altLang="en-US" sz="2000" b="0" dirty="0">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512</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256</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256</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128</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r>
              <a:tr h="396240">
                <a:tc>
                  <a:txBody>
                    <a:bodyPr/>
                    <a:lstStyle/>
                    <a:p>
                      <a:pPr algn="ct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SHA-384</a:t>
                      </a:r>
                      <a:endParaRPr lang="zh-CN" altLang="en-US" sz="2000" b="0" dirty="0">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1024</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384</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384</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192</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r>
              <a:tr h="396240">
                <a:tc>
                  <a:txBody>
                    <a:bodyPr/>
                    <a:lstStyle/>
                    <a:p>
                      <a:pPr algn="ct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SHA-512</a:t>
                      </a:r>
                      <a:endParaRPr lang="zh-CN" altLang="en-US" sz="2000" b="0" dirty="0">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1024</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512</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512</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256</a:t>
                      </a:r>
                      <a:endParaRPr lang="zh-CN" altLang="en-US"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txBody>
                  <a:tcPr>
                    <a:solidFill>
                      <a:schemeClr val="accent4">
                        <a:lumMod val="20000"/>
                        <a:lumOff val="80000"/>
                      </a:schemeClr>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信息摘要算法</a:t>
            </a:r>
            <a:r>
              <a:rPr lang="en-US" altLang="zh-CN" dirty="0"/>
              <a:t>MD5(RFC 1321)</a:t>
            </a:r>
            <a:endParaRPr lang="zh-CN" altLang="en-US" dirty="0"/>
          </a:p>
        </p:txBody>
      </p:sp>
      <p:sp>
        <p:nvSpPr>
          <p:cNvPr id="3" name="文本占位符 2"/>
          <p:cNvSpPr>
            <a:spLocks noGrp="1"/>
          </p:cNvSpPr>
          <p:nvPr>
            <p:ph type="body" sz="quarter" idx="10"/>
          </p:nvPr>
        </p:nvSpPr>
        <p:spPr>
          <a:xfrm>
            <a:off x="718458" y="938213"/>
            <a:ext cx="5467190" cy="5552394"/>
          </a:xfrm>
        </p:spPr>
        <p:txBody>
          <a:bodyPr/>
          <a:lstStyle/>
          <a:p>
            <a:pPr>
              <a:lnSpc>
                <a:spcPct val="110000"/>
              </a:lnSpc>
            </a:pPr>
            <a:r>
              <a:rPr lang="zh-CN" altLang="en-US" dirty="0"/>
              <a:t>输入：长度小于</a:t>
            </a:r>
            <a:r>
              <a:rPr lang="en-US" altLang="zh-CN" dirty="0"/>
              <a:t>2</a:t>
            </a:r>
            <a:r>
              <a:rPr lang="en-US" altLang="zh-CN" baseline="30000" dirty="0"/>
              <a:t>64</a:t>
            </a:r>
            <a:r>
              <a:rPr lang="zh-CN" altLang="en-US" dirty="0"/>
              <a:t>的明文</a:t>
            </a:r>
            <a:endParaRPr lang="en-US" altLang="zh-CN" dirty="0"/>
          </a:p>
          <a:p>
            <a:pPr>
              <a:lnSpc>
                <a:spcPct val="110000"/>
              </a:lnSpc>
            </a:pPr>
            <a:r>
              <a:rPr lang="zh-CN" altLang="en-US" dirty="0"/>
              <a:t>输出：</a:t>
            </a:r>
            <a:r>
              <a:rPr lang="en-US" altLang="zh-CN" dirty="0"/>
              <a:t>128</a:t>
            </a:r>
            <a:r>
              <a:rPr lang="zh-CN" altLang="en-US" dirty="0"/>
              <a:t>位的报文摘要</a:t>
            </a:r>
            <a:endParaRPr lang="zh-CN" altLang="en-US" dirty="0"/>
          </a:p>
          <a:p>
            <a:pPr>
              <a:lnSpc>
                <a:spcPct val="110000"/>
              </a:lnSpc>
            </a:pPr>
            <a:r>
              <a:rPr lang="en-US" altLang="zh-CN" dirty="0"/>
              <a:t>MD5</a:t>
            </a:r>
            <a:r>
              <a:rPr lang="zh-CN" altLang="en-US" dirty="0"/>
              <a:t>报文摘要流程</a:t>
            </a:r>
            <a:endParaRPr lang="en-US" altLang="zh-CN" dirty="0"/>
          </a:p>
          <a:p>
            <a:pPr marL="914400" lvl="1" indent="-457200">
              <a:lnSpc>
                <a:spcPct val="110000"/>
              </a:lnSpc>
              <a:buFont typeface="+mj-ea"/>
              <a:buAutoNum type="circleNumDbPlain"/>
            </a:pPr>
            <a:r>
              <a:rPr lang="zh-CN" altLang="en-US" dirty="0"/>
              <a:t>增加填充位，使长度模</a:t>
            </a:r>
            <a:r>
              <a:rPr lang="en-US" altLang="zh-CN" dirty="0"/>
              <a:t>512</a:t>
            </a:r>
            <a:r>
              <a:rPr lang="zh-CN" altLang="en-US" dirty="0"/>
              <a:t>等于</a:t>
            </a:r>
            <a:r>
              <a:rPr lang="en-US" altLang="zh-CN" dirty="0"/>
              <a:t>448</a:t>
            </a:r>
            <a:endParaRPr lang="en-US" altLang="zh-CN" dirty="0"/>
          </a:p>
          <a:p>
            <a:pPr lvl="2">
              <a:lnSpc>
                <a:spcPct val="110000"/>
              </a:lnSpc>
              <a:buFont typeface="Arial" panose="020B0604020202020204" pitchFamily="34" charset="0"/>
              <a:buChar char="•"/>
            </a:pPr>
            <a:r>
              <a:rPr lang="zh-CN" altLang="en-US" sz="2000" dirty="0"/>
              <a:t>填充由一个</a:t>
            </a:r>
            <a:r>
              <a:rPr lang="en-US" altLang="zh-CN" sz="2000" dirty="0"/>
              <a:t>1</a:t>
            </a:r>
            <a:r>
              <a:rPr lang="zh-CN" altLang="en-US" sz="2000" dirty="0"/>
              <a:t>和后续的</a:t>
            </a:r>
            <a:r>
              <a:rPr lang="en-US" altLang="zh-CN" sz="2000" dirty="0"/>
              <a:t>0</a:t>
            </a:r>
            <a:r>
              <a:rPr lang="zh-CN" altLang="en-US" sz="2000" dirty="0"/>
              <a:t>组成</a:t>
            </a:r>
            <a:endParaRPr lang="zh-CN" altLang="en-US" sz="2000" dirty="0"/>
          </a:p>
          <a:p>
            <a:pPr marL="914400" lvl="1" indent="-457200">
              <a:lnSpc>
                <a:spcPct val="110000"/>
              </a:lnSpc>
              <a:buFont typeface="+mj-ea"/>
              <a:buAutoNum type="circleNumDbPlain"/>
            </a:pPr>
            <a:r>
              <a:rPr lang="zh-CN" altLang="en-US" dirty="0"/>
              <a:t>填充长度，用</a:t>
            </a:r>
            <a:r>
              <a:rPr lang="en-US" altLang="zh-CN" dirty="0"/>
              <a:t>64</a:t>
            </a:r>
            <a:r>
              <a:rPr lang="zh-CN" altLang="en-US" dirty="0"/>
              <a:t>位表示原始消息长度，低位在前</a:t>
            </a:r>
            <a:endParaRPr lang="en-US" altLang="zh-CN" dirty="0"/>
          </a:p>
          <a:p>
            <a:pPr marL="914400" lvl="1" indent="-457200">
              <a:lnSpc>
                <a:spcPct val="110000"/>
              </a:lnSpc>
              <a:buFont typeface="+mj-ea"/>
              <a:buAutoNum type="circleNumDbPlain"/>
            </a:pPr>
            <a:r>
              <a:rPr lang="zh-CN" altLang="en-US" dirty="0"/>
              <a:t>明文分组，每组</a:t>
            </a:r>
            <a:r>
              <a:rPr lang="en-US" altLang="zh-CN" dirty="0"/>
              <a:t>512</a:t>
            </a:r>
            <a:r>
              <a:rPr lang="zh-CN" altLang="en-US" dirty="0"/>
              <a:t>位，分为</a:t>
            </a:r>
            <a:r>
              <a:rPr lang="en-US" altLang="zh-CN" dirty="0"/>
              <a:t>L</a:t>
            </a:r>
            <a:r>
              <a:rPr lang="zh-CN" altLang="en-US" dirty="0"/>
              <a:t>组</a:t>
            </a:r>
            <a:endParaRPr lang="zh-CN" altLang="en-US" dirty="0"/>
          </a:p>
          <a:p>
            <a:pPr marL="914400" lvl="1" indent="-457200">
              <a:lnSpc>
                <a:spcPct val="110000"/>
              </a:lnSpc>
              <a:buFont typeface="+mj-ea"/>
              <a:buAutoNum type="circleNumDbPlain"/>
            </a:pPr>
            <a:r>
              <a:rPr lang="zh-CN" altLang="en-US" dirty="0"/>
              <a:t>初始化</a:t>
            </a:r>
            <a:r>
              <a:rPr lang="en-US" altLang="zh-CN" dirty="0"/>
              <a:t>MD</a:t>
            </a:r>
            <a:r>
              <a:rPr lang="zh-CN" altLang="en-US" dirty="0"/>
              <a:t>缓冲区</a:t>
            </a:r>
            <a:endParaRPr lang="zh-CN" altLang="en-US" dirty="0"/>
          </a:p>
          <a:p>
            <a:pPr marL="914400" lvl="1" indent="-457200">
              <a:lnSpc>
                <a:spcPct val="110000"/>
              </a:lnSpc>
              <a:buFont typeface="+mj-ea"/>
              <a:buAutoNum type="circleNumDbPlain"/>
            </a:pPr>
            <a:r>
              <a:rPr lang="zh-CN" altLang="en-US" dirty="0"/>
              <a:t>逐个分组用</a:t>
            </a:r>
            <a:r>
              <a:rPr lang="en-US" altLang="zh-CN" dirty="0"/>
              <a:t>H</a:t>
            </a:r>
            <a:r>
              <a:rPr lang="en-US" altLang="zh-CN" baseline="-25000" dirty="0"/>
              <a:t>MD5</a:t>
            </a:r>
            <a:r>
              <a:rPr lang="zh-CN" altLang="en-US" dirty="0"/>
              <a:t>处理消息。每组分为</a:t>
            </a:r>
            <a:r>
              <a:rPr lang="en-US" altLang="zh-CN" dirty="0"/>
              <a:t>16</a:t>
            </a:r>
            <a:r>
              <a:rPr lang="zh-CN" altLang="en-US" dirty="0"/>
              <a:t>个</a:t>
            </a:r>
            <a:r>
              <a:rPr lang="en-US" altLang="zh-CN" dirty="0"/>
              <a:t>32</a:t>
            </a:r>
            <a:r>
              <a:rPr lang="zh-CN" altLang="en-US" dirty="0"/>
              <a:t>位字，</a:t>
            </a:r>
            <a:r>
              <a:rPr lang="en-US" altLang="zh-CN" dirty="0"/>
              <a:t>M[k], k = 0, 1, 2…, 15</a:t>
            </a:r>
            <a:endParaRPr lang="zh-CN" altLang="en-US" dirty="0"/>
          </a:p>
          <a:p>
            <a:pPr marL="914400" lvl="1" indent="-457200">
              <a:lnSpc>
                <a:spcPct val="110000"/>
              </a:lnSpc>
              <a:buFont typeface="+mj-ea"/>
              <a:buAutoNum type="circleNumDbPlain"/>
            </a:pPr>
            <a:r>
              <a:rPr lang="zh-CN" altLang="en-US" dirty="0"/>
              <a:t>输出</a:t>
            </a:r>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6260243" y="1976684"/>
            <a:ext cx="5833146" cy="4065527"/>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MD5</a:t>
            </a:r>
            <a:r>
              <a:rPr lang="zh-CN" altLang="en-US" dirty="0"/>
              <a:t>的压缩函数</a:t>
            </a:r>
            <a:r>
              <a:rPr lang="en-US" altLang="zh-CN" dirty="0"/>
              <a:t>H</a:t>
            </a:r>
            <a:r>
              <a:rPr lang="en-US" altLang="zh-CN" baseline="-25000" dirty="0"/>
              <a:t>MD5</a:t>
            </a:r>
            <a:endParaRPr lang="zh-CN" altLang="en-US" dirty="0"/>
          </a:p>
        </p:txBody>
      </p:sp>
      <p:sp>
        <p:nvSpPr>
          <p:cNvPr id="3" name="文本占位符 2"/>
          <p:cNvSpPr>
            <a:spLocks noGrp="1"/>
          </p:cNvSpPr>
          <p:nvPr>
            <p:ph type="body" sz="quarter" idx="10"/>
          </p:nvPr>
        </p:nvSpPr>
        <p:spPr>
          <a:xfrm>
            <a:off x="718458" y="938213"/>
            <a:ext cx="6408483" cy="5552394"/>
          </a:xfrm>
        </p:spPr>
        <p:txBody>
          <a:bodyPr/>
          <a:lstStyle/>
          <a:p>
            <a:pPr>
              <a:lnSpc>
                <a:spcPct val="110000"/>
              </a:lnSpc>
            </a:pPr>
            <a:r>
              <a:rPr lang="zh-CN" altLang="en-US" dirty="0"/>
              <a:t>压缩函数</a:t>
            </a:r>
            <a:r>
              <a:rPr lang="en-US" altLang="zh-CN" dirty="0"/>
              <a:t>H</a:t>
            </a:r>
            <a:r>
              <a:rPr lang="en-US" altLang="zh-CN" baseline="-25000" dirty="0"/>
              <a:t>MD5</a:t>
            </a:r>
            <a:endParaRPr lang="en-US" altLang="zh-CN" dirty="0"/>
          </a:p>
          <a:p>
            <a:pPr lvl="1">
              <a:lnSpc>
                <a:spcPct val="110000"/>
              </a:lnSpc>
            </a:pPr>
            <a:r>
              <a:rPr lang="zh-CN" altLang="en-US" dirty="0"/>
              <a:t>由四轮运算组成，每轮</a:t>
            </a:r>
            <a:r>
              <a:rPr lang="en-US" altLang="zh-CN" dirty="0"/>
              <a:t>16</a:t>
            </a:r>
            <a:r>
              <a:rPr lang="zh-CN" altLang="en-US" dirty="0"/>
              <a:t>步，共</a:t>
            </a:r>
            <a:r>
              <a:rPr lang="en-US" altLang="zh-CN" dirty="0"/>
              <a:t>64</a:t>
            </a:r>
            <a:r>
              <a:rPr lang="zh-CN" altLang="en-US" dirty="0"/>
              <a:t>步</a:t>
            </a:r>
            <a:endParaRPr lang="en-US" altLang="zh-CN" dirty="0"/>
          </a:p>
          <a:p>
            <a:pPr lvl="1">
              <a:lnSpc>
                <a:spcPct val="110000"/>
              </a:lnSpc>
            </a:pPr>
            <a:r>
              <a:rPr lang="zh-CN" altLang="en-US" dirty="0"/>
              <a:t>每步对</a:t>
            </a:r>
            <a:r>
              <a:rPr lang="en-US" altLang="zh-CN" dirty="0"/>
              <a:t>4</a:t>
            </a:r>
            <a:r>
              <a:rPr lang="zh-CN" altLang="en-US" dirty="0"/>
              <a:t>个</a:t>
            </a:r>
            <a:r>
              <a:rPr lang="en-US" altLang="zh-CN" dirty="0"/>
              <a:t>32</a:t>
            </a:r>
            <a:r>
              <a:rPr lang="zh-CN" altLang="en-US" dirty="0"/>
              <a:t>位寄存器</a:t>
            </a:r>
            <a:r>
              <a:rPr lang="en-US" altLang="zh-CN" dirty="0"/>
              <a:t>A,B,C,D</a:t>
            </a:r>
            <a:r>
              <a:rPr lang="zh-CN" altLang="en-US" dirty="0"/>
              <a:t>中的数据进行处理</a:t>
            </a:r>
            <a:endParaRPr lang="en-US" altLang="zh-CN" dirty="0"/>
          </a:p>
          <a:p>
            <a:pPr lvl="1">
              <a:lnSpc>
                <a:spcPct val="110000"/>
              </a:lnSpc>
            </a:pPr>
            <a:r>
              <a:rPr lang="zh-CN" altLang="en-US" dirty="0"/>
              <a:t>最后</a:t>
            </a:r>
            <a:r>
              <a:rPr lang="en-US" altLang="zh-CN" dirty="0"/>
              <a:t>A,B,C,D</a:t>
            </a:r>
            <a:r>
              <a:rPr lang="zh-CN" altLang="en-US" dirty="0"/>
              <a:t>中的值即为</a:t>
            </a:r>
            <a:r>
              <a:rPr lang="en-US" altLang="zh-CN" dirty="0"/>
              <a:t>128</a:t>
            </a:r>
            <a:r>
              <a:rPr lang="zh-CN" altLang="en-US" dirty="0"/>
              <a:t>位摘要</a:t>
            </a:r>
            <a:endParaRPr lang="zh-CN" altLang="en-US" dirty="0"/>
          </a:p>
          <a:p>
            <a:pPr lvl="1">
              <a:lnSpc>
                <a:spcPct val="110000"/>
              </a:lnSpc>
            </a:pPr>
            <a:r>
              <a:rPr lang="en-US" altLang="zh-CN" dirty="0"/>
              <a:t>4</a:t>
            </a:r>
            <a:r>
              <a:rPr lang="zh-CN" altLang="en-US" dirty="0"/>
              <a:t>个</a:t>
            </a:r>
            <a:r>
              <a:rPr lang="en-US" altLang="zh-CN" dirty="0"/>
              <a:t>32</a:t>
            </a:r>
            <a:r>
              <a:rPr lang="zh-CN" altLang="en-US" dirty="0"/>
              <a:t>位的寄存器初始值</a:t>
            </a:r>
            <a:r>
              <a:rPr lang="en-US" altLang="zh-CN" dirty="0"/>
              <a:t>(</a:t>
            </a:r>
            <a:r>
              <a:rPr lang="zh-CN" altLang="en-US" dirty="0"/>
              <a:t>低字节在前）是：</a:t>
            </a:r>
            <a:endParaRPr lang="zh-CN" altLang="en-US" dirty="0"/>
          </a:p>
          <a:p>
            <a:pPr marL="447675" lvl="1" indent="9525">
              <a:lnSpc>
                <a:spcPct val="90000"/>
              </a:lnSpc>
              <a:buNone/>
              <a:tabLst>
                <a:tab pos="1255395" algn="l"/>
              </a:tabLst>
            </a:pPr>
            <a:r>
              <a:rPr lang="en-US" altLang="zh-CN" dirty="0">
                <a:latin typeface="Consolas" panose="020B0609020204030204" pitchFamily="49" charset="0"/>
              </a:rPr>
              <a:t>	A = 67452301;</a:t>
            </a:r>
            <a:endParaRPr lang="en-US" altLang="zh-CN" dirty="0">
              <a:latin typeface="Consolas" panose="020B0609020204030204" pitchFamily="49" charset="0"/>
            </a:endParaRPr>
          </a:p>
          <a:p>
            <a:pPr marL="447675" lvl="1" indent="9525">
              <a:lnSpc>
                <a:spcPct val="90000"/>
              </a:lnSpc>
              <a:buNone/>
              <a:tabLst>
                <a:tab pos="1255395" algn="l"/>
              </a:tabLst>
            </a:pPr>
            <a:r>
              <a:rPr lang="en-US" altLang="zh-CN" dirty="0">
                <a:latin typeface="Consolas" panose="020B0609020204030204" pitchFamily="49" charset="0"/>
              </a:rPr>
              <a:t>	B = EFCDAB89;</a:t>
            </a:r>
            <a:endParaRPr lang="en-US" altLang="zh-CN" dirty="0">
              <a:latin typeface="Consolas" panose="020B0609020204030204" pitchFamily="49" charset="0"/>
            </a:endParaRPr>
          </a:p>
          <a:p>
            <a:pPr marL="447675" lvl="1" indent="9525">
              <a:lnSpc>
                <a:spcPct val="90000"/>
              </a:lnSpc>
              <a:buNone/>
              <a:tabLst>
                <a:tab pos="1255395" algn="l"/>
              </a:tabLst>
            </a:pPr>
            <a:r>
              <a:rPr lang="en-US" altLang="zh-CN" dirty="0">
                <a:latin typeface="Consolas" panose="020B0609020204030204" pitchFamily="49" charset="0"/>
              </a:rPr>
              <a:t>	C = 98BADCFE;</a:t>
            </a:r>
            <a:endParaRPr lang="en-US" altLang="zh-CN" dirty="0">
              <a:latin typeface="Consolas" panose="020B0609020204030204" pitchFamily="49" charset="0"/>
            </a:endParaRPr>
          </a:p>
          <a:p>
            <a:pPr marL="447675" lvl="1" indent="9525">
              <a:lnSpc>
                <a:spcPct val="90000"/>
              </a:lnSpc>
              <a:buNone/>
              <a:tabLst>
                <a:tab pos="1255395" algn="l"/>
              </a:tabLst>
            </a:pPr>
            <a:r>
              <a:rPr lang="en-US" altLang="zh-CN" dirty="0">
                <a:latin typeface="Consolas" panose="020B0609020204030204" pitchFamily="49" charset="0"/>
              </a:rPr>
              <a:t>	D = 10325476;</a:t>
            </a:r>
            <a:endParaRPr lang="en-US" altLang="zh-CN" dirty="0">
              <a:latin typeface="Consolas" panose="020B0609020204030204" pitchFamily="49" charset="0"/>
            </a:endParaRPr>
          </a:p>
          <a:p>
            <a:pPr lvl="1"/>
            <a:r>
              <a:rPr lang="zh-CN" altLang="en-US" dirty="0"/>
              <a:t>每轮都将</a:t>
            </a:r>
            <a:r>
              <a:rPr lang="en-US" altLang="zh-CN" dirty="0"/>
              <a:t>512</a:t>
            </a:r>
            <a:r>
              <a:rPr lang="zh-CN" altLang="en-US" dirty="0"/>
              <a:t>位输入使用一遍，共四遍</a:t>
            </a:r>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7489502" y="672675"/>
            <a:ext cx="4442459" cy="5367971"/>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MD5</a:t>
            </a:r>
            <a:r>
              <a:rPr lang="zh-CN" altLang="en-US" dirty="0"/>
              <a:t>单步操作</a:t>
            </a:r>
            <a:r>
              <a:rPr lang="en-US" altLang="zh-CN" dirty="0"/>
              <a:t>(</a:t>
            </a:r>
            <a:r>
              <a:rPr lang="zh-CN" altLang="en-US" dirty="0"/>
              <a:t>压缩函数</a:t>
            </a:r>
            <a:r>
              <a:rPr lang="en-US" altLang="zh-CN" dirty="0"/>
              <a:t>)</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a:t>
            </a:r>
            <a:r>
              <a:rPr lang="en-US" altLang="zh-CN" dirty="0" err="1"/>
              <a:t>a,b,c,d</a:t>
            </a:r>
            <a:r>
              <a:rPr lang="en-US" altLang="zh-CN" dirty="0"/>
              <a:t>}</a:t>
            </a:r>
            <a:r>
              <a:rPr lang="en-US" altLang="zh-CN" dirty="0">
                <a:sym typeface="Symbol" panose="05050102010706020507" pitchFamily="18" charset="2"/>
              </a:rPr>
              <a:t>{d,</a:t>
            </a:r>
            <a:r>
              <a:rPr lang="en-US" altLang="zh-CN" dirty="0"/>
              <a:t>((</a:t>
            </a:r>
            <a:r>
              <a:rPr lang="en-US" altLang="zh-CN" dirty="0" err="1"/>
              <a:t>a+g</a:t>
            </a:r>
            <a:r>
              <a:rPr lang="en-US" altLang="zh-CN" dirty="0"/>
              <a:t>(</a:t>
            </a:r>
            <a:r>
              <a:rPr lang="en-US" altLang="zh-CN" dirty="0" err="1"/>
              <a:t>b,c,d</a:t>
            </a:r>
            <a:r>
              <a:rPr lang="en-US" altLang="zh-CN" dirty="0"/>
              <a:t>)+M[k]+T[</a:t>
            </a:r>
            <a:r>
              <a:rPr lang="en-US" altLang="zh-CN" dirty="0" err="1"/>
              <a:t>i</a:t>
            </a:r>
            <a:r>
              <a:rPr lang="en-US" altLang="zh-CN" dirty="0"/>
              <a:t>])&lt;&lt;&lt;s)+</a:t>
            </a:r>
            <a:r>
              <a:rPr lang="en-US" altLang="zh-CN" dirty="0" err="1"/>
              <a:t>b,b,c</a:t>
            </a:r>
            <a:r>
              <a:rPr lang="en-US" altLang="zh-CN" dirty="0"/>
              <a:t>}</a:t>
            </a:r>
            <a:endParaRPr lang="en-US" altLang="zh-CN" dirty="0"/>
          </a:p>
          <a:p>
            <a:pPr lvl="1"/>
            <a:r>
              <a:rPr lang="en-US" altLang="zh-CN" dirty="0" err="1">
                <a:solidFill>
                  <a:srgbClr val="C00000"/>
                </a:solidFill>
              </a:rPr>
              <a:t>a,b,c,d</a:t>
            </a:r>
            <a:r>
              <a:rPr lang="zh-CN" altLang="en-US" dirty="0">
                <a:solidFill>
                  <a:srgbClr val="C00000"/>
                </a:solidFill>
              </a:rPr>
              <a:t>是寄存器</a:t>
            </a:r>
            <a:r>
              <a:rPr lang="en-US" altLang="zh-CN" dirty="0">
                <a:solidFill>
                  <a:srgbClr val="C00000"/>
                </a:solidFill>
              </a:rPr>
              <a:t>A,B,C,D</a:t>
            </a:r>
            <a:r>
              <a:rPr lang="zh-CN" altLang="en-US" dirty="0">
                <a:solidFill>
                  <a:srgbClr val="C00000"/>
                </a:solidFill>
              </a:rPr>
              <a:t>的别名，它按一定次序变化</a:t>
            </a:r>
            <a:endParaRPr lang="en-US" altLang="zh-CN" dirty="0">
              <a:solidFill>
                <a:srgbClr val="C00000"/>
              </a:solidFill>
            </a:endParaRPr>
          </a:p>
          <a:p>
            <a:pPr marL="914400" lvl="1" indent="-457200">
              <a:buFont typeface="+mj-lt"/>
              <a:buAutoNum type="arabicPeriod"/>
            </a:pPr>
            <a:r>
              <a:rPr lang="en-US" altLang="zh-CN" dirty="0" err="1"/>
              <a:t>bcd</a:t>
            </a:r>
            <a:r>
              <a:rPr lang="zh-CN" altLang="en-US" dirty="0"/>
              <a:t>寄存器的内容以</a:t>
            </a:r>
            <a:r>
              <a:rPr lang="zh-CN" altLang="en-US" dirty="0">
                <a:solidFill>
                  <a:srgbClr val="0070C0"/>
                </a:solidFill>
              </a:rPr>
              <a:t>非线性函数</a:t>
            </a:r>
            <a:r>
              <a:rPr lang="en-US" altLang="zh-CN" dirty="0">
                <a:solidFill>
                  <a:srgbClr val="0070C0"/>
                </a:solidFill>
              </a:rPr>
              <a:t>g</a:t>
            </a:r>
            <a:r>
              <a:rPr lang="zh-CN" altLang="en-US" dirty="0"/>
              <a:t>处理。</a:t>
            </a:r>
            <a:br>
              <a:rPr lang="en-US" altLang="zh-CN" dirty="0"/>
            </a:br>
            <a:r>
              <a:rPr lang="en-US" altLang="zh-CN" dirty="0"/>
              <a:t>g</a:t>
            </a:r>
            <a:r>
              <a:rPr lang="zh-CN" altLang="en-US" dirty="0"/>
              <a:t>是每轮对应的非线性函数</a:t>
            </a:r>
            <a:r>
              <a:rPr lang="en-US" altLang="zh-CN" dirty="0"/>
              <a:t>F,G,H,I</a:t>
            </a:r>
            <a:endParaRPr lang="en-US" altLang="zh-CN" dirty="0"/>
          </a:p>
          <a:p>
            <a:pPr marL="914400" lvl="1" indent="-457200">
              <a:buFont typeface="+mj-lt"/>
              <a:buAutoNum type="arabicPeriod"/>
            </a:pPr>
            <a:endParaRPr lang="en-US" altLang="zh-CN" dirty="0"/>
          </a:p>
          <a:p>
            <a:pPr marL="914400" lvl="1" indent="-457200">
              <a:buFont typeface="+mj-lt"/>
              <a:buAutoNum type="arabicPeriod"/>
            </a:pPr>
            <a:endParaRPr lang="en-US" altLang="zh-CN" dirty="0"/>
          </a:p>
          <a:p>
            <a:pPr marL="914400" lvl="1" indent="-457200">
              <a:buFont typeface="+mj-lt"/>
              <a:buAutoNum type="arabicPeriod"/>
            </a:pPr>
            <a:endParaRPr lang="en-US" altLang="zh-CN" dirty="0"/>
          </a:p>
          <a:p>
            <a:pPr marL="914400" lvl="1" indent="-457200">
              <a:buFont typeface="+mj-lt"/>
              <a:buAutoNum type="arabicPeriod"/>
            </a:pPr>
            <a:endParaRPr lang="en-US" altLang="zh-CN" dirty="0"/>
          </a:p>
          <a:p>
            <a:pPr marL="914400" lvl="1" indent="-457200">
              <a:buFont typeface="+mj-lt"/>
              <a:buAutoNum type="arabicPeriod"/>
            </a:pPr>
            <a:endParaRPr lang="en-US" altLang="zh-CN" dirty="0"/>
          </a:p>
          <a:p>
            <a:pPr marL="914400" lvl="1" indent="-457200">
              <a:buFont typeface="+mj-lt"/>
              <a:buAutoNum type="arabicPeriod"/>
            </a:pPr>
            <a:endParaRPr lang="en-US" altLang="zh-CN" dirty="0"/>
          </a:p>
          <a:p>
            <a:pPr marL="914400" lvl="1" indent="-457200">
              <a:buFont typeface="+mj-lt"/>
              <a:buAutoNum type="arabicPeriod"/>
            </a:pPr>
            <a:r>
              <a:rPr lang="zh-CN" altLang="en-US" dirty="0"/>
              <a:t>结果与寄存器</a:t>
            </a:r>
            <a:r>
              <a:rPr lang="en-US" altLang="zh-CN" dirty="0"/>
              <a:t>a </a:t>
            </a:r>
            <a:r>
              <a:rPr lang="zh-CN" altLang="en-US" dirty="0"/>
              <a:t>、</a:t>
            </a:r>
            <a:r>
              <a:rPr lang="en-US" altLang="zh-CN" dirty="0"/>
              <a:t>32</a:t>
            </a:r>
            <a:r>
              <a:rPr lang="zh-CN" altLang="en-US" dirty="0"/>
              <a:t>位子明文块</a:t>
            </a:r>
            <a:r>
              <a:rPr lang="en-US" altLang="zh-CN" dirty="0">
                <a:solidFill>
                  <a:srgbClr val="0070C0"/>
                </a:solidFill>
              </a:rPr>
              <a:t>M[k]</a:t>
            </a:r>
            <a:r>
              <a:rPr lang="zh-CN" altLang="en-US" dirty="0"/>
              <a:t>、</a:t>
            </a:r>
            <a:br>
              <a:rPr lang="en-US" altLang="zh-CN" dirty="0"/>
            </a:br>
            <a:r>
              <a:rPr lang="zh-CN" altLang="en-US" dirty="0"/>
              <a:t>一个固定数</a:t>
            </a:r>
            <a:r>
              <a:rPr lang="en-US" altLang="zh-CN" dirty="0">
                <a:solidFill>
                  <a:srgbClr val="0070C0"/>
                </a:solidFill>
              </a:rPr>
              <a:t>T[</a:t>
            </a:r>
            <a:r>
              <a:rPr lang="en-US" altLang="zh-CN" dirty="0" err="1">
                <a:solidFill>
                  <a:srgbClr val="0070C0"/>
                </a:solidFill>
              </a:rPr>
              <a:t>i</a:t>
            </a:r>
            <a:r>
              <a:rPr lang="en-US" altLang="zh-CN" dirty="0">
                <a:solidFill>
                  <a:srgbClr val="0070C0"/>
                </a:solidFill>
              </a:rPr>
              <a:t>]</a:t>
            </a:r>
            <a:r>
              <a:rPr lang="zh-CN" altLang="en-US" dirty="0"/>
              <a:t>相加。“</a:t>
            </a:r>
            <a:r>
              <a:rPr lang="en-US" altLang="zh-CN" dirty="0"/>
              <a:t>+</a:t>
            </a:r>
            <a:r>
              <a:rPr lang="zh-CN" altLang="en-US" dirty="0"/>
              <a:t>”是模</a:t>
            </a:r>
            <a:r>
              <a:rPr lang="en-US" altLang="zh-CN" dirty="0"/>
              <a:t>2</a:t>
            </a:r>
            <a:r>
              <a:rPr lang="en-US" altLang="zh-CN" baseline="30000" dirty="0"/>
              <a:t>32</a:t>
            </a:r>
            <a:r>
              <a:rPr lang="zh-CN" altLang="en-US" dirty="0"/>
              <a:t>加法</a:t>
            </a:r>
            <a:endParaRPr lang="en-US" altLang="zh-CN" dirty="0"/>
          </a:p>
          <a:p>
            <a:pPr marL="914400" lvl="1" indent="-457200">
              <a:buFont typeface="+mj-lt"/>
              <a:buAutoNum type="arabicPeriod"/>
            </a:pPr>
            <a:r>
              <a:rPr lang="zh-CN" altLang="en-US" dirty="0"/>
              <a:t>结果左移</a:t>
            </a:r>
            <a:r>
              <a:rPr lang="en-US" altLang="zh-CN" dirty="0">
                <a:solidFill>
                  <a:srgbClr val="0070C0"/>
                </a:solidFill>
              </a:rPr>
              <a:t>s</a:t>
            </a:r>
            <a:r>
              <a:rPr lang="zh-CN" altLang="en-US" dirty="0">
                <a:solidFill>
                  <a:srgbClr val="0070C0"/>
                </a:solidFill>
              </a:rPr>
              <a:t>位</a:t>
            </a:r>
            <a:r>
              <a:rPr lang="zh-CN" altLang="en-US" dirty="0"/>
              <a:t>，再与寄存器</a:t>
            </a:r>
            <a:r>
              <a:rPr lang="en-US" altLang="zh-CN" dirty="0"/>
              <a:t>b</a:t>
            </a:r>
            <a:r>
              <a:rPr lang="zh-CN" altLang="en-US" dirty="0"/>
              <a:t>相加</a:t>
            </a:r>
            <a:endParaRPr lang="en-US" altLang="zh-CN" dirty="0"/>
          </a:p>
          <a:p>
            <a:pPr marL="914400" lvl="1" indent="-457200">
              <a:buFont typeface="+mj-lt"/>
              <a:buAutoNum type="arabicPeriod"/>
            </a:pPr>
            <a:r>
              <a:rPr lang="zh-CN" altLang="en-US" dirty="0"/>
              <a:t>最后的</a:t>
            </a:r>
            <a:r>
              <a:rPr lang="en-US" altLang="zh-CN" dirty="0"/>
              <a:t>32</a:t>
            </a:r>
            <a:r>
              <a:rPr lang="zh-CN" altLang="en-US" dirty="0"/>
              <a:t>位结果重新存入</a:t>
            </a:r>
            <a:r>
              <a:rPr lang="en-US" altLang="zh-CN" dirty="0" err="1"/>
              <a:t>abcd</a:t>
            </a:r>
            <a:endParaRPr lang="zh-CN" altLang="en-US" dirty="0"/>
          </a:p>
          <a:p>
            <a:endParaRPr lang="zh-CN" altLang="en-US" dirty="0"/>
          </a:p>
        </p:txBody>
      </p:sp>
      <p:pic>
        <p:nvPicPr>
          <p:cNvPr id="5" name="Picture 3"/>
          <p:cNvPicPr>
            <a:picLocks noChangeAspect="1" noChangeArrowheads="1"/>
          </p:cNvPicPr>
          <p:nvPr/>
        </p:nvPicPr>
        <p:blipFill>
          <a:blip r:embed="rId1" cstate="print"/>
          <a:srcRect/>
          <a:stretch>
            <a:fillRect/>
          </a:stretch>
        </p:blipFill>
        <p:spPr bwMode="auto">
          <a:xfrm>
            <a:off x="6705600" y="1936213"/>
            <a:ext cx="3738282" cy="3841461"/>
          </a:xfrm>
          <a:prstGeom prst="rect">
            <a:avLst/>
          </a:prstGeom>
          <a:noFill/>
          <a:ln w="9525">
            <a:noFill/>
            <a:miter lim="800000"/>
            <a:headEnd/>
            <a:tailEnd/>
          </a:ln>
          <a:effectLst/>
        </p:spPr>
      </p:pic>
      <p:graphicFrame>
        <p:nvGraphicFramePr>
          <p:cNvPr id="6" name="表格 6"/>
          <p:cNvGraphicFramePr>
            <a:graphicFrameLocks noGrp="1"/>
          </p:cNvGraphicFramePr>
          <p:nvPr/>
        </p:nvGraphicFramePr>
        <p:xfrm>
          <a:off x="7116484" y="1900353"/>
          <a:ext cx="3291540" cy="365760"/>
        </p:xfrm>
        <a:graphic>
          <a:graphicData uri="http://schemas.openxmlformats.org/drawingml/2006/table">
            <a:tbl>
              <a:tblPr firstRow="1" bandRow="1">
                <a:tableStyleId>{5C22544A-7EE6-4342-B048-85BDC9FD1C3A}</a:tableStyleId>
              </a:tblPr>
              <a:tblGrid>
                <a:gridCol w="822885"/>
                <a:gridCol w="822885"/>
                <a:gridCol w="822885"/>
                <a:gridCol w="822885"/>
              </a:tblGrid>
              <a:tr h="272364">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a</a:t>
                      </a:r>
                      <a:endParaRPr lang="zh-CN" altLang="en-US" dirty="0">
                        <a:solidFill>
                          <a:schemeClr val="tx1"/>
                        </a:solidFill>
                        <a:latin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b</a:t>
                      </a:r>
                      <a:endParaRPr lang="zh-CN" altLang="en-US" dirty="0">
                        <a:solidFill>
                          <a:schemeClr val="tx1"/>
                        </a:solidFill>
                        <a:latin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c</a:t>
                      </a:r>
                      <a:endParaRPr lang="zh-CN" altLang="en-US" dirty="0">
                        <a:solidFill>
                          <a:schemeClr val="tx1"/>
                        </a:solidFill>
                        <a:latin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d</a:t>
                      </a:r>
                      <a:endParaRPr lang="zh-CN" altLang="en-US" dirty="0">
                        <a:solidFill>
                          <a:schemeClr val="tx1"/>
                        </a:solidFill>
                        <a:latin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bl>
          </a:graphicData>
        </a:graphic>
      </p:graphicFrame>
      <p:graphicFrame>
        <p:nvGraphicFramePr>
          <p:cNvPr id="7" name="表格 6"/>
          <p:cNvGraphicFramePr>
            <a:graphicFrameLocks noGrp="1"/>
          </p:cNvGraphicFramePr>
          <p:nvPr/>
        </p:nvGraphicFramePr>
        <p:xfrm>
          <a:off x="7116484" y="5438809"/>
          <a:ext cx="3291540" cy="365760"/>
        </p:xfrm>
        <a:graphic>
          <a:graphicData uri="http://schemas.openxmlformats.org/drawingml/2006/table">
            <a:tbl>
              <a:tblPr firstRow="1" bandRow="1">
                <a:tableStyleId>{5C22544A-7EE6-4342-B048-85BDC9FD1C3A}</a:tableStyleId>
              </a:tblPr>
              <a:tblGrid>
                <a:gridCol w="822885"/>
                <a:gridCol w="822885"/>
                <a:gridCol w="822885"/>
                <a:gridCol w="822885"/>
              </a:tblGrid>
              <a:tr h="272364">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a</a:t>
                      </a:r>
                      <a:endParaRPr lang="zh-CN" altLang="en-US" dirty="0">
                        <a:solidFill>
                          <a:schemeClr val="tx1"/>
                        </a:solidFill>
                        <a:latin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b</a:t>
                      </a:r>
                      <a:endParaRPr lang="zh-CN" altLang="en-US" dirty="0">
                        <a:solidFill>
                          <a:schemeClr val="tx1"/>
                        </a:solidFill>
                        <a:latin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c</a:t>
                      </a:r>
                      <a:endParaRPr lang="zh-CN" altLang="en-US" dirty="0">
                        <a:solidFill>
                          <a:schemeClr val="tx1"/>
                        </a:solidFill>
                        <a:latin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d</a:t>
                      </a:r>
                      <a:endParaRPr lang="zh-CN" altLang="en-US" dirty="0">
                        <a:solidFill>
                          <a:schemeClr val="tx1"/>
                        </a:solidFill>
                        <a:latin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bl>
          </a:graphicData>
        </a:graphic>
      </p:graphicFrame>
      <p:graphicFrame>
        <p:nvGraphicFramePr>
          <p:cNvPr id="11" name="Group 0"/>
          <p:cNvGraphicFramePr/>
          <p:nvPr/>
        </p:nvGraphicFramePr>
        <p:xfrm>
          <a:off x="1595407" y="2519209"/>
          <a:ext cx="4500593" cy="1981200"/>
        </p:xfrm>
        <a:graphic>
          <a:graphicData uri="http://schemas.openxmlformats.org/drawingml/2006/table">
            <a:tbl>
              <a:tblPr>
                <a:tableStyleId>{5940675A-B579-460E-94D1-54222C63F5DA}</a:tableStyleId>
              </a:tblPr>
              <a:tblGrid>
                <a:gridCol w="587033"/>
                <a:gridCol w="1434971"/>
                <a:gridCol w="2478589"/>
              </a:tblGrid>
              <a:tr h="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zh-CN" altLang="en-US"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轮</a:t>
                      </a:r>
                      <a:endParaRPr kumimoji="0" lang="zh-CN" altLang="en-US"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zh-CN" altLang="en-US"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表  示</a:t>
                      </a:r>
                      <a:endParaRPr kumimoji="0" lang="zh-CN" altLang="en-US"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zh-CN" altLang="en-US"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定  义</a:t>
                      </a:r>
                      <a:endParaRPr kumimoji="0" lang="zh-CN" altLang="en-US"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r>
              <a:tr h="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a:ln>
                            <a:noFill/>
                          </a:ln>
                          <a:effectLst/>
                          <a:latin typeface="Times New Roman" panose="02020603050405020304" pitchFamily="18" charset="0"/>
                          <a:ea typeface="楷体" panose="02010609060101010101" pitchFamily="49" charset="-122"/>
                          <a:cs typeface="Times New Roman" panose="02020603050405020304" pitchFamily="18" charset="0"/>
                        </a:rPr>
                        <a:t>1</a:t>
                      </a:r>
                      <a:endParaRPr kumimoji="0" lang="en-US" altLang="zh-CN" sz="2000" b="1" i="0" u="none" strike="noStrike" cap="none" normalizeH="0" baseline="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F(b, c, 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u="none" strike="noStrike" cap="none" normalizeH="0" baseline="0" dirty="0" err="1">
                          <a:ln>
                            <a:noFill/>
                          </a:ln>
                          <a:effectLst/>
                          <a:latin typeface="Times New Roman" panose="02020603050405020304" pitchFamily="18" charset="0"/>
                          <a:ea typeface="楷体" panose="02010609060101010101" pitchFamily="49" charset="-122"/>
                          <a:cs typeface="Times New Roman" panose="02020603050405020304" pitchFamily="18" charset="0"/>
                        </a:rPr>
                        <a:t>b&amp;c</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 | ((~b)&amp;d)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r h="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a:ln>
                            <a:noFill/>
                          </a:ln>
                          <a:effectLst/>
                          <a:latin typeface="Times New Roman" panose="02020603050405020304" pitchFamily="18" charset="0"/>
                          <a:ea typeface="楷体" panose="02010609060101010101" pitchFamily="49" charset="-122"/>
                          <a:cs typeface="Times New Roman" panose="02020603050405020304" pitchFamily="18" charset="0"/>
                        </a:rPr>
                        <a:t>2</a:t>
                      </a:r>
                      <a:endParaRPr kumimoji="0" lang="en-US" altLang="zh-CN" sz="2000" b="1" i="0" u="none" strike="noStrike" cap="none" normalizeH="0" baseline="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G(b, c, 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u="none" strike="noStrike" cap="none" normalizeH="0" baseline="0" dirty="0" err="1">
                          <a:ln>
                            <a:noFill/>
                          </a:ln>
                          <a:effectLst/>
                          <a:latin typeface="Times New Roman" panose="02020603050405020304" pitchFamily="18" charset="0"/>
                          <a:ea typeface="楷体" panose="02010609060101010101" pitchFamily="49" charset="-122"/>
                          <a:cs typeface="Times New Roman" panose="02020603050405020304" pitchFamily="18" charset="0"/>
                        </a:rPr>
                        <a:t>b&amp;d</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 | (c&amp;(~</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r h="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a:ln>
                            <a:noFill/>
                          </a:ln>
                          <a:effectLst/>
                          <a:latin typeface="Times New Roman" panose="02020603050405020304" pitchFamily="18" charset="0"/>
                          <a:ea typeface="楷体" panose="02010609060101010101" pitchFamily="49" charset="-122"/>
                          <a:cs typeface="Times New Roman" panose="02020603050405020304" pitchFamily="18" charset="0"/>
                        </a:rPr>
                        <a:t>3</a:t>
                      </a:r>
                      <a:endParaRPr kumimoji="0" lang="en-US" altLang="zh-CN" sz="2000" b="1" i="0" u="none" strike="noStrike" cap="none" normalizeH="0" baseline="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H(b, c, 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err="1">
                          <a:ln>
                            <a:noFill/>
                          </a:ln>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bcd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r h="274295">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4</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I(b, c, 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c</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(b|(~d</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MD5</a:t>
            </a:r>
            <a:r>
              <a:rPr lang="zh-CN" altLang="en-US" dirty="0"/>
              <a:t>单步操作的固定数</a:t>
            </a:r>
            <a:endParaRPr lang="zh-CN" altLang="en-US" dirty="0"/>
          </a:p>
        </p:txBody>
      </p:sp>
      <p:sp>
        <p:nvSpPr>
          <p:cNvPr id="3" name="文本占位符 2"/>
          <p:cNvSpPr>
            <a:spLocks noGrp="1"/>
          </p:cNvSpPr>
          <p:nvPr>
            <p:ph type="body" sz="quarter" idx="10"/>
          </p:nvPr>
        </p:nvSpPr>
        <p:spPr/>
        <p:txBody>
          <a:bodyPr/>
          <a:lstStyle/>
          <a:p>
            <a:r>
              <a:rPr lang="en-US" altLang="zh-CN" dirty="0"/>
              <a:t>T[</a:t>
            </a:r>
            <a:r>
              <a:rPr lang="en-US" altLang="zh-CN" dirty="0" err="1"/>
              <a:t>i</a:t>
            </a:r>
            <a:r>
              <a:rPr lang="en-US" altLang="zh-CN" dirty="0"/>
              <a:t>]=2</a:t>
            </a:r>
            <a:r>
              <a:rPr lang="en-US" altLang="zh-CN" baseline="30000" dirty="0"/>
              <a:t>32</a:t>
            </a:r>
            <a:r>
              <a:rPr lang="en-US" altLang="zh-CN" dirty="0"/>
              <a:t>×abs(sin(</a:t>
            </a:r>
            <a:r>
              <a:rPr lang="en-US" altLang="zh-CN" dirty="0" err="1"/>
              <a:t>i</a:t>
            </a:r>
            <a:r>
              <a:rPr lang="en-US" altLang="zh-CN" dirty="0"/>
              <a:t>))</a:t>
            </a:r>
            <a:r>
              <a:rPr lang="zh-CN" altLang="en-US" dirty="0"/>
              <a:t>的整数部分，</a:t>
            </a:r>
            <a:r>
              <a:rPr lang="en-US" altLang="zh-CN" dirty="0" err="1"/>
              <a:t>i</a:t>
            </a:r>
            <a:r>
              <a:rPr lang="zh-CN" altLang="en-US" dirty="0"/>
              <a:t>是弧度</a:t>
            </a:r>
            <a:endParaRPr lang="zh-CN" altLang="en-US" dirty="0"/>
          </a:p>
          <a:p>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2989529" y="1394556"/>
            <a:ext cx="6429420" cy="4441580"/>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MD5</a:t>
            </a:r>
            <a:r>
              <a:rPr lang="zh-CN" altLang="en-US" dirty="0"/>
              <a:t>每步操作的</a:t>
            </a:r>
            <a:r>
              <a:rPr lang="en-US" altLang="zh-CN" dirty="0" err="1"/>
              <a:t>abcd</a:t>
            </a:r>
            <a:r>
              <a:rPr lang="zh-CN" altLang="en-US" dirty="0"/>
              <a:t>、</a:t>
            </a:r>
            <a:r>
              <a:rPr lang="en-US" altLang="zh-CN" dirty="0"/>
              <a:t>k</a:t>
            </a:r>
            <a:r>
              <a:rPr lang="zh-CN" altLang="en-US" dirty="0"/>
              <a:t>、</a:t>
            </a:r>
            <a:r>
              <a:rPr lang="en-US" altLang="zh-CN" dirty="0"/>
              <a:t>s</a:t>
            </a:r>
            <a:r>
              <a:rPr lang="zh-CN" altLang="en-US" dirty="0"/>
              <a:t>、</a:t>
            </a:r>
            <a:r>
              <a:rPr lang="en-US" altLang="zh-CN" dirty="0" err="1"/>
              <a:t>i</a:t>
            </a:r>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5145740" y="131430"/>
            <a:ext cx="5317850" cy="6595140"/>
          </a:xfrm>
          <a:prstGeom prst="rect">
            <a:avLst/>
          </a:prstGeom>
          <a:noFill/>
          <a:ln w="9525">
            <a:noFill/>
            <a:miter lim="800000"/>
            <a:headEnd/>
            <a:tailEnd/>
          </a:ln>
          <a:effectLst/>
        </p:spPr>
      </p:pic>
      <p:sp>
        <p:nvSpPr>
          <p:cNvPr id="7" name="TextBox 3"/>
          <p:cNvSpPr txBox="1"/>
          <p:nvPr/>
        </p:nvSpPr>
        <p:spPr>
          <a:xfrm>
            <a:off x="1685362" y="2666029"/>
            <a:ext cx="3460378" cy="1015663"/>
          </a:xfrm>
          <a:prstGeom prst="rect">
            <a:avLst/>
          </a:prstGeom>
          <a:noFill/>
        </p:spPr>
        <p:txBody>
          <a:bodyPr wrap="square" rtlCol="0">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可以看到，每轮中</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k</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0~15</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的一个排列，即</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16</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个</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32</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位字的消息被使用一遍</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MD5</a:t>
            </a:r>
            <a:r>
              <a:rPr lang="zh-CN" altLang="en-US" dirty="0"/>
              <a:t>的强度</a:t>
            </a:r>
            <a:endParaRPr lang="zh-CN" altLang="en-US" dirty="0"/>
          </a:p>
        </p:txBody>
      </p:sp>
      <p:sp>
        <p:nvSpPr>
          <p:cNvPr id="4" name="文本占位符 3"/>
          <p:cNvSpPr>
            <a:spLocks noGrp="1"/>
          </p:cNvSpPr>
          <p:nvPr>
            <p:ph type="body" sz="quarter" idx="10"/>
          </p:nvPr>
        </p:nvSpPr>
        <p:spPr/>
        <p:txBody>
          <a:bodyPr/>
          <a:lstStyle/>
          <a:p>
            <a:pPr>
              <a:lnSpc>
                <a:spcPct val="150000"/>
              </a:lnSpc>
            </a:pPr>
            <a:r>
              <a:rPr lang="en-US" altLang="zh-CN" dirty="0"/>
              <a:t>MD5</a:t>
            </a:r>
            <a:r>
              <a:rPr lang="zh-CN" altLang="en-US" dirty="0"/>
              <a:t>的每一位都依赖</a:t>
            </a:r>
            <a:r>
              <a:rPr lang="zh-CN" altLang="en-US" sz="2000" dirty="0"/>
              <a:t>于</a:t>
            </a:r>
            <a:r>
              <a:rPr lang="zh-CN" altLang="en-US" dirty="0"/>
              <a:t>消息的所有位</a:t>
            </a:r>
            <a:endParaRPr lang="en-US" altLang="zh-CN" dirty="0"/>
          </a:p>
          <a:p>
            <a:pPr>
              <a:lnSpc>
                <a:spcPct val="150000"/>
              </a:lnSpc>
            </a:pPr>
            <a:r>
              <a:rPr lang="zh-CN" altLang="en-US" dirty="0"/>
              <a:t>逻辑函数</a:t>
            </a:r>
            <a:r>
              <a:rPr lang="en-US" altLang="zh-CN" dirty="0"/>
              <a:t>F,G,H,I</a:t>
            </a:r>
            <a:r>
              <a:rPr lang="zh-CN" altLang="en-US" dirty="0"/>
              <a:t>的使用增加了混淆程度</a:t>
            </a:r>
            <a:endParaRPr lang="en-US" altLang="zh-CN" dirty="0"/>
          </a:p>
          <a:p>
            <a:pPr>
              <a:lnSpc>
                <a:spcPct val="150000"/>
              </a:lnSpc>
            </a:pPr>
            <a:r>
              <a:rPr lang="en-US" altLang="zh-CN" dirty="0"/>
              <a:t>MD5</a:t>
            </a:r>
            <a:r>
              <a:rPr lang="zh-CN" altLang="en-US" dirty="0"/>
              <a:t>可能是</a:t>
            </a:r>
            <a:r>
              <a:rPr lang="en-US" altLang="zh-CN" dirty="0"/>
              <a:t>128</a:t>
            </a:r>
            <a:r>
              <a:rPr lang="zh-CN" altLang="en-US" dirty="0"/>
              <a:t>位</a:t>
            </a:r>
            <a:r>
              <a:rPr lang="en-US" altLang="zh-CN" dirty="0"/>
              <a:t>Hash</a:t>
            </a:r>
            <a:r>
              <a:rPr lang="zh-CN" altLang="en-US" dirty="0"/>
              <a:t>码中最强的算法</a:t>
            </a:r>
            <a:endParaRPr lang="en-US" altLang="zh-CN" dirty="0"/>
          </a:p>
          <a:p>
            <a:pPr>
              <a:lnSpc>
                <a:spcPct val="150000"/>
              </a:lnSpc>
            </a:pPr>
            <a:r>
              <a:rPr lang="en-US" altLang="zh-CN" dirty="0"/>
              <a:t>MD5</a:t>
            </a:r>
            <a:r>
              <a:rPr lang="zh-CN" altLang="en-US" dirty="0"/>
              <a:t>抗密码分析的能力较弱</a:t>
            </a:r>
            <a:endParaRPr lang="en-US" altLang="zh-CN" dirty="0"/>
          </a:p>
          <a:p>
            <a:pPr lvl="1">
              <a:lnSpc>
                <a:spcPct val="150000"/>
              </a:lnSpc>
            </a:pPr>
            <a:r>
              <a:rPr lang="zh-CN" altLang="en-US" sz="2400" dirty="0"/>
              <a:t>生日攻击代价为</a:t>
            </a:r>
            <a:r>
              <a:rPr lang="en-US" altLang="zh-CN" sz="2400" dirty="0"/>
              <a:t>2</a:t>
            </a:r>
            <a:r>
              <a:rPr lang="en-US" altLang="zh-CN" sz="2400" baseline="30000" dirty="0"/>
              <a:t>64</a:t>
            </a:r>
            <a:r>
              <a:rPr lang="zh-CN" altLang="en-US" sz="2400" dirty="0"/>
              <a:t>数量级</a:t>
            </a:r>
            <a:endParaRPr lang="en-US" altLang="zh-CN" sz="2400" dirty="0"/>
          </a:p>
          <a:p>
            <a:pPr lvl="1">
              <a:lnSpc>
                <a:spcPct val="150000"/>
              </a:lnSpc>
            </a:pPr>
            <a:r>
              <a:rPr lang="zh-CN" altLang="en-US" sz="2400" dirty="0"/>
              <a:t>王小云教授的碰撞攻击算法效率很高</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安全杂凑算法</a:t>
            </a:r>
            <a:r>
              <a:rPr lang="en-US" altLang="zh-CN" dirty="0"/>
              <a:t>SHA</a:t>
            </a:r>
            <a:endParaRPr lang="zh-CN" altLang="en-US" dirty="0"/>
          </a:p>
        </p:txBody>
      </p:sp>
      <p:sp>
        <p:nvSpPr>
          <p:cNvPr id="3" name="文本占位符 2"/>
          <p:cNvSpPr>
            <a:spLocks noGrp="1"/>
          </p:cNvSpPr>
          <p:nvPr>
            <p:ph type="body" sz="quarter" idx="10"/>
          </p:nvPr>
        </p:nvSpPr>
        <p:spPr/>
        <p:txBody>
          <a:bodyPr/>
          <a:lstStyle/>
          <a:p>
            <a:r>
              <a:rPr lang="en-AU" altLang="zh-CN" dirty="0">
                <a:cs typeface="Times New Roman" panose="02020603050405020304" pitchFamily="18" charset="0"/>
              </a:rPr>
              <a:t>SHA</a:t>
            </a:r>
            <a:r>
              <a:rPr lang="zh-CN" altLang="en-US" dirty="0">
                <a:cs typeface="Times New Roman" panose="02020603050405020304" pitchFamily="18" charset="0"/>
              </a:rPr>
              <a:t>由美国标准与技术研究所</a:t>
            </a:r>
            <a:r>
              <a:rPr lang="en-US" altLang="zh-CN" dirty="0">
                <a:cs typeface="Times New Roman" panose="02020603050405020304" pitchFamily="18" charset="0"/>
              </a:rPr>
              <a:t>NIST</a:t>
            </a:r>
            <a:r>
              <a:rPr lang="zh-CN" altLang="en-US" dirty="0">
                <a:cs typeface="Times New Roman" panose="02020603050405020304" pitchFamily="18" charset="0"/>
              </a:rPr>
              <a:t>于</a:t>
            </a:r>
            <a:r>
              <a:rPr lang="en-US" altLang="zh-CN" dirty="0">
                <a:cs typeface="Times New Roman" panose="02020603050405020304" pitchFamily="18" charset="0"/>
              </a:rPr>
              <a:t>1993</a:t>
            </a:r>
            <a:r>
              <a:rPr lang="zh-CN" altLang="en-US" dirty="0">
                <a:cs typeface="Times New Roman" panose="02020603050405020304" pitchFamily="18" charset="0"/>
              </a:rPr>
              <a:t>年设计</a:t>
            </a:r>
            <a:endParaRPr lang="en-AU" altLang="zh-CN" dirty="0">
              <a:cs typeface="Times New Roman" panose="02020603050405020304" pitchFamily="18" charset="0"/>
            </a:endParaRPr>
          </a:p>
          <a:p>
            <a:pPr lvl="1"/>
            <a:r>
              <a:rPr lang="en-US" altLang="zh-CN" dirty="0">
                <a:cs typeface="Times New Roman" panose="02020603050405020304" pitchFamily="18" charset="0"/>
              </a:rPr>
              <a:t>1995</a:t>
            </a:r>
            <a:r>
              <a:rPr lang="zh-CN" altLang="en-US" dirty="0">
                <a:cs typeface="Times New Roman" panose="02020603050405020304" pitchFamily="18" charset="0"/>
              </a:rPr>
              <a:t>年修订，称之为</a:t>
            </a:r>
            <a:r>
              <a:rPr lang="en-AU" altLang="zh-CN" dirty="0">
                <a:cs typeface="Times New Roman" panose="02020603050405020304" pitchFamily="18" charset="0"/>
              </a:rPr>
              <a:t>SHA-1</a:t>
            </a:r>
            <a:endParaRPr lang="en-AU" altLang="zh-CN" dirty="0">
              <a:cs typeface="Times New Roman" panose="02020603050405020304" pitchFamily="18" charset="0"/>
            </a:endParaRPr>
          </a:p>
          <a:p>
            <a:pPr lvl="1"/>
            <a:r>
              <a:rPr lang="zh-CN" altLang="en-US" dirty="0">
                <a:cs typeface="Times New Roman" panose="02020603050405020304" pitchFamily="18" charset="0"/>
              </a:rPr>
              <a:t>标准</a:t>
            </a:r>
            <a:r>
              <a:rPr lang="en-US" altLang="zh-CN" dirty="0">
                <a:cs typeface="Times New Roman" panose="02020603050405020304" pitchFamily="18" charset="0"/>
              </a:rPr>
              <a:t>FIPS 180-1</a:t>
            </a:r>
            <a:r>
              <a:rPr lang="zh-CN" altLang="en-US" dirty="0">
                <a:cs typeface="Times New Roman" panose="02020603050405020304" pitchFamily="18" charset="0"/>
              </a:rPr>
              <a:t>，及互联网中</a:t>
            </a:r>
            <a:r>
              <a:rPr lang="en-US" altLang="zh-CN" dirty="0">
                <a:cs typeface="Times New Roman" panose="02020603050405020304" pitchFamily="18" charset="0"/>
              </a:rPr>
              <a:t>RFC3174</a:t>
            </a:r>
            <a:endParaRPr lang="en-US" altLang="zh-CN" dirty="0">
              <a:cs typeface="Times New Roman" panose="02020603050405020304" pitchFamily="18" charset="0"/>
            </a:endParaRPr>
          </a:p>
          <a:p>
            <a:r>
              <a:rPr lang="zh-CN" altLang="en-US" dirty="0">
                <a:cs typeface="Times New Roman" panose="02020603050405020304" pitchFamily="18" charset="0"/>
              </a:rPr>
              <a:t>算法称为</a:t>
            </a:r>
            <a:r>
              <a:rPr lang="en-US" altLang="zh-CN" dirty="0">
                <a:cs typeface="Times New Roman" panose="02020603050405020304" pitchFamily="18" charset="0"/>
              </a:rPr>
              <a:t>SHA</a:t>
            </a:r>
            <a:r>
              <a:rPr lang="zh-CN" altLang="en-US" dirty="0">
                <a:cs typeface="Times New Roman" panose="02020603050405020304" pitchFamily="18" charset="0"/>
              </a:rPr>
              <a:t>，对应标准称为</a:t>
            </a:r>
            <a:r>
              <a:rPr lang="en-US" altLang="zh-CN" dirty="0">
                <a:cs typeface="Times New Roman" panose="02020603050405020304" pitchFamily="18" charset="0"/>
              </a:rPr>
              <a:t>SHS</a:t>
            </a:r>
            <a:endParaRPr lang="en-AU" altLang="zh-CN" dirty="0">
              <a:cs typeface="Times New Roman" panose="02020603050405020304" pitchFamily="18" charset="0"/>
            </a:endParaRPr>
          </a:p>
          <a:p>
            <a:endParaRPr lang="en-US" altLang="zh-CN" dirty="0">
              <a:cs typeface="Times New Roman" panose="02020603050405020304" pitchFamily="18" charset="0"/>
            </a:endParaRPr>
          </a:p>
          <a:p>
            <a:r>
              <a:rPr lang="en-US" altLang="zh-CN" dirty="0">
                <a:cs typeface="Times New Roman" panose="02020603050405020304" pitchFamily="18" charset="0"/>
              </a:rPr>
              <a:t>SHA-1</a:t>
            </a:r>
            <a:r>
              <a:rPr lang="zh-CN" altLang="en-US" dirty="0">
                <a:cs typeface="Times New Roman" panose="02020603050405020304" pitchFamily="18" charset="0"/>
              </a:rPr>
              <a:t>建立在</a:t>
            </a:r>
            <a:r>
              <a:rPr lang="en-AU" altLang="zh-CN" dirty="0">
                <a:cs typeface="Times New Roman" panose="02020603050405020304" pitchFamily="18" charset="0"/>
              </a:rPr>
              <a:t>MD4</a:t>
            </a:r>
            <a:r>
              <a:rPr lang="zh-CN" altLang="en-US" dirty="0">
                <a:cs typeface="Times New Roman" panose="02020603050405020304" pitchFamily="18" charset="0"/>
              </a:rPr>
              <a:t>算法之上</a:t>
            </a:r>
            <a:endParaRPr lang="en-US" altLang="zh-CN" dirty="0">
              <a:cs typeface="Times New Roman" panose="02020603050405020304" pitchFamily="18" charset="0"/>
            </a:endParaRPr>
          </a:p>
          <a:p>
            <a:r>
              <a:rPr lang="zh-CN" altLang="en-US" dirty="0">
                <a:cs typeface="Times New Roman" panose="02020603050405020304" pitchFamily="18" charset="0"/>
              </a:rPr>
              <a:t>产生</a:t>
            </a:r>
            <a:r>
              <a:rPr lang="en-US" altLang="zh-CN" dirty="0">
                <a:cs typeface="Times New Roman" panose="02020603050405020304" pitchFamily="18" charset="0"/>
              </a:rPr>
              <a:t>160</a:t>
            </a:r>
            <a:r>
              <a:rPr lang="zh-CN" altLang="en-US" dirty="0">
                <a:cs typeface="Times New Roman" panose="02020603050405020304" pitchFamily="18" charset="0"/>
              </a:rPr>
              <a:t>比特消息摘要</a:t>
            </a:r>
            <a:endParaRPr lang="en-US" altLang="zh-CN" dirty="0">
              <a:cs typeface="Times New Roman" panose="02020603050405020304" pitchFamily="18" charset="0"/>
            </a:endParaRPr>
          </a:p>
          <a:p>
            <a:endParaRPr lang="en-US" altLang="zh-CN" dirty="0">
              <a:cs typeface="Times New Roman" panose="02020603050405020304" pitchFamily="18" charset="0"/>
            </a:endParaRPr>
          </a:p>
          <a:p>
            <a:r>
              <a:rPr lang="en-US" altLang="zh-CN" dirty="0">
                <a:cs typeface="Times New Roman" panose="02020603050405020304" pitchFamily="18" charset="0"/>
              </a:rPr>
              <a:t>2005</a:t>
            </a:r>
            <a:r>
              <a:rPr lang="zh-CN" altLang="en-US" dirty="0">
                <a:cs typeface="Times New Roman" panose="02020603050405020304" pitchFamily="18" charset="0"/>
              </a:rPr>
              <a:t>年</a:t>
            </a:r>
            <a:r>
              <a:rPr lang="en-US" altLang="zh-CN" dirty="0">
                <a:cs typeface="Times New Roman" panose="02020603050405020304" pitchFamily="18" charset="0"/>
              </a:rPr>
              <a:t>NIST</a:t>
            </a:r>
            <a:r>
              <a:rPr lang="zh-CN" altLang="en-US" dirty="0">
                <a:cs typeface="Times New Roman" panose="02020603050405020304" pitchFamily="18" charset="0"/>
              </a:rPr>
              <a:t>宣布将逐步废止</a:t>
            </a:r>
            <a:r>
              <a:rPr lang="en-US" altLang="zh-CN" dirty="0">
                <a:cs typeface="Times New Roman" panose="02020603050405020304" pitchFamily="18" charset="0"/>
              </a:rPr>
              <a:t>SHA-1</a:t>
            </a:r>
            <a:endParaRPr lang="en-US" altLang="zh-CN" dirty="0">
              <a:cs typeface="Times New Roman" panose="02020603050405020304" pitchFamily="18" charset="0"/>
            </a:endParaRPr>
          </a:p>
          <a:p>
            <a:pPr lvl="1"/>
            <a:r>
              <a:rPr lang="zh-CN" altLang="en-US" dirty="0">
                <a:cs typeface="Times New Roman" panose="02020603050405020304" pitchFamily="18" charset="0"/>
              </a:rPr>
              <a:t>此后不久，王小云教授公开攻击算法，寻找碰撞的计算量为</a:t>
            </a:r>
            <a:r>
              <a:rPr lang="en-US" altLang="zh-CN" dirty="0">
                <a:cs typeface="Times New Roman" panose="02020603050405020304" pitchFamily="18" charset="0"/>
              </a:rPr>
              <a:t>2</a:t>
            </a:r>
            <a:r>
              <a:rPr lang="en-US" altLang="zh-CN" baseline="30000" dirty="0">
                <a:cs typeface="Times New Roman" panose="02020603050405020304" pitchFamily="18" charset="0"/>
              </a:rPr>
              <a:t>69</a:t>
            </a:r>
            <a:endParaRPr lang="en-US" altLang="zh-CN" baseline="30000" dirty="0">
              <a:cs typeface="Times New Roman" panose="02020603050405020304" pitchFamily="18" charset="0"/>
            </a:endParaRPr>
          </a:p>
          <a:p>
            <a:pPr lvl="1"/>
            <a:r>
              <a:rPr lang="zh-CN" altLang="en-US" dirty="0">
                <a:cs typeface="Times New Roman" panose="02020603050405020304" pitchFamily="18" charset="0"/>
              </a:rPr>
              <a:t>至</a:t>
            </a:r>
            <a:r>
              <a:rPr lang="en-US" altLang="zh-CN" dirty="0">
                <a:cs typeface="Times New Roman" panose="02020603050405020304" pitchFamily="18" charset="0"/>
              </a:rPr>
              <a:t>2011</a:t>
            </a:r>
            <a:r>
              <a:rPr lang="zh-CN" altLang="en-US" dirty="0">
                <a:cs typeface="Times New Roman" panose="02020603050405020304" pitchFamily="18" charset="0"/>
              </a:rPr>
              <a:t>年，寻找碰撞的计算量为</a:t>
            </a:r>
            <a:r>
              <a:rPr lang="en-US" altLang="zh-CN" dirty="0">
                <a:cs typeface="Times New Roman" panose="02020603050405020304" pitchFamily="18" charset="0"/>
              </a:rPr>
              <a:t>2</a:t>
            </a:r>
            <a:r>
              <a:rPr lang="en-US" altLang="zh-CN" baseline="30000" dirty="0">
                <a:cs typeface="Times New Roman" panose="02020603050405020304" pitchFamily="18" charset="0"/>
              </a:rPr>
              <a:t>63</a:t>
            </a:r>
            <a:endParaRPr lang="en-AU" altLang="zh-CN" dirty="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安全杂凑算法</a:t>
            </a:r>
            <a:r>
              <a:rPr lang="en-US" altLang="zh-CN" dirty="0"/>
              <a:t>SHA-1</a:t>
            </a:r>
            <a:endParaRPr lang="zh-CN" altLang="en-US" dirty="0"/>
          </a:p>
        </p:txBody>
      </p:sp>
      <p:sp>
        <p:nvSpPr>
          <p:cNvPr id="3" name="文本占位符 2"/>
          <p:cNvSpPr>
            <a:spLocks noGrp="1"/>
          </p:cNvSpPr>
          <p:nvPr>
            <p:ph type="body" sz="quarter" idx="10"/>
          </p:nvPr>
        </p:nvSpPr>
        <p:spPr/>
        <p:txBody>
          <a:bodyPr/>
          <a:lstStyle/>
          <a:p>
            <a:pPr>
              <a:lnSpc>
                <a:spcPct val="110000"/>
              </a:lnSpc>
            </a:pPr>
            <a:r>
              <a:rPr lang="zh-CN" altLang="en-US" dirty="0"/>
              <a:t>概述</a:t>
            </a:r>
            <a:endParaRPr lang="zh-CN" altLang="en-US" dirty="0"/>
          </a:p>
          <a:p>
            <a:pPr lvl="1">
              <a:lnSpc>
                <a:spcPct val="110000"/>
              </a:lnSpc>
            </a:pPr>
            <a:r>
              <a:rPr lang="zh-CN" altLang="en-US" sz="2400" dirty="0"/>
              <a:t>要求输入小于</a:t>
            </a:r>
            <a:r>
              <a:rPr lang="en-US" altLang="zh-CN" sz="2400" dirty="0"/>
              <a:t>2</a:t>
            </a:r>
            <a:r>
              <a:rPr lang="en-US" altLang="zh-CN" sz="2400" baseline="30000" dirty="0"/>
              <a:t>64</a:t>
            </a:r>
            <a:r>
              <a:rPr lang="zh-CN" altLang="en-US" sz="2400" dirty="0"/>
              <a:t>位，输出为</a:t>
            </a:r>
            <a:r>
              <a:rPr lang="en-US" altLang="zh-CN" sz="2400" dirty="0"/>
              <a:t>160</a:t>
            </a:r>
            <a:r>
              <a:rPr lang="zh-CN" altLang="en-US" sz="2400" dirty="0"/>
              <a:t>位</a:t>
            </a:r>
            <a:endParaRPr lang="en-US" altLang="zh-CN" sz="2400" dirty="0"/>
          </a:p>
          <a:p>
            <a:pPr lvl="1">
              <a:lnSpc>
                <a:spcPct val="110000"/>
              </a:lnSpc>
            </a:pPr>
            <a:r>
              <a:rPr lang="zh-CN" altLang="en-US" sz="2400" dirty="0"/>
              <a:t>处理过程与</a:t>
            </a:r>
            <a:r>
              <a:rPr lang="en-US" altLang="zh-CN" sz="2400" dirty="0"/>
              <a:t>MD5</a:t>
            </a:r>
            <a:r>
              <a:rPr lang="zh-CN" altLang="en-US" sz="2400" dirty="0"/>
              <a:t>类似。用同样方式填充明文，并分成</a:t>
            </a:r>
            <a:r>
              <a:rPr lang="en-US" altLang="zh-CN" sz="2400" dirty="0"/>
              <a:t>512</a:t>
            </a:r>
            <a:r>
              <a:rPr lang="zh-CN" altLang="en-US" sz="2400" dirty="0"/>
              <a:t>位的定长块，每一块与当前信息摘要值结合，产生信息摘要的下一个中间结果，直到处理完毕</a:t>
            </a:r>
            <a:endParaRPr lang="en-US" altLang="zh-CN" sz="2400" dirty="0"/>
          </a:p>
          <a:p>
            <a:pPr lvl="1">
              <a:lnSpc>
                <a:spcPct val="110000"/>
              </a:lnSpc>
            </a:pPr>
            <a:r>
              <a:rPr lang="zh-CN" altLang="en-US" sz="2400" dirty="0"/>
              <a:t>共扫描</a:t>
            </a:r>
            <a:r>
              <a:rPr lang="en-US" altLang="zh-CN" sz="2400" dirty="0"/>
              <a:t>5</a:t>
            </a:r>
            <a:r>
              <a:rPr lang="zh-CN" altLang="en-US" sz="2400" dirty="0"/>
              <a:t>遍，效率略低于</a:t>
            </a:r>
            <a:r>
              <a:rPr lang="en-US" altLang="zh-CN" sz="2400" dirty="0"/>
              <a:t>MD5</a:t>
            </a:r>
            <a:r>
              <a:rPr lang="zh-CN" altLang="en-US" sz="2400" dirty="0"/>
              <a:t>（</a:t>
            </a:r>
            <a:r>
              <a:rPr lang="en-US" altLang="zh-CN" sz="2400" dirty="0"/>
              <a:t>4</a:t>
            </a:r>
            <a:r>
              <a:rPr lang="zh-CN" altLang="en-US" sz="2400" dirty="0"/>
              <a:t>遍），强度略高</a:t>
            </a:r>
            <a:endParaRPr lang="zh-CN" altLang="en-US" sz="2400" dirty="0"/>
          </a:p>
          <a:p>
            <a:pPr lvl="1">
              <a:lnSpc>
                <a:spcPct val="110000"/>
              </a:lnSpc>
            </a:pPr>
            <a:r>
              <a:rPr lang="zh-CN" altLang="en-US" sz="2400" dirty="0"/>
              <a:t>使用</a:t>
            </a:r>
            <a:r>
              <a:rPr lang="en-US" altLang="zh-CN" sz="2400" dirty="0"/>
              <a:t>5</a:t>
            </a:r>
            <a:r>
              <a:rPr lang="zh-CN" altLang="en-US" sz="2400" dirty="0"/>
              <a:t>个寄存器：</a:t>
            </a:r>
            <a:r>
              <a:rPr lang="en-US" altLang="zh-CN" sz="2400" dirty="0"/>
              <a:t>A, B, C, D, E</a:t>
            </a:r>
            <a:endParaRPr lang="en-US" altLang="zh-CN" sz="2400" dirty="0"/>
          </a:p>
          <a:p>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SHA-1</a:t>
            </a:r>
            <a:r>
              <a:rPr lang="zh-CN" altLang="en-US" dirty="0"/>
              <a:t>的压缩函数</a:t>
            </a:r>
            <a:endParaRPr lang="zh-CN" altLang="en-US" dirty="0"/>
          </a:p>
        </p:txBody>
      </p:sp>
      <p:sp>
        <p:nvSpPr>
          <p:cNvPr id="3" name="文本占位符 2"/>
          <p:cNvSpPr>
            <a:spLocks noGrp="1"/>
          </p:cNvSpPr>
          <p:nvPr>
            <p:ph type="body" sz="quarter" idx="10"/>
          </p:nvPr>
        </p:nvSpPr>
        <p:spPr>
          <a:xfrm>
            <a:off x="718458" y="938213"/>
            <a:ext cx="6130579" cy="5552394"/>
          </a:xfrm>
        </p:spPr>
        <p:txBody>
          <a:bodyPr/>
          <a:lstStyle/>
          <a:p>
            <a:pPr>
              <a:lnSpc>
                <a:spcPct val="110000"/>
              </a:lnSpc>
            </a:pPr>
            <a:r>
              <a:rPr lang="zh-CN" altLang="en-US" sz="2600" dirty="0"/>
              <a:t>基本算法 </a:t>
            </a:r>
            <a:endParaRPr lang="zh-CN" altLang="en-US" sz="2600" dirty="0"/>
          </a:p>
          <a:p>
            <a:pPr lvl="1">
              <a:lnSpc>
                <a:spcPct val="110000"/>
              </a:lnSpc>
            </a:pPr>
            <a:r>
              <a:rPr lang="zh-CN" altLang="en-US" dirty="0"/>
              <a:t>初值：</a:t>
            </a:r>
            <a:endParaRPr lang="en-US" altLang="zh-CN" dirty="0"/>
          </a:p>
          <a:p>
            <a:pPr lvl="1">
              <a:lnSpc>
                <a:spcPct val="110000"/>
              </a:lnSpc>
              <a:buNone/>
            </a:pPr>
            <a:r>
              <a:rPr lang="en-US" altLang="zh-CN" dirty="0"/>
              <a:t>	A=67452301; B=EFCDAB89;</a:t>
            </a:r>
            <a:endParaRPr lang="en-US" altLang="zh-CN" dirty="0"/>
          </a:p>
          <a:p>
            <a:pPr lvl="1">
              <a:lnSpc>
                <a:spcPct val="110000"/>
              </a:lnSpc>
              <a:buNone/>
            </a:pPr>
            <a:r>
              <a:rPr lang="en-US" altLang="zh-CN" dirty="0"/>
              <a:t>	C=98BADCFE;</a:t>
            </a:r>
            <a:r>
              <a:rPr lang="zh-CN" altLang="en-US" dirty="0"/>
              <a:t> </a:t>
            </a:r>
            <a:r>
              <a:rPr lang="en-US" altLang="zh-CN" dirty="0"/>
              <a:t>D=10325476;</a:t>
            </a:r>
            <a:endParaRPr lang="en-US" altLang="zh-CN" dirty="0"/>
          </a:p>
          <a:p>
            <a:pPr lvl="1">
              <a:lnSpc>
                <a:spcPct val="110000"/>
              </a:lnSpc>
              <a:buNone/>
            </a:pPr>
            <a:r>
              <a:rPr lang="en-US" altLang="zh-CN" dirty="0"/>
              <a:t>	E=C3D2E1F0</a:t>
            </a:r>
            <a:endParaRPr lang="en-US" altLang="zh-CN" dirty="0"/>
          </a:p>
          <a:p>
            <a:pPr lvl="1">
              <a:lnSpc>
                <a:spcPct val="110000"/>
              </a:lnSpc>
            </a:pP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进行四轮迭代，每轮</a:t>
            </a:r>
            <a:r>
              <a:rPr lang="en-US" altLang="zh-CN" dirty="0"/>
              <a:t>20</a:t>
            </a:r>
            <a:r>
              <a:rPr lang="zh-CN" altLang="en-US" dirty="0"/>
              <a:t>步运算</a:t>
            </a:r>
            <a:endParaRPr lang="en-US" altLang="zh-CN" dirty="0"/>
          </a:p>
          <a:p>
            <a:pPr lvl="1">
              <a:lnSpc>
                <a:spcPct val="110000"/>
              </a:lnSpc>
            </a:pPr>
            <a:endParaRPr lang="en-US" altLang="zh-CN" dirty="0"/>
          </a:p>
          <a:p>
            <a:pPr lvl="1">
              <a:lnSpc>
                <a:spcPct val="110000"/>
              </a:lnSpc>
            </a:pPr>
            <a:r>
              <a:rPr lang="zh-CN" altLang="en-US" dirty="0"/>
              <a:t>注意这里每轮使用了</a:t>
            </a:r>
            <a:r>
              <a:rPr lang="en-US" altLang="zh-CN" dirty="0"/>
              <a:t>20</a:t>
            </a:r>
            <a:r>
              <a:rPr lang="zh-CN" altLang="en-US" dirty="0"/>
              <a:t>个消息字，采用了消息扩展的处理方式</a:t>
            </a:r>
            <a:endParaRPr lang="en-US" altLang="zh-CN" dirty="0"/>
          </a:p>
          <a:p>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7001437" y="757738"/>
            <a:ext cx="3947794" cy="5342524"/>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SHA-1</a:t>
            </a:r>
            <a:r>
              <a:rPr lang="zh-CN" altLang="en-US" dirty="0"/>
              <a:t>的消息扩展</a:t>
            </a:r>
            <a:endParaRPr lang="zh-CN" altLang="en-US" dirty="0"/>
          </a:p>
        </p:txBody>
      </p:sp>
      <p:sp>
        <p:nvSpPr>
          <p:cNvPr id="3" name="文本占位符 2"/>
          <p:cNvSpPr>
            <a:spLocks noGrp="1"/>
          </p:cNvSpPr>
          <p:nvPr>
            <p:ph type="body" sz="quarter" idx="10"/>
          </p:nvPr>
        </p:nvSpPr>
        <p:spPr/>
        <p:txBody>
          <a:bodyPr/>
          <a:lstStyle/>
          <a:p>
            <a:pPr>
              <a:lnSpc>
                <a:spcPct val="80000"/>
              </a:lnSpc>
            </a:pPr>
            <a:r>
              <a:rPr lang="en-US" altLang="zh-CN" dirty="0" err="1"/>
              <a:t>W</a:t>
            </a:r>
            <a:r>
              <a:rPr lang="en-US" altLang="zh-CN" baseline="-25000" dirty="0" err="1"/>
              <a:t>t</a:t>
            </a:r>
            <a:r>
              <a:rPr lang="en-US" altLang="zh-CN" dirty="0"/>
              <a:t>=M</a:t>
            </a:r>
            <a:r>
              <a:rPr lang="en-US" altLang="zh-CN" baseline="-25000" dirty="0"/>
              <a:t>t</a:t>
            </a:r>
            <a:r>
              <a:rPr lang="en-US" altLang="zh-CN" dirty="0"/>
              <a:t>(</a:t>
            </a:r>
            <a:r>
              <a:rPr lang="zh-CN" altLang="en-US" dirty="0"/>
              <a:t>输入的相应消息字</a:t>
            </a:r>
            <a:r>
              <a:rPr lang="en-US" altLang="zh-CN" dirty="0"/>
              <a:t>)</a:t>
            </a:r>
            <a:r>
              <a:rPr lang="zh-CN" altLang="en-US" dirty="0"/>
              <a:t>，</a:t>
            </a:r>
            <a:r>
              <a:rPr lang="en-US" altLang="zh-CN" dirty="0"/>
              <a:t>0&lt;=t&lt;=15</a:t>
            </a:r>
            <a:endParaRPr lang="en-US" altLang="zh-CN" dirty="0"/>
          </a:p>
          <a:p>
            <a:pPr>
              <a:lnSpc>
                <a:spcPct val="80000"/>
              </a:lnSpc>
            </a:pPr>
            <a:r>
              <a:rPr lang="en-US" altLang="zh-CN" dirty="0" err="1"/>
              <a:t>W</a:t>
            </a:r>
            <a:r>
              <a:rPr lang="en-US" altLang="zh-CN" baseline="-25000" dirty="0" err="1"/>
              <a:t>t</a:t>
            </a:r>
            <a:r>
              <a:rPr lang="en-US" altLang="zh-CN" dirty="0"/>
              <a:t>=W</a:t>
            </a:r>
            <a:r>
              <a:rPr lang="en-US" altLang="zh-CN" baseline="-25000" dirty="0"/>
              <a:t>t-3</a:t>
            </a:r>
            <a:r>
              <a:rPr lang="en-US" altLang="zh-CN" dirty="0"/>
              <a:t> </a:t>
            </a:r>
            <a:r>
              <a:rPr lang="en-US" altLang="zh-CN" dirty="0">
                <a:sym typeface="Symbol" panose="05050102010706020507" pitchFamily="18" charset="2"/>
              </a:rPr>
              <a:t></a:t>
            </a:r>
            <a:r>
              <a:rPr lang="en-US" altLang="zh-CN" dirty="0"/>
              <a:t> W</a:t>
            </a:r>
            <a:r>
              <a:rPr lang="en-US" altLang="zh-CN" baseline="-25000" dirty="0"/>
              <a:t>t-8</a:t>
            </a:r>
            <a:r>
              <a:rPr lang="en-US" altLang="zh-CN" dirty="0"/>
              <a:t> </a:t>
            </a:r>
            <a:r>
              <a:rPr lang="en-US" altLang="zh-CN" dirty="0">
                <a:sym typeface="Symbol" panose="05050102010706020507" pitchFamily="18" charset="2"/>
              </a:rPr>
              <a:t></a:t>
            </a:r>
            <a:r>
              <a:rPr lang="en-US" altLang="zh-CN" dirty="0"/>
              <a:t> W</a:t>
            </a:r>
            <a:r>
              <a:rPr lang="en-US" altLang="zh-CN" baseline="-25000" dirty="0"/>
              <a:t>t-14</a:t>
            </a:r>
            <a:r>
              <a:rPr lang="en-US" altLang="zh-CN" dirty="0"/>
              <a:t> </a:t>
            </a:r>
            <a:r>
              <a:rPr lang="en-US" altLang="zh-CN" dirty="0">
                <a:sym typeface="Symbol" panose="05050102010706020507" pitchFamily="18" charset="2"/>
              </a:rPr>
              <a:t></a:t>
            </a:r>
            <a:r>
              <a:rPr lang="en-US" altLang="zh-CN" dirty="0"/>
              <a:t> W</a:t>
            </a:r>
            <a:r>
              <a:rPr lang="en-US" altLang="zh-CN" baseline="-25000" dirty="0"/>
              <a:t>t-16</a:t>
            </a:r>
            <a:r>
              <a:rPr lang="zh-CN" altLang="en-US" dirty="0"/>
              <a:t>，</a:t>
            </a:r>
            <a:r>
              <a:rPr lang="en-US" altLang="zh-CN" dirty="0"/>
              <a:t>16&lt;=t&lt;=79</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共</a:t>
            </a:r>
            <a:r>
              <a:rPr lang="en-US" altLang="zh-CN" dirty="0"/>
              <a:t>80</a:t>
            </a:r>
            <a:r>
              <a:rPr lang="zh-CN" altLang="en-US" dirty="0"/>
              <a:t>个消息字，等效为扫描消息</a:t>
            </a:r>
            <a:r>
              <a:rPr lang="en-US" altLang="zh-CN" dirty="0"/>
              <a:t>80/16=5</a:t>
            </a:r>
            <a:r>
              <a:rPr lang="zh-CN" altLang="en-US" dirty="0"/>
              <a:t>遍</a:t>
            </a:r>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1923672" y="2023389"/>
            <a:ext cx="8595667" cy="2811221"/>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SHA-1</a:t>
            </a:r>
            <a:r>
              <a:rPr lang="zh-CN" altLang="en-US" dirty="0"/>
              <a:t>单步操作</a:t>
            </a:r>
            <a:endParaRPr lang="zh-CN" altLang="en-US" dirty="0"/>
          </a:p>
        </p:txBody>
      </p:sp>
      <p:sp>
        <p:nvSpPr>
          <p:cNvPr id="3" name="文本占位符 2"/>
          <p:cNvSpPr>
            <a:spLocks noGrp="1"/>
          </p:cNvSpPr>
          <p:nvPr>
            <p:ph type="body" sz="quarter" idx="10"/>
          </p:nvPr>
        </p:nvSpPr>
        <p:spPr/>
        <p:txBody>
          <a:bodyPr/>
          <a:lstStyle/>
          <a:p>
            <a:pPr marL="0" indent="0">
              <a:buNone/>
            </a:pPr>
            <a:r>
              <a:rPr lang="en-US" altLang="zh-CN" dirty="0"/>
              <a:t>{A,B,C,D,E}</a:t>
            </a:r>
            <a:r>
              <a:rPr lang="en-US" altLang="zh-CN" dirty="0">
                <a:sym typeface="Symbol" panose="05050102010706020507" pitchFamily="18" charset="2"/>
              </a:rPr>
              <a:t></a:t>
            </a:r>
            <a:r>
              <a:rPr lang="en-US" altLang="zh-CN" dirty="0"/>
              <a:t>{(CLS</a:t>
            </a:r>
            <a:r>
              <a:rPr lang="en-US" altLang="zh-CN" baseline="-25000" dirty="0"/>
              <a:t>5</a:t>
            </a:r>
            <a:r>
              <a:rPr lang="en-US" altLang="zh-CN" dirty="0"/>
              <a:t>(A)+f</a:t>
            </a:r>
            <a:r>
              <a:rPr lang="en-US" altLang="zh-CN" baseline="-25000" dirty="0"/>
              <a:t>t</a:t>
            </a:r>
            <a:r>
              <a:rPr lang="en-US" altLang="zh-CN" dirty="0"/>
              <a:t>(B,C,D)+</a:t>
            </a:r>
            <a:r>
              <a:rPr lang="en-US" altLang="zh-CN" dirty="0" err="1"/>
              <a:t>E+W</a:t>
            </a:r>
            <a:r>
              <a:rPr lang="en-US" altLang="zh-CN" baseline="-25000" dirty="0" err="1"/>
              <a:t>t</a:t>
            </a:r>
            <a:r>
              <a:rPr lang="en-US" altLang="zh-CN" dirty="0" err="1"/>
              <a:t>+K</a:t>
            </a:r>
            <a:r>
              <a:rPr lang="en-US" altLang="zh-CN" baseline="-25000" dirty="0" err="1"/>
              <a:t>t</a:t>
            </a:r>
            <a:r>
              <a:rPr lang="en-US" altLang="zh-CN" dirty="0"/>
              <a:t>),A,CLS</a:t>
            </a:r>
            <a:r>
              <a:rPr lang="en-US" altLang="zh-CN" baseline="-25000" dirty="0"/>
              <a:t>30</a:t>
            </a:r>
            <a:r>
              <a:rPr lang="en-US" altLang="zh-CN" dirty="0"/>
              <a:t>(B),C,D}</a:t>
            </a:r>
            <a:endParaRPr lang="en-US" altLang="zh-CN" sz="2000" dirty="0"/>
          </a:p>
          <a:p>
            <a:pPr lvl="1"/>
            <a:r>
              <a:rPr lang="zh-CN" altLang="en-US" dirty="0"/>
              <a:t>其中，</a:t>
            </a:r>
            <a:r>
              <a:rPr lang="en-US" altLang="zh-CN" dirty="0"/>
              <a:t>A, B, C, D, E</a:t>
            </a:r>
            <a:r>
              <a:rPr lang="zh-CN" altLang="en-US" dirty="0"/>
              <a:t>寄存器固定，与</a:t>
            </a:r>
            <a:r>
              <a:rPr lang="en-US" altLang="zh-CN" dirty="0"/>
              <a:t>MD5</a:t>
            </a:r>
            <a:r>
              <a:rPr lang="zh-CN" altLang="en-US" dirty="0"/>
              <a:t>每步更换不同</a:t>
            </a:r>
            <a:endParaRPr lang="zh-CN" altLang="en-US" dirty="0"/>
          </a:p>
          <a:p>
            <a:pPr lvl="1"/>
            <a:r>
              <a:rPr lang="en-US" altLang="zh-CN" dirty="0"/>
              <a:t>t</a:t>
            </a:r>
            <a:r>
              <a:rPr lang="zh-CN" altLang="en-US" dirty="0"/>
              <a:t>：步数</a:t>
            </a:r>
            <a:endParaRPr lang="zh-CN" altLang="en-US" dirty="0"/>
          </a:p>
          <a:p>
            <a:pPr lvl="1"/>
            <a:r>
              <a:rPr lang="en-US" altLang="zh-CN" dirty="0"/>
              <a:t>f</a:t>
            </a:r>
            <a:r>
              <a:rPr lang="en-US" altLang="zh-CN" baseline="-25000" dirty="0"/>
              <a:t>t</a:t>
            </a:r>
            <a:r>
              <a:rPr lang="zh-CN" altLang="en-US" dirty="0"/>
              <a:t>：基本逻辑函数</a:t>
            </a:r>
            <a:endParaRPr lang="en-US" altLang="zh-CN" dirty="0"/>
          </a:p>
          <a:p>
            <a:pPr lvl="1"/>
            <a:r>
              <a:rPr lang="en-US" altLang="zh-CN" dirty="0" err="1"/>
              <a:t>CLS</a:t>
            </a:r>
            <a:r>
              <a:rPr lang="en-US" altLang="zh-CN" baseline="-25000" dirty="0" err="1"/>
              <a:t>x</a:t>
            </a:r>
            <a:r>
              <a:rPr lang="zh-CN" altLang="en-US" dirty="0"/>
              <a:t>：左循环移位</a:t>
            </a:r>
            <a:r>
              <a:rPr lang="en-US" altLang="zh-CN" dirty="0"/>
              <a:t>x</a:t>
            </a:r>
            <a:r>
              <a:rPr lang="zh-CN" altLang="en-US" dirty="0"/>
              <a:t>位</a:t>
            </a:r>
            <a:endParaRPr lang="zh-CN" altLang="en-US" dirty="0"/>
          </a:p>
          <a:p>
            <a:pPr lvl="1"/>
            <a:r>
              <a:rPr lang="en-US" altLang="zh-CN" dirty="0" err="1"/>
              <a:t>W</a:t>
            </a:r>
            <a:r>
              <a:rPr lang="en-US" altLang="zh-CN" baseline="-25000" dirty="0" err="1"/>
              <a:t>t</a:t>
            </a:r>
            <a:r>
              <a:rPr lang="zh-CN" altLang="en-US" dirty="0"/>
              <a:t>：由输入导出的</a:t>
            </a:r>
            <a:r>
              <a:rPr lang="en-US" altLang="zh-CN" dirty="0"/>
              <a:t>32</a:t>
            </a:r>
            <a:r>
              <a:rPr lang="zh-CN" altLang="en-US" dirty="0"/>
              <a:t>位字</a:t>
            </a:r>
            <a:endParaRPr lang="zh-CN" altLang="en-US" dirty="0"/>
          </a:p>
          <a:p>
            <a:pPr lvl="1"/>
            <a:r>
              <a:rPr lang="en-US" altLang="zh-CN" dirty="0" err="1"/>
              <a:t>k</a:t>
            </a:r>
            <a:r>
              <a:rPr lang="en-US" altLang="zh-CN" baseline="-25000" dirty="0" err="1"/>
              <a:t>t</a:t>
            </a:r>
            <a:r>
              <a:rPr lang="zh-CN" altLang="en-US" dirty="0"/>
              <a:t>：常数</a:t>
            </a:r>
            <a:endParaRPr lang="zh-CN" altLang="en-US" dirty="0"/>
          </a:p>
          <a:p>
            <a:pPr lvl="1"/>
            <a:r>
              <a:rPr lang="en-US" altLang="zh-CN" dirty="0"/>
              <a:t>+</a:t>
            </a:r>
            <a:r>
              <a:rPr lang="zh-CN" altLang="en-US" dirty="0"/>
              <a:t>：模</a:t>
            </a:r>
            <a:r>
              <a:rPr lang="en-US" altLang="zh-CN" dirty="0"/>
              <a:t>2</a:t>
            </a:r>
            <a:r>
              <a:rPr lang="en-US" altLang="zh-CN" baseline="30000" dirty="0"/>
              <a:t>32</a:t>
            </a:r>
            <a:r>
              <a:rPr lang="zh-CN" altLang="en-US" dirty="0"/>
              <a:t>的加运算</a:t>
            </a:r>
            <a:endParaRPr lang="zh-CN" altLang="en-US" sz="1800" dirty="0"/>
          </a:p>
        </p:txBody>
      </p:sp>
      <p:pic>
        <p:nvPicPr>
          <p:cNvPr id="5" name="Picture 3"/>
          <p:cNvPicPr>
            <a:picLocks noChangeAspect="1" noChangeArrowheads="1"/>
          </p:cNvPicPr>
          <p:nvPr/>
        </p:nvPicPr>
        <p:blipFill>
          <a:blip r:embed="rId1" cstate="print"/>
          <a:srcRect/>
          <a:stretch>
            <a:fillRect/>
          </a:stretch>
        </p:blipFill>
        <p:spPr bwMode="auto">
          <a:xfrm>
            <a:off x="6983167" y="1974828"/>
            <a:ext cx="4442797" cy="3388822"/>
          </a:xfrm>
          <a:prstGeom prst="rect">
            <a:avLst/>
          </a:prstGeom>
          <a:noFill/>
          <a:ln w="9525">
            <a:noFill/>
            <a:miter lim="800000"/>
            <a:headEnd/>
            <a:tailEnd/>
          </a:ln>
          <a:effectLst/>
        </p:spPr>
      </p:pic>
      <p:graphicFrame>
        <p:nvGraphicFramePr>
          <p:cNvPr id="7" name="Group 2"/>
          <p:cNvGraphicFramePr/>
          <p:nvPr/>
        </p:nvGraphicFramePr>
        <p:xfrm>
          <a:off x="1121731" y="4059286"/>
          <a:ext cx="5249448" cy="1981200"/>
        </p:xfrm>
        <a:graphic>
          <a:graphicData uri="http://schemas.openxmlformats.org/drawingml/2006/table">
            <a:tbl>
              <a:tblPr>
                <a:tableStyleId>{5940675A-B579-460E-94D1-54222C63F5DA}</a:tableStyleId>
              </a:tblPr>
              <a:tblGrid>
                <a:gridCol w="919495"/>
                <a:gridCol w="1568824"/>
                <a:gridCol w="2761129"/>
              </a:tblGrid>
              <a:tr h="268957">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步</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zh-CN" altLang="en-US"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常数</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K</a:t>
                      </a:r>
                      <a:r>
                        <a:rPr kumimoji="0" lang="en-US" altLang="zh-CN" sz="2000" u="none" strike="noStrike" cap="none" normalizeH="0" baseline="-2500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t</a:t>
                      </a:r>
                      <a:endParaRPr kumimoji="0" lang="en-US" altLang="zh-CN" sz="2000" b="1" i="0" u="none" strike="noStrike" cap="none" normalizeH="0" baseline="-2500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u="none" strike="noStrike" cap="none" normalizeH="0" baseline="-2500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(B, C, D)</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r>
              <a:tr h="268957">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0~19</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5A827999</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(B</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&amp;</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C) | ((~B)&amp;D)</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r h="268957">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20~39</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6ED9EBA1</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B</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C</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r h="268957">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40~59</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8F1BBCDC</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(B&amp;C) | (B&amp;D) | (C&amp;D)</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r h="268957">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60~79</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CA62C1D6</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B</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C</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SHA-1</a:t>
            </a:r>
            <a:r>
              <a:rPr lang="zh-CN" altLang="en-US" dirty="0"/>
              <a:t>与</a:t>
            </a:r>
            <a:r>
              <a:rPr lang="en-US" altLang="zh-CN" dirty="0"/>
              <a:t>MD-5</a:t>
            </a:r>
            <a:r>
              <a:rPr lang="zh-CN" altLang="en-US" dirty="0"/>
              <a:t>的比较</a:t>
            </a:r>
            <a:endParaRPr lang="zh-CN" altLang="en-US" dirty="0"/>
          </a:p>
        </p:txBody>
      </p:sp>
      <p:sp>
        <p:nvSpPr>
          <p:cNvPr id="3" name="文本占位符 2"/>
          <p:cNvSpPr>
            <a:spLocks noGrp="1"/>
          </p:cNvSpPr>
          <p:nvPr>
            <p:ph type="body" sz="quarter" idx="10"/>
          </p:nvPr>
        </p:nvSpPr>
        <p:spPr/>
        <p:txBody>
          <a:bodyPr/>
          <a:lstStyle/>
          <a:p>
            <a:r>
              <a:rPr lang="zh-CN" altLang="en-US" dirty="0"/>
              <a:t>抗强行攻击的安全性</a:t>
            </a:r>
            <a:endParaRPr lang="en-US" altLang="zh-CN" dirty="0"/>
          </a:p>
          <a:p>
            <a:pPr lvl="1"/>
            <a:r>
              <a:rPr lang="en-US" altLang="zh-CN" dirty="0"/>
              <a:t>SHA-1</a:t>
            </a:r>
            <a:r>
              <a:rPr lang="zh-CN" altLang="en-US" dirty="0"/>
              <a:t>较强</a:t>
            </a:r>
            <a:endParaRPr lang="en-US" altLang="zh-CN" dirty="0"/>
          </a:p>
          <a:p>
            <a:r>
              <a:rPr lang="zh-CN" altLang="en-US" dirty="0"/>
              <a:t>抗密码分析的安全性</a:t>
            </a:r>
            <a:endParaRPr lang="en-US" altLang="zh-CN" dirty="0"/>
          </a:p>
          <a:p>
            <a:pPr lvl="1"/>
            <a:r>
              <a:rPr lang="zh-CN" altLang="en-US" dirty="0"/>
              <a:t>王小云教授的算法对</a:t>
            </a:r>
            <a:r>
              <a:rPr lang="en-US" altLang="zh-CN" dirty="0"/>
              <a:t>MD5</a:t>
            </a:r>
            <a:r>
              <a:rPr lang="zh-CN" altLang="en-US" dirty="0"/>
              <a:t>较高效，对</a:t>
            </a:r>
            <a:r>
              <a:rPr lang="en-US" altLang="zh-CN" dirty="0"/>
              <a:t>SHA-1</a:t>
            </a:r>
            <a:r>
              <a:rPr lang="zh-CN" altLang="en-US" dirty="0"/>
              <a:t>偏低</a:t>
            </a:r>
            <a:endParaRPr lang="en-US" altLang="zh-CN" dirty="0"/>
          </a:p>
          <a:p>
            <a:r>
              <a:rPr lang="zh-CN" altLang="en-US" dirty="0"/>
              <a:t>速度</a:t>
            </a:r>
            <a:endParaRPr lang="en-US" altLang="zh-CN" dirty="0"/>
          </a:p>
          <a:p>
            <a:pPr lvl="1"/>
            <a:r>
              <a:rPr lang="zh-CN" altLang="en-US" dirty="0"/>
              <a:t>都是</a:t>
            </a:r>
            <a:r>
              <a:rPr lang="en-US" altLang="zh-CN" dirty="0"/>
              <a:t>32</a:t>
            </a:r>
            <a:r>
              <a:rPr lang="zh-CN" altLang="en-US" dirty="0"/>
              <a:t>位加法运算</a:t>
            </a:r>
            <a:endParaRPr lang="en-US" altLang="zh-CN" dirty="0"/>
          </a:p>
          <a:p>
            <a:pPr lvl="1"/>
            <a:r>
              <a:rPr lang="en-US" altLang="zh-CN" dirty="0"/>
              <a:t>SHA-1</a:t>
            </a:r>
            <a:r>
              <a:rPr lang="zh-CN" altLang="en-US" dirty="0"/>
              <a:t>执行</a:t>
            </a:r>
            <a:r>
              <a:rPr lang="en-US" altLang="zh-CN" dirty="0"/>
              <a:t>80</a:t>
            </a:r>
            <a:r>
              <a:rPr lang="zh-CN" altLang="en-US" dirty="0"/>
              <a:t>步，缓冲区</a:t>
            </a:r>
            <a:r>
              <a:rPr lang="en-US" altLang="zh-CN" dirty="0"/>
              <a:t>160</a:t>
            </a:r>
            <a:r>
              <a:rPr lang="zh-CN" altLang="en-US" dirty="0"/>
              <a:t>位</a:t>
            </a:r>
            <a:endParaRPr lang="en-US" altLang="zh-CN" dirty="0"/>
          </a:p>
          <a:p>
            <a:pPr lvl="1"/>
            <a:r>
              <a:rPr lang="en-US" altLang="zh-CN" dirty="0"/>
              <a:t>MD5</a:t>
            </a:r>
            <a:r>
              <a:rPr lang="zh-CN" altLang="en-US" dirty="0"/>
              <a:t>执行</a:t>
            </a:r>
            <a:r>
              <a:rPr lang="en-US" altLang="zh-CN" dirty="0"/>
              <a:t>64</a:t>
            </a:r>
            <a:r>
              <a:rPr lang="zh-CN" altLang="en-US" dirty="0"/>
              <a:t>步，缓冲区</a:t>
            </a:r>
            <a:r>
              <a:rPr lang="en-US" altLang="zh-CN" dirty="0"/>
              <a:t>128</a:t>
            </a:r>
            <a:r>
              <a:rPr lang="zh-CN" altLang="en-US" dirty="0"/>
              <a:t>位</a:t>
            </a:r>
            <a:endParaRPr lang="zh-CN" altLang="en-US" dirty="0"/>
          </a:p>
          <a:p>
            <a:r>
              <a:rPr lang="zh-CN" altLang="en-US" dirty="0"/>
              <a:t>简单性和紧凑性</a:t>
            </a:r>
            <a:endParaRPr lang="en-US" altLang="zh-CN" dirty="0"/>
          </a:p>
          <a:p>
            <a:pPr lvl="1"/>
            <a:r>
              <a:rPr lang="zh-CN" altLang="en-US" dirty="0"/>
              <a:t>都易于实现</a:t>
            </a:r>
            <a:endParaRPr lang="zh-CN" altLang="en-US" dirty="0"/>
          </a:p>
          <a:p>
            <a:r>
              <a:rPr lang="zh-CN" altLang="en-US" dirty="0"/>
              <a:t>低字节在前</a:t>
            </a:r>
            <a:r>
              <a:rPr lang="en-US" altLang="zh-CN" dirty="0"/>
              <a:t>(MD5)</a:t>
            </a:r>
            <a:r>
              <a:rPr lang="zh-CN" altLang="en-US" dirty="0"/>
              <a:t>和高字节在前结构</a:t>
            </a:r>
            <a:r>
              <a:rPr lang="en-US" altLang="zh-CN" dirty="0"/>
              <a:t>(SHA-1)</a:t>
            </a:r>
            <a:endParaRPr lang="en-US" altLang="zh-CN" dirty="0"/>
          </a:p>
          <a:p>
            <a:pPr lvl="1"/>
            <a:r>
              <a:rPr lang="zh-CN" altLang="en-US" dirty="0"/>
              <a:t>没有本质区别</a:t>
            </a:r>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SHA</a:t>
            </a:r>
            <a:r>
              <a:rPr lang="zh-CN" altLang="en-US" dirty="0"/>
              <a:t>修订版本</a:t>
            </a:r>
            <a:endParaRPr lang="zh-CN" altLang="en-US" dirty="0"/>
          </a:p>
        </p:txBody>
      </p:sp>
      <p:sp>
        <p:nvSpPr>
          <p:cNvPr id="3" name="文本占位符 2"/>
          <p:cNvSpPr>
            <a:spLocks noGrp="1"/>
          </p:cNvSpPr>
          <p:nvPr>
            <p:ph type="body" sz="quarter" idx="10"/>
          </p:nvPr>
        </p:nvSpPr>
        <p:spPr/>
        <p:txBody>
          <a:bodyPr/>
          <a:lstStyle/>
          <a:p>
            <a:r>
              <a:rPr lang="en-US" altLang="zh-CN" dirty="0"/>
              <a:t>2002</a:t>
            </a:r>
            <a:r>
              <a:rPr lang="zh-CN" altLang="en-US" dirty="0"/>
              <a:t>年，</a:t>
            </a:r>
            <a:r>
              <a:rPr lang="en-US" altLang="zh-CN" dirty="0"/>
              <a:t>NIST</a:t>
            </a:r>
            <a:r>
              <a:rPr lang="zh-CN" altLang="en-US" dirty="0"/>
              <a:t>发布修正版</a:t>
            </a:r>
            <a:r>
              <a:rPr lang="en-US" altLang="zh-CN" dirty="0"/>
              <a:t>FIPS 180-2</a:t>
            </a:r>
            <a:endParaRPr lang="en-US" altLang="zh-CN" dirty="0"/>
          </a:p>
          <a:p>
            <a:pPr lvl="1"/>
            <a:r>
              <a:rPr lang="zh-CN" altLang="en-US" dirty="0"/>
              <a:t>增加三个新版本：</a:t>
            </a:r>
            <a:r>
              <a:rPr lang="en-US" altLang="zh-CN" dirty="0"/>
              <a:t>SHA-256, SHA-384, SHA-512</a:t>
            </a:r>
            <a:endParaRPr lang="en-US" altLang="zh-CN" dirty="0"/>
          </a:p>
          <a:p>
            <a:pPr lvl="1"/>
            <a:r>
              <a:rPr lang="zh-CN" altLang="en-US" dirty="0"/>
              <a:t>最初目的是与由于使用</a:t>
            </a:r>
            <a:r>
              <a:rPr lang="en-US" altLang="zh-CN" dirty="0"/>
              <a:t>AES</a:t>
            </a:r>
            <a:r>
              <a:rPr lang="zh-CN" altLang="en-US" dirty="0"/>
              <a:t>而增加的安全性相应</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en-US" altLang="zh-CN" dirty="0"/>
              <a:t>SHA-224</a:t>
            </a:r>
            <a:r>
              <a:rPr lang="zh-CN" altLang="en-US" dirty="0"/>
              <a:t>、</a:t>
            </a:r>
            <a:r>
              <a:rPr lang="en-US" altLang="zh-CN" dirty="0"/>
              <a:t>SHA-256</a:t>
            </a:r>
            <a:r>
              <a:rPr lang="zh-CN" altLang="en-US" dirty="0"/>
              <a:t>、</a:t>
            </a:r>
            <a:r>
              <a:rPr lang="en-US" altLang="zh-CN" dirty="0"/>
              <a:t>SHA-384</a:t>
            </a:r>
            <a:r>
              <a:rPr lang="zh-CN" altLang="en-US" dirty="0"/>
              <a:t>、</a:t>
            </a:r>
            <a:r>
              <a:rPr lang="en-US" altLang="zh-CN" dirty="0"/>
              <a:t>SHA-512</a:t>
            </a:r>
            <a:r>
              <a:rPr lang="zh-CN" altLang="en-US" dirty="0"/>
              <a:t>合称为</a:t>
            </a:r>
            <a:r>
              <a:rPr lang="en-US" altLang="zh-CN" dirty="0"/>
              <a:t>SHA-2</a:t>
            </a:r>
            <a:endParaRPr lang="en-US" altLang="zh-CN" dirty="0"/>
          </a:p>
          <a:p>
            <a:r>
              <a:rPr lang="en-US" altLang="zh-CN" dirty="0"/>
              <a:t>2015</a:t>
            </a:r>
            <a:r>
              <a:rPr lang="zh-CN" altLang="en-US" dirty="0"/>
              <a:t>年</a:t>
            </a:r>
            <a:r>
              <a:rPr lang="en-US" altLang="zh-CN" dirty="0"/>
              <a:t>8</a:t>
            </a:r>
            <a:r>
              <a:rPr lang="zh-CN" altLang="en-US" dirty="0"/>
              <a:t>月发布修正版</a:t>
            </a:r>
            <a:r>
              <a:rPr lang="en-US" altLang="zh-CN" dirty="0"/>
              <a:t>FIPS 180-4</a:t>
            </a:r>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1917420" y="2348880"/>
            <a:ext cx="8437237" cy="2500330"/>
          </a:xfrm>
          <a:prstGeom prst="rect">
            <a:avLst/>
          </a:prstGeom>
          <a:noFill/>
          <a:ln w="9525">
            <a:noFill/>
            <a:miter lim="800000"/>
            <a:headEnd/>
            <a:tailEnd/>
          </a:ln>
          <a:effectLst/>
        </p:spPr>
      </p:pic>
      <p:sp>
        <p:nvSpPr>
          <p:cNvPr id="4" name="矩形 3"/>
          <p:cNvSpPr/>
          <p:nvPr/>
        </p:nvSpPr>
        <p:spPr>
          <a:xfrm>
            <a:off x="7006069" y="1006190"/>
            <a:ext cx="4108882" cy="369332"/>
          </a:xfrm>
          <a:prstGeom prst="rect">
            <a:avLst/>
          </a:prstGeom>
        </p:spPr>
        <p:txBody>
          <a:bodyPr wrap="none">
            <a:spAutoFit/>
          </a:bodyPr>
          <a:lstStyle/>
          <a:p>
            <a:r>
              <a:rPr lang="en-US" dirty="0">
                <a:solidFill>
                  <a:srgbClr val="FF0000"/>
                </a:solidFill>
                <a:latin typeface="CMSS10"/>
              </a:rPr>
              <a:t>https://www.blockchain.com/btc/blocks</a:t>
            </a:r>
            <a:endParaRPr lang="en-US" dirty="0">
              <a:solidFill>
                <a:srgbClr val="FF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SHA</a:t>
            </a:r>
            <a:r>
              <a:rPr lang="zh-CN" altLang="en-US" dirty="0"/>
              <a:t>修订版本</a:t>
            </a:r>
            <a:endParaRPr lang="zh-CN" altLang="en-US" dirty="0"/>
          </a:p>
        </p:txBody>
      </p:sp>
      <p:sp>
        <p:nvSpPr>
          <p:cNvPr id="3" name="文本占位符 2"/>
          <p:cNvSpPr>
            <a:spLocks noGrp="1"/>
          </p:cNvSpPr>
          <p:nvPr>
            <p:ph type="body" sz="quarter" idx="10"/>
          </p:nvPr>
        </p:nvSpPr>
        <p:spPr/>
        <p:txBody>
          <a:bodyPr/>
          <a:lstStyle/>
          <a:p>
            <a:r>
              <a:rPr lang="en-US" altLang="zh-CN" dirty="0"/>
              <a:t>2015</a:t>
            </a:r>
            <a:r>
              <a:rPr lang="zh-CN" altLang="en-US" dirty="0"/>
              <a:t>年</a:t>
            </a:r>
            <a:r>
              <a:rPr lang="en-US" altLang="zh-CN" dirty="0"/>
              <a:t>8</a:t>
            </a:r>
            <a:r>
              <a:rPr lang="zh-CN" altLang="en-US" dirty="0"/>
              <a:t>月发布</a:t>
            </a:r>
            <a:r>
              <a:rPr lang="en-US" altLang="zh-CN" dirty="0"/>
              <a:t>FIPS 202</a:t>
            </a:r>
            <a:r>
              <a:rPr lang="zh-CN" altLang="en-US" dirty="0"/>
              <a:t>，称为</a:t>
            </a:r>
            <a:r>
              <a:rPr lang="en-US" altLang="zh-CN" dirty="0"/>
              <a:t>SHA-3</a:t>
            </a:r>
            <a:endParaRPr lang="en-US" altLang="zh-CN" dirty="0"/>
          </a:p>
          <a:p>
            <a:r>
              <a:rPr lang="zh-CN" altLang="en-US" dirty="0"/>
              <a:t>采用了海绵结构，</a:t>
            </a:r>
            <a:r>
              <a:rPr lang="zh-CN" altLang="en-US" sz="2400" dirty="0"/>
              <a:t>允许变长的输入和输出</a:t>
            </a:r>
            <a:endParaRPr lang="en-US" altLang="zh-CN" sz="2400" dirty="0"/>
          </a:p>
          <a:p>
            <a:r>
              <a:rPr lang="zh-CN" altLang="en-US" dirty="0"/>
              <a:t>填充方式：</a:t>
            </a:r>
            <a:r>
              <a:rPr lang="en-US" altLang="zh-CN" dirty="0"/>
              <a:t>pad10*1</a:t>
            </a:r>
            <a:endParaRPr lang="en-US" altLang="zh-CN" dirty="0"/>
          </a:p>
          <a:p>
            <a:r>
              <a:rPr lang="zh-CN" altLang="en-US" dirty="0"/>
              <a:t>消息分组长为</a:t>
            </a:r>
            <a:r>
              <a:rPr lang="en-US" altLang="zh-CN" dirty="0"/>
              <a:t>r</a:t>
            </a:r>
            <a:r>
              <a:rPr lang="zh-CN" altLang="en-US" dirty="0"/>
              <a:t>位，称为位速率</a:t>
            </a:r>
            <a:endParaRPr lang="en-US" altLang="zh-CN" dirty="0"/>
          </a:p>
          <a:p>
            <a:r>
              <a:rPr lang="zh-CN" altLang="en-US" dirty="0"/>
              <a:t>每轮迭代对</a:t>
            </a:r>
            <a:r>
              <a:rPr lang="en-US" altLang="zh-CN" dirty="0"/>
              <a:t>b=</a:t>
            </a:r>
            <a:r>
              <a:rPr lang="en-US" altLang="zh-CN" dirty="0" err="1"/>
              <a:t>r+c</a:t>
            </a:r>
            <a:r>
              <a:rPr lang="zh-CN" altLang="en-US" dirty="0"/>
              <a:t>位的状态变量</a:t>
            </a:r>
            <a:r>
              <a:rPr lang="en-US" altLang="zh-CN" dirty="0"/>
              <a:t>s</a:t>
            </a:r>
            <a:r>
              <a:rPr lang="zh-CN" altLang="en-US" dirty="0"/>
              <a:t>进行操作，</a:t>
            </a:r>
            <a:r>
              <a:rPr lang="en-US" altLang="zh-CN" dirty="0"/>
              <a:t>c</a:t>
            </a:r>
            <a:r>
              <a:rPr lang="zh-CN" altLang="en-US" dirty="0"/>
              <a:t>称为容量。可以通过减低速率</a:t>
            </a:r>
            <a:r>
              <a:rPr lang="en-US" altLang="zh-CN" dirty="0"/>
              <a:t>r</a:t>
            </a:r>
            <a:r>
              <a:rPr lang="zh-CN" altLang="en-US" dirty="0"/>
              <a:t>，增大容量</a:t>
            </a:r>
            <a:r>
              <a:rPr lang="en-US" altLang="zh-CN" dirty="0"/>
              <a:t>c</a:t>
            </a:r>
            <a:r>
              <a:rPr lang="zh-CN" altLang="en-US" dirty="0"/>
              <a:t>，来增强安全程度</a:t>
            </a:r>
            <a:endParaRPr lang="en-US" altLang="zh-CN" dirty="0"/>
          </a:p>
          <a:p>
            <a:r>
              <a:rPr lang="zh-CN" altLang="en-US" dirty="0"/>
              <a:t>海绵结构包括两个阶段：</a:t>
            </a:r>
            <a:endParaRPr lang="en-US" altLang="zh-CN" dirty="0"/>
          </a:p>
          <a:p>
            <a:pPr lvl="1"/>
            <a:r>
              <a:rPr lang="zh-CN" altLang="en-US" dirty="0"/>
              <a:t>吸收阶段：在每轮迭代中，用</a:t>
            </a:r>
            <a:r>
              <a:rPr lang="en-US" altLang="zh-CN" dirty="0"/>
              <a:t>0</a:t>
            </a:r>
            <a:r>
              <a:rPr lang="zh-CN" altLang="en-US" dirty="0"/>
              <a:t>填充消息分组，由</a:t>
            </a:r>
            <a:r>
              <a:rPr lang="en-US" altLang="zh-CN" dirty="0"/>
              <a:t>r</a:t>
            </a:r>
            <a:r>
              <a:rPr lang="zh-CN" altLang="en-US" dirty="0"/>
              <a:t>位扩展为</a:t>
            </a:r>
            <a:r>
              <a:rPr lang="en-US" altLang="zh-CN" dirty="0"/>
              <a:t>b</a:t>
            </a:r>
            <a:r>
              <a:rPr lang="zh-CN" altLang="en-US" dirty="0"/>
              <a:t>位。将其与</a:t>
            </a:r>
            <a:r>
              <a:rPr lang="en-US" altLang="zh-CN" dirty="0"/>
              <a:t>s</a:t>
            </a:r>
            <a:r>
              <a:rPr lang="zh-CN" altLang="en-US" dirty="0"/>
              <a:t>异或的结果作为函数</a:t>
            </a:r>
            <a:r>
              <a:rPr lang="en-US" altLang="zh-CN" dirty="0"/>
              <a:t>f</a:t>
            </a:r>
            <a:r>
              <a:rPr lang="zh-CN" altLang="en-US" dirty="0"/>
              <a:t>的输入。函数</a:t>
            </a:r>
            <a:r>
              <a:rPr lang="en-US" altLang="zh-CN" dirty="0"/>
              <a:t>f</a:t>
            </a:r>
            <a:r>
              <a:rPr lang="zh-CN" altLang="en-US" dirty="0"/>
              <a:t>的输出为下一轮的</a:t>
            </a:r>
            <a:r>
              <a:rPr lang="en-US" altLang="zh-CN" dirty="0"/>
              <a:t>s</a:t>
            </a:r>
            <a:r>
              <a:rPr lang="zh-CN" altLang="en-US" dirty="0"/>
              <a:t>。若期望输出长度</a:t>
            </a:r>
            <a:r>
              <a:rPr lang="en-US" altLang="zh-CN" dirty="0" err="1"/>
              <a:t>d≤r</a:t>
            </a:r>
            <a:r>
              <a:rPr lang="zh-CN" altLang="en-US" dirty="0"/>
              <a:t>，则返回</a:t>
            </a:r>
            <a:r>
              <a:rPr lang="en-US" altLang="zh-CN" dirty="0"/>
              <a:t>s</a:t>
            </a:r>
            <a:r>
              <a:rPr lang="zh-CN" altLang="en-US" dirty="0"/>
              <a:t>的前</a:t>
            </a:r>
            <a:r>
              <a:rPr lang="en-US" altLang="zh-CN" dirty="0"/>
              <a:t>d</a:t>
            </a:r>
            <a:r>
              <a:rPr lang="zh-CN" altLang="en-US" dirty="0"/>
              <a:t>位，海绵结构运行结束。否则，进入挤压阶段。</a:t>
            </a:r>
            <a:endParaRPr lang="en-US" altLang="zh-CN" dirty="0"/>
          </a:p>
          <a:p>
            <a:pPr lvl="1"/>
            <a:r>
              <a:rPr lang="zh-CN" altLang="en-US" dirty="0"/>
              <a:t>挤压阶段：若</a:t>
            </a:r>
            <a:r>
              <a:rPr lang="en-US" altLang="zh-CN" dirty="0"/>
              <a:t>d&gt;r</a:t>
            </a:r>
            <a:r>
              <a:rPr lang="zh-CN" altLang="en-US" dirty="0"/>
              <a:t>，保留</a:t>
            </a:r>
            <a:r>
              <a:rPr lang="en-US" altLang="zh-CN" dirty="0"/>
              <a:t>s</a:t>
            </a:r>
            <a:r>
              <a:rPr lang="zh-CN" altLang="en-US" dirty="0"/>
              <a:t>的前</a:t>
            </a:r>
            <a:r>
              <a:rPr lang="en-US" altLang="zh-CN" dirty="0"/>
              <a:t>r</a:t>
            </a:r>
            <a:r>
              <a:rPr lang="zh-CN" altLang="en-US" dirty="0"/>
              <a:t>为作为输出分组</a:t>
            </a:r>
            <a:r>
              <a:rPr lang="en-US" altLang="zh-CN" dirty="0"/>
              <a:t>z</a:t>
            </a:r>
            <a:r>
              <a:rPr lang="en-US" altLang="zh-CN" baseline="-25000" dirty="0"/>
              <a:t>0</a:t>
            </a:r>
            <a:r>
              <a:rPr lang="zh-CN" altLang="en-US" dirty="0"/>
              <a:t>，然后迭代运行函数</a:t>
            </a:r>
            <a:r>
              <a:rPr lang="en-US" altLang="zh-CN" dirty="0"/>
              <a:t>f</a:t>
            </a:r>
            <a:r>
              <a:rPr lang="zh-CN" altLang="en-US" dirty="0"/>
              <a:t>来更新</a:t>
            </a:r>
            <a:r>
              <a:rPr lang="en-US" altLang="zh-CN" dirty="0"/>
              <a:t>s</a:t>
            </a:r>
            <a:r>
              <a:rPr lang="zh-CN" altLang="en-US" dirty="0"/>
              <a:t>，每轮均保留</a:t>
            </a:r>
            <a:r>
              <a:rPr lang="en-US" altLang="zh-CN" dirty="0"/>
              <a:t>s</a:t>
            </a:r>
            <a:r>
              <a:rPr lang="zh-CN" altLang="en-US" dirty="0"/>
              <a:t>的前</a:t>
            </a:r>
            <a:r>
              <a:rPr lang="en-US" altLang="zh-CN" dirty="0"/>
              <a:t>r</a:t>
            </a:r>
            <a:r>
              <a:rPr lang="zh-CN" altLang="en-US" dirty="0"/>
              <a:t>位为输出分组</a:t>
            </a:r>
            <a:r>
              <a:rPr lang="en-US" altLang="zh-CN" dirty="0"/>
              <a:t>z</a:t>
            </a:r>
            <a:r>
              <a:rPr lang="en-US" altLang="zh-CN" baseline="-25000" dirty="0"/>
              <a:t>i</a:t>
            </a:r>
            <a:r>
              <a:rPr lang="zh-CN" altLang="en-US" dirty="0"/>
              <a:t>，直至输出总长度不少于</a:t>
            </a:r>
            <a:r>
              <a:rPr lang="en-US" altLang="zh-CN" dirty="0"/>
              <a:t>d</a:t>
            </a:r>
            <a:r>
              <a:rPr lang="zh-CN" altLang="en-US" dirty="0"/>
              <a:t>位。连接输出分组，返回前</a:t>
            </a:r>
            <a:r>
              <a:rPr lang="en-US" altLang="zh-CN" dirty="0"/>
              <a:t>d</a:t>
            </a:r>
            <a:r>
              <a:rPr lang="zh-CN" altLang="en-US" dirty="0"/>
              <a:t>位。</a:t>
            </a:r>
            <a:endParaRPr lang="en-US" altLang="zh-CN" dirty="0"/>
          </a:p>
        </p:txBody>
      </p:sp>
      <p:pic>
        <p:nvPicPr>
          <p:cNvPr id="6" name="图片 5"/>
          <p:cNvPicPr>
            <a:picLocks noChangeAspect="1"/>
          </p:cNvPicPr>
          <p:nvPr/>
        </p:nvPicPr>
        <p:blipFill>
          <a:blip r:embed="rId1"/>
          <a:stretch>
            <a:fillRect/>
          </a:stretch>
        </p:blipFill>
        <p:spPr>
          <a:xfrm>
            <a:off x="6786283" y="854670"/>
            <a:ext cx="5082988" cy="1984786"/>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ea typeface="宋体" panose="02010600030101010101" pitchFamily="2" charset="-122"/>
              </a:rPr>
              <a:t>RipeMD-160</a:t>
            </a:r>
            <a:endParaRPr lang="zh-CN" altLang="en-US" dirty="0"/>
          </a:p>
        </p:txBody>
      </p:sp>
      <p:sp>
        <p:nvSpPr>
          <p:cNvPr id="3" name="文本占位符 2"/>
          <p:cNvSpPr>
            <a:spLocks noGrp="1"/>
          </p:cNvSpPr>
          <p:nvPr>
            <p:ph type="body" sz="quarter" idx="10"/>
          </p:nvPr>
        </p:nvSpPr>
        <p:spPr/>
        <p:txBody>
          <a:bodyPr/>
          <a:lstStyle/>
          <a:p>
            <a:r>
              <a:rPr lang="en-AU" altLang="zh-CN" dirty="0">
                <a:cs typeface="Times New Roman" panose="02020603050405020304" pitchFamily="18" charset="0"/>
              </a:rPr>
              <a:t>RIPEMD-160</a:t>
            </a:r>
            <a:r>
              <a:rPr lang="zh-CN" altLang="en-US" dirty="0">
                <a:cs typeface="Times New Roman" panose="02020603050405020304" pitchFamily="18" charset="0"/>
              </a:rPr>
              <a:t>由欧洲</a:t>
            </a:r>
            <a:r>
              <a:rPr lang="en-US" altLang="zh-CN" dirty="0">
                <a:cs typeface="Times New Roman" panose="02020603050405020304" pitchFamily="18" charset="0"/>
              </a:rPr>
              <a:t>RIPE</a:t>
            </a:r>
            <a:r>
              <a:rPr lang="zh-CN" altLang="en-US" dirty="0">
                <a:cs typeface="Times New Roman" panose="02020603050405020304" pitchFamily="18" charset="0"/>
              </a:rPr>
              <a:t>计划下一组研究人员于</a:t>
            </a:r>
            <a:r>
              <a:rPr lang="en-US" altLang="zh-CN" dirty="0">
                <a:cs typeface="Times New Roman" panose="02020603050405020304" pitchFamily="18" charset="0"/>
              </a:rPr>
              <a:t>1996</a:t>
            </a:r>
            <a:r>
              <a:rPr lang="zh-CN" altLang="en-US" dirty="0">
                <a:cs typeface="Times New Roman" panose="02020603050405020304" pitchFamily="18" charset="0"/>
              </a:rPr>
              <a:t>年设计</a:t>
            </a:r>
            <a:endParaRPr lang="en-AU" altLang="zh-CN" dirty="0">
              <a:cs typeface="Times New Roman" panose="02020603050405020304" pitchFamily="18" charset="0"/>
            </a:endParaRPr>
          </a:p>
          <a:p>
            <a:endParaRPr lang="en-AU" altLang="zh-CN" dirty="0">
              <a:cs typeface="Times New Roman" panose="02020603050405020304" pitchFamily="18" charset="0"/>
            </a:endParaRPr>
          </a:p>
          <a:p>
            <a:r>
              <a:rPr lang="zh-CN" altLang="en-US" dirty="0">
                <a:cs typeface="Times New Roman" panose="02020603050405020304" pitchFamily="18" charset="0"/>
              </a:rPr>
              <a:t>与</a:t>
            </a:r>
            <a:r>
              <a:rPr lang="en-US" altLang="zh-CN" dirty="0">
                <a:cs typeface="Times New Roman" panose="02020603050405020304" pitchFamily="18" charset="0"/>
              </a:rPr>
              <a:t>MD5/SHA</a:t>
            </a:r>
            <a:r>
              <a:rPr lang="zh-CN" altLang="en-US" dirty="0">
                <a:cs typeface="Times New Roman" panose="02020603050405020304" pitchFamily="18" charset="0"/>
              </a:rPr>
              <a:t>算法结构类似</a:t>
            </a:r>
            <a:endParaRPr lang="en-US" altLang="zh-CN" dirty="0">
              <a:cs typeface="Times New Roman" panose="02020603050405020304" pitchFamily="18" charset="0"/>
            </a:endParaRPr>
          </a:p>
          <a:p>
            <a:r>
              <a:rPr lang="zh-CN" altLang="en-US" dirty="0">
                <a:cs typeface="Times New Roman" panose="02020603050405020304" pitchFamily="18" charset="0"/>
              </a:rPr>
              <a:t>算法核心具有两个并行组，每组</a:t>
            </a:r>
            <a:r>
              <a:rPr lang="en-US" altLang="zh-CN" dirty="0">
                <a:cs typeface="Times New Roman" panose="02020603050405020304" pitchFamily="18" charset="0"/>
              </a:rPr>
              <a:t>5</a:t>
            </a:r>
            <a:r>
              <a:rPr lang="zh-CN" altLang="en-US" dirty="0">
                <a:cs typeface="Times New Roman" panose="02020603050405020304" pitchFamily="18" charset="0"/>
              </a:rPr>
              <a:t>轮，每轮</a:t>
            </a:r>
            <a:r>
              <a:rPr lang="en-US" altLang="zh-CN" dirty="0">
                <a:cs typeface="Times New Roman" panose="02020603050405020304" pitchFamily="18" charset="0"/>
              </a:rPr>
              <a:t>16</a:t>
            </a:r>
            <a:r>
              <a:rPr lang="zh-CN" altLang="en-US" dirty="0">
                <a:cs typeface="Times New Roman" panose="02020603050405020304" pitchFamily="18" charset="0"/>
              </a:rPr>
              <a:t>步</a:t>
            </a:r>
            <a:endParaRPr lang="en-AU" altLang="zh-CN" dirty="0">
              <a:cs typeface="Times New Roman" panose="02020603050405020304" pitchFamily="18" charset="0"/>
            </a:endParaRPr>
          </a:p>
          <a:p>
            <a:r>
              <a:rPr lang="zh-CN" altLang="en-US" dirty="0">
                <a:cs typeface="Times New Roman" panose="02020603050405020304" pitchFamily="18" charset="0"/>
              </a:rPr>
              <a:t>输出</a:t>
            </a:r>
            <a:r>
              <a:rPr lang="en-US" altLang="zh-CN" dirty="0">
                <a:cs typeface="Times New Roman" panose="02020603050405020304" pitchFamily="18" charset="0"/>
              </a:rPr>
              <a:t>160</a:t>
            </a:r>
            <a:r>
              <a:rPr lang="zh-CN" altLang="en-US" dirty="0">
                <a:cs typeface="Times New Roman" panose="02020603050405020304" pitchFamily="18" charset="0"/>
              </a:rPr>
              <a:t>位消息摘要</a:t>
            </a:r>
            <a:endParaRPr lang="en-US" altLang="zh-CN" dirty="0">
              <a:cs typeface="Times New Roman" panose="02020603050405020304" pitchFamily="18" charset="0"/>
            </a:endParaRPr>
          </a:p>
          <a:p>
            <a:endParaRPr lang="en-US" altLang="zh-CN" dirty="0">
              <a:cs typeface="Times New Roman" panose="02020603050405020304" pitchFamily="18" charset="0"/>
            </a:endParaRPr>
          </a:p>
          <a:p>
            <a:r>
              <a:rPr lang="zh-CN" altLang="en-US" dirty="0">
                <a:cs typeface="Times New Roman" panose="02020603050405020304" pitchFamily="18" charset="0"/>
              </a:rPr>
              <a:t>比</a:t>
            </a:r>
            <a:r>
              <a:rPr lang="en-US" altLang="zh-CN" dirty="0">
                <a:cs typeface="Times New Roman" panose="02020603050405020304" pitchFamily="18" charset="0"/>
              </a:rPr>
              <a:t>MD5</a:t>
            </a:r>
            <a:r>
              <a:rPr lang="zh-CN" altLang="en-US" dirty="0">
                <a:cs typeface="Times New Roman" panose="02020603050405020304" pitchFamily="18" charset="0"/>
              </a:rPr>
              <a:t>慢，比</a:t>
            </a:r>
            <a:r>
              <a:rPr lang="en-US" altLang="zh-CN" dirty="0">
                <a:cs typeface="Times New Roman" panose="02020603050405020304" pitchFamily="18" charset="0"/>
              </a:rPr>
              <a:t>SHA-1</a:t>
            </a:r>
            <a:r>
              <a:rPr lang="zh-CN" altLang="en-US" dirty="0">
                <a:cs typeface="Times New Roman" panose="02020603050405020304" pitchFamily="18" charset="0"/>
              </a:rPr>
              <a:t>快</a:t>
            </a:r>
            <a:endParaRPr lang="en-US" altLang="zh-CN" dirty="0">
              <a:cs typeface="Times New Roman" panose="02020603050405020304" pitchFamily="18" charset="0"/>
            </a:endParaRPr>
          </a:p>
          <a:p>
            <a:r>
              <a:rPr lang="zh-CN" altLang="en-US" dirty="0">
                <a:cs typeface="Times New Roman" panose="02020603050405020304" pitchFamily="18" charset="0"/>
              </a:rPr>
              <a:t>安全性略高于</a:t>
            </a:r>
            <a:r>
              <a:rPr lang="en-US" altLang="zh-CN" dirty="0">
                <a:cs typeface="Times New Roman" panose="02020603050405020304" pitchFamily="18" charset="0"/>
              </a:rPr>
              <a:t>MD5</a:t>
            </a:r>
            <a:r>
              <a:rPr lang="zh-CN" altLang="en-US" dirty="0">
                <a:cs typeface="Times New Roman" panose="02020603050405020304" pitchFamily="18" charset="0"/>
              </a:rPr>
              <a:t>和</a:t>
            </a:r>
            <a:r>
              <a:rPr lang="en-US" altLang="zh-CN" dirty="0">
                <a:cs typeface="Times New Roman" panose="02020603050405020304" pitchFamily="18" charset="0"/>
              </a:rPr>
              <a:t>SHA-1</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ea typeface="宋体" panose="02010600030101010101" pitchFamily="2" charset="-122"/>
              </a:rPr>
              <a:t>RipeMD-160</a:t>
            </a:r>
            <a:r>
              <a:rPr lang="zh-CN" altLang="en-US" dirty="0"/>
              <a:t>算法步骤</a:t>
            </a:r>
            <a:endParaRPr lang="zh-CN" altLang="en-US" dirty="0"/>
          </a:p>
        </p:txBody>
      </p:sp>
      <p:sp>
        <p:nvSpPr>
          <p:cNvPr id="3" name="文本占位符 2"/>
          <p:cNvSpPr>
            <a:spLocks noGrp="1"/>
          </p:cNvSpPr>
          <p:nvPr>
            <p:ph type="body" sz="quarter" idx="10"/>
          </p:nvPr>
        </p:nvSpPr>
        <p:spPr/>
        <p:txBody>
          <a:bodyPr/>
          <a:lstStyle/>
          <a:p>
            <a:pPr marL="504190" indent="-504190">
              <a:buFontTx/>
              <a:buAutoNum type="arabicPeriod"/>
            </a:pPr>
            <a:r>
              <a:rPr lang="zh-CN" altLang="en-US" dirty="0">
                <a:cs typeface="Times New Roman" panose="02020603050405020304" pitchFamily="18" charset="0"/>
              </a:rPr>
              <a:t>增加填充位，使长度模</a:t>
            </a:r>
            <a:r>
              <a:rPr lang="en-US" altLang="zh-CN" dirty="0">
                <a:cs typeface="Times New Roman" panose="02020603050405020304" pitchFamily="18" charset="0"/>
              </a:rPr>
              <a:t>512</a:t>
            </a:r>
            <a:r>
              <a:rPr lang="zh-CN" altLang="en-US" dirty="0">
                <a:cs typeface="Times New Roman" panose="02020603050405020304" pitchFamily="18" charset="0"/>
              </a:rPr>
              <a:t>余</a:t>
            </a:r>
            <a:r>
              <a:rPr lang="en-US" altLang="zh-CN" dirty="0">
                <a:cs typeface="Times New Roman" panose="02020603050405020304" pitchFamily="18" charset="0"/>
              </a:rPr>
              <a:t>448</a:t>
            </a:r>
            <a:endParaRPr lang="en-AU" altLang="zh-CN" dirty="0">
              <a:cs typeface="Times New Roman" panose="02020603050405020304" pitchFamily="18" charset="0"/>
            </a:endParaRPr>
          </a:p>
          <a:p>
            <a:pPr marL="504190" indent="-504190">
              <a:buFontTx/>
              <a:buAutoNum type="arabicPeriod"/>
            </a:pPr>
            <a:r>
              <a:rPr lang="zh-CN" altLang="en-US" dirty="0">
                <a:cs typeface="Times New Roman" panose="02020603050405020304" pitchFamily="18" charset="0"/>
              </a:rPr>
              <a:t>填充长度，附加原始消息长度，</a:t>
            </a:r>
            <a:r>
              <a:rPr lang="en-US" altLang="zh-CN" dirty="0">
                <a:cs typeface="Times New Roman" panose="02020603050405020304" pitchFamily="18" charset="0"/>
              </a:rPr>
              <a:t>64</a:t>
            </a:r>
            <a:r>
              <a:rPr lang="zh-CN" altLang="en-US" dirty="0">
                <a:cs typeface="Times New Roman" panose="02020603050405020304" pitchFamily="18" charset="0"/>
              </a:rPr>
              <a:t>比特</a:t>
            </a:r>
            <a:endParaRPr lang="en-AU" altLang="zh-CN" dirty="0">
              <a:cs typeface="Times New Roman" panose="02020603050405020304" pitchFamily="18" charset="0"/>
            </a:endParaRPr>
          </a:p>
          <a:p>
            <a:pPr marL="504190" indent="-504190">
              <a:buFontTx/>
              <a:buAutoNum type="arabicPeriod"/>
            </a:pPr>
            <a:r>
              <a:rPr lang="zh-CN" altLang="en-US" dirty="0">
                <a:cs typeface="Times New Roman" panose="02020603050405020304" pitchFamily="18" charset="0"/>
              </a:rPr>
              <a:t>初始化</a:t>
            </a:r>
            <a:r>
              <a:rPr lang="en-US" altLang="zh-CN" dirty="0">
                <a:cs typeface="Times New Roman" panose="02020603050405020304" pitchFamily="18" charset="0"/>
              </a:rPr>
              <a:t>5</a:t>
            </a:r>
            <a:r>
              <a:rPr lang="zh-CN" altLang="en-US" dirty="0">
                <a:cs typeface="Times New Roman" panose="02020603050405020304" pitchFamily="18" charset="0"/>
              </a:rPr>
              <a:t>个</a:t>
            </a:r>
            <a:r>
              <a:rPr lang="en-US" altLang="zh-CN" dirty="0">
                <a:cs typeface="Times New Roman" panose="02020603050405020304" pitchFamily="18" charset="0"/>
              </a:rPr>
              <a:t>32</a:t>
            </a:r>
            <a:r>
              <a:rPr lang="zh-CN" altLang="en-US" dirty="0">
                <a:cs typeface="Times New Roman" panose="02020603050405020304" pitchFamily="18" charset="0"/>
              </a:rPr>
              <a:t>位寄存器</a:t>
            </a:r>
            <a:r>
              <a:rPr lang="en-AU" altLang="zh-CN" dirty="0">
                <a:cs typeface="Times New Roman" panose="02020603050405020304" pitchFamily="18" charset="0"/>
              </a:rPr>
              <a:t>(A,B,C,D,E)</a:t>
            </a:r>
            <a:endParaRPr lang="en-AU" altLang="zh-CN" dirty="0">
              <a:cs typeface="Times New Roman" panose="02020603050405020304" pitchFamily="18" charset="0"/>
            </a:endParaRPr>
          </a:p>
          <a:p>
            <a:pPr marL="444500" lvl="1" indent="12700">
              <a:buNone/>
            </a:pPr>
            <a:r>
              <a:rPr lang="en-US" altLang="zh-CN" dirty="0">
                <a:latin typeface="Consolas" panose="020B0609020204030204" pitchFamily="49" charset="0"/>
                <a:cs typeface="Times New Roman" panose="02020603050405020304" pitchFamily="18" charset="0"/>
              </a:rPr>
              <a:t>A=</a:t>
            </a:r>
            <a:r>
              <a:rPr lang="en-AU" altLang="zh-CN" dirty="0">
                <a:latin typeface="Consolas" panose="020B0609020204030204" pitchFamily="49" charset="0"/>
                <a:cs typeface="Times New Roman" panose="02020603050405020304" pitchFamily="18" charset="0"/>
              </a:rPr>
              <a:t>67452301;</a:t>
            </a:r>
            <a:r>
              <a:rPr lang="zh-CN" altLang="en-US" dirty="0">
                <a:latin typeface="Consolas" panose="020B0609020204030204" pitchFamily="49" charset="0"/>
                <a:cs typeface="Times New Roman" panose="02020603050405020304" pitchFamily="18" charset="0"/>
              </a:rPr>
              <a:t> </a:t>
            </a:r>
            <a:r>
              <a:rPr lang="en-AU" altLang="zh-CN" dirty="0">
                <a:latin typeface="Consolas" panose="020B0609020204030204" pitchFamily="49" charset="0"/>
                <a:cs typeface="Times New Roman" panose="02020603050405020304" pitchFamily="18" charset="0"/>
              </a:rPr>
              <a:t>B=efcdab89;</a:t>
            </a:r>
            <a:endParaRPr lang="en-AU" altLang="zh-CN" dirty="0">
              <a:latin typeface="Consolas" panose="020B0609020204030204" pitchFamily="49" charset="0"/>
              <a:cs typeface="Times New Roman" panose="02020603050405020304" pitchFamily="18" charset="0"/>
            </a:endParaRPr>
          </a:p>
          <a:p>
            <a:pPr marL="444500" lvl="1" indent="12700">
              <a:buNone/>
            </a:pPr>
            <a:r>
              <a:rPr lang="en-AU" altLang="zh-CN" dirty="0">
                <a:latin typeface="Consolas" panose="020B0609020204030204" pitchFamily="49" charset="0"/>
                <a:cs typeface="Times New Roman" panose="02020603050405020304" pitchFamily="18" charset="0"/>
              </a:rPr>
              <a:t>C=98badcfe; D=10325476;</a:t>
            </a:r>
            <a:endParaRPr lang="en-AU" altLang="zh-CN" dirty="0">
              <a:latin typeface="Consolas" panose="020B0609020204030204" pitchFamily="49" charset="0"/>
              <a:cs typeface="Times New Roman" panose="02020603050405020304" pitchFamily="18" charset="0"/>
            </a:endParaRPr>
          </a:p>
          <a:p>
            <a:pPr marL="444500" lvl="1" indent="12700">
              <a:buNone/>
            </a:pPr>
            <a:r>
              <a:rPr lang="en-AU" altLang="zh-CN" dirty="0">
                <a:latin typeface="Consolas" panose="020B0609020204030204" pitchFamily="49" charset="0"/>
                <a:cs typeface="Times New Roman" panose="02020603050405020304" pitchFamily="18" charset="0"/>
              </a:rPr>
              <a:t>E=c3d2e1f0</a:t>
            </a:r>
            <a:r>
              <a:rPr lang="en-AU" altLang="zh-CN" sz="2400" dirty="0">
                <a:cs typeface="Times New Roman" panose="02020603050405020304" pitchFamily="18" charset="0"/>
              </a:rPr>
              <a:t>	</a:t>
            </a:r>
            <a:endParaRPr lang="en-AU" altLang="zh-CN" sz="2400" dirty="0">
              <a:cs typeface="Times New Roman" panose="02020603050405020304" pitchFamily="18" charset="0"/>
            </a:endParaRPr>
          </a:p>
          <a:p>
            <a:pPr marL="504190" indent="-504190">
              <a:buFontTx/>
              <a:buAutoNum type="arabicPeriod"/>
            </a:pPr>
            <a:r>
              <a:rPr lang="zh-CN" altLang="en-US" dirty="0">
                <a:cs typeface="Times New Roman" panose="02020603050405020304" pitchFamily="18" charset="0"/>
              </a:rPr>
              <a:t>每个分组</a:t>
            </a:r>
            <a:r>
              <a:rPr lang="en-US" altLang="zh-CN" dirty="0">
                <a:cs typeface="Times New Roman" panose="02020603050405020304" pitchFamily="18" charset="0"/>
              </a:rPr>
              <a:t>10</a:t>
            </a:r>
            <a:r>
              <a:rPr lang="zh-CN" altLang="en-US" dirty="0">
                <a:cs typeface="Times New Roman" panose="02020603050405020304" pitchFamily="18" charset="0"/>
              </a:rPr>
              <a:t>轮操作，每轮</a:t>
            </a:r>
            <a:r>
              <a:rPr lang="en-US" altLang="zh-CN" dirty="0">
                <a:cs typeface="Times New Roman" panose="02020603050405020304" pitchFamily="18" charset="0"/>
              </a:rPr>
              <a:t>16</a:t>
            </a:r>
            <a:r>
              <a:rPr lang="zh-CN" altLang="en-US" dirty="0">
                <a:cs typeface="Times New Roman" panose="02020603050405020304" pitchFamily="18" charset="0"/>
              </a:rPr>
              <a:t>步</a:t>
            </a:r>
            <a:endParaRPr lang="en-AU" altLang="zh-CN" dirty="0">
              <a:cs typeface="Times New Roman" panose="02020603050405020304" pitchFamily="18" charset="0"/>
            </a:endParaRPr>
          </a:p>
          <a:p>
            <a:pPr marL="899795" lvl="1" indent="-431800"/>
            <a:r>
              <a:rPr lang="zh-CN" altLang="en-US" dirty="0">
                <a:cs typeface="Times New Roman" panose="02020603050405020304" pitchFamily="18" charset="0"/>
              </a:rPr>
              <a:t>分为</a:t>
            </a:r>
            <a:r>
              <a:rPr lang="en-US" altLang="zh-CN" dirty="0">
                <a:cs typeface="Times New Roman" panose="02020603050405020304" pitchFamily="18" charset="0"/>
              </a:rPr>
              <a:t>2</a:t>
            </a:r>
            <a:r>
              <a:rPr lang="zh-CN" altLang="en-US" dirty="0">
                <a:cs typeface="Times New Roman" panose="02020603050405020304" pitchFamily="18" charset="0"/>
              </a:rPr>
              <a:t>组，每组</a:t>
            </a:r>
            <a:r>
              <a:rPr lang="en-US" altLang="zh-CN" dirty="0">
                <a:cs typeface="Times New Roman" panose="02020603050405020304" pitchFamily="18" charset="0"/>
              </a:rPr>
              <a:t>5</a:t>
            </a:r>
            <a:r>
              <a:rPr lang="zh-CN" altLang="en-US" dirty="0">
                <a:cs typeface="Times New Roman" panose="02020603050405020304" pitchFamily="18" charset="0"/>
              </a:rPr>
              <a:t>轮操作，使用</a:t>
            </a:r>
            <a:r>
              <a:rPr lang="en-US" altLang="zh-CN" dirty="0">
                <a:cs typeface="Times New Roman" panose="02020603050405020304" pitchFamily="18" charset="0"/>
              </a:rPr>
              <a:t>5</a:t>
            </a:r>
            <a:r>
              <a:rPr lang="zh-CN" altLang="en-US" dirty="0">
                <a:cs typeface="Times New Roman" panose="02020603050405020304" pitchFamily="18" charset="0"/>
              </a:rPr>
              <a:t>个逻辑函数</a:t>
            </a:r>
            <a:r>
              <a:rPr lang="en-US" altLang="zh-CN" dirty="0">
                <a:cs typeface="Times New Roman" panose="02020603050405020304" pitchFamily="18" charset="0"/>
              </a:rPr>
              <a:t>f</a:t>
            </a:r>
            <a:r>
              <a:rPr lang="en-US" altLang="zh-CN" baseline="-25000" dirty="0">
                <a:cs typeface="Times New Roman" panose="02020603050405020304" pitchFamily="18" charset="0"/>
              </a:rPr>
              <a:t>1</a:t>
            </a:r>
            <a:r>
              <a:rPr lang="en-US" altLang="zh-CN" dirty="0">
                <a:cs typeface="Times New Roman" panose="02020603050405020304" pitchFamily="18" charset="0"/>
              </a:rPr>
              <a:t>,f</a:t>
            </a:r>
            <a:r>
              <a:rPr lang="en-US" altLang="zh-CN" baseline="-25000" dirty="0">
                <a:cs typeface="Times New Roman" panose="02020603050405020304" pitchFamily="18" charset="0"/>
              </a:rPr>
              <a:t>2</a:t>
            </a:r>
            <a:r>
              <a:rPr lang="en-US" altLang="zh-CN" dirty="0">
                <a:cs typeface="Times New Roman" panose="02020603050405020304" pitchFamily="18" charset="0"/>
              </a:rPr>
              <a:t>,f</a:t>
            </a:r>
            <a:r>
              <a:rPr lang="en-US" altLang="zh-CN" baseline="-25000" dirty="0">
                <a:cs typeface="Times New Roman" panose="02020603050405020304" pitchFamily="18" charset="0"/>
              </a:rPr>
              <a:t>3</a:t>
            </a:r>
            <a:r>
              <a:rPr lang="en-US" altLang="zh-CN" dirty="0">
                <a:cs typeface="Times New Roman" panose="02020603050405020304" pitchFamily="18" charset="0"/>
              </a:rPr>
              <a:t>,f</a:t>
            </a:r>
            <a:r>
              <a:rPr lang="en-US" altLang="zh-CN" baseline="-25000" dirty="0">
                <a:cs typeface="Times New Roman" panose="02020603050405020304" pitchFamily="18" charset="0"/>
              </a:rPr>
              <a:t>4</a:t>
            </a:r>
            <a:r>
              <a:rPr lang="en-US" altLang="zh-CN" dirty="0">
                <a:cs typeface="Times New Roman" panose="02020603050405020304" pitchFamily="18" charset="0"/>
              </a:rPr>
              <a:t>,f</a:t>
            </a:r>
            <a:r>
              <a:rPr lang="en-US" altLang="zh-CN" baseline="-25000" dirty="0">
                <a:cs typeface="Times New Roman" panose="02020603050405020304" pitchFamily="18" charset="0"/>
              </a:rPr>
              <a:t>5</a:t>
            </a:r>
            <a:endParaRPr lang="en-US" altLang="zh-CN" baseline="-25000" dirty="0">
              <a:cs typeface="Times New Roman" panose="02020603050405020304" pitchFamily="18" charset="0"/>
            </a:endParaRPr>
          </a:p>
          <a:p>
            <a:pPr marL="899795" lvl="1" indent="-431800"/>
            <a:r>
              <a:rPr lang="zh-CN" altLang="en-US" dirty="0">
                <a:cs typeface="Times New Roman" panose="02020603050405020304" pitchFamily="18" charset="0"/>
              </a:rPr>
              <a:t>计算结果加上输入寄存器值作为新的寄存器值</a:t>
            </a:r>
            <a:endParaRPr lang="en-AU" altLang="zh-CN" dirty="0">
              <a:cs typeface="Times New Roman" panose="02020603050405020304" pitchFamily="18" charset="0"/>
            </a:endParaRPr>
          </a:p>
          <a:p>
            <a:pPr marL="504190" indent="-504190">
              <a:buFontTx/>
              <a:buAutoNum type="arabicPeriod"/>
            </a:pPr>
            <a:r>
              <a:rPr lang="zh-CN" altLang="en-US" dirty="0">
                <a:cs typeface="Times New Roman" panose="02020603050405020304" pitchFamily="18" charset="0"/>
              </a:rPr>
              <a:t>输出消息摘要为最终寄存器值</a:t>
            </a:r>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7736480" y="762000"/>
            <a:ext cx="3878408" cy="4939553"/>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ea typeface="宋体" panose="02010600030101010101" pitchFamily="2" charset="-122"/>
              </a:rPr>
              <a:t>RipeMD-160</a:t>
            </a:r>
            <a:r>
              <a:rPr lang="zh-CN" altLang="en-US" dirty="0"/>
              <a:t>单步操作</a:t>
            </a:r>
            <a:endParaRPr lang="zh-CN" altLang="en-US" dirty="0"/>
          </a:p>
        </p:txBody>
      </p:sp>
      <p:pic>
        <p:nvPicPr>
          <p:cNvPr id="5" name="Picture 3"/>
          <p:cNvPicPr>
            <a:picLocks noChangeAspect="1" noChangeArrowheads="1"/>
          </p:cNvPicPr>
          <p:nvPr/>
        </p:nvPicPr>
        <p:blipFill>
          <a:blip r:embed="rId1" cstate="print"/>
          <a:srcRect/>
          <a:stretch>
            <a:fillRect/>
          </a:stretch>
        </p:blipFill>
        <p:spPr bwMode="auto">
          <a:xfrm>
            <a:off x="772344" y="913147"/>
            <a:ext cx="3657630" cy="3672408"/>
          </a:xfrm>
          <a:prstGeom prst="rect">
            <a:avLst/>
          </a:prstGeom>
          <a:noFill/>
          <a:ln w="9525">
            <a:noFill/>
            <a:miter lim="800000"/>
            <a:headEnd/>
            <a:tailEnd/>
          </a:ln>
          <a:effectLst/>
        </p:spPr>
      </p:pic>
      <p:graphicFrame>
        <p:nvGraphicFramePr>
          <p:cNvPr id="9" name="Group 2"/>
          <p:cNvGraphicFramePr/>
          <p:nvPr/>
        </p:nvGraphicFramePr>
        <p:xfrm>
          <a:off x="5204725" y="913147"/>
          <a:ext cx="4402795" cy="2377440"/>
        </p:xfrm>
        <a:graphic>
          <a:graphicData uri="http://schemas.openxmlformats.org/drawingml/2006/table">
            <a:tbl>
              <a:tblPr>
                <a:tableStyleId>{5940675A-B579-460E-94D1-54222C63F5DA}</a:tableStyleId>
              </a:tblPr>
              <a:tblGrid>
                <a:gridCol w="1761118"/>
                <a:gridCol w="2641677"/>
              </a:tblGrid>
              <a:tr h="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zh-CN" altLang="en-US"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步</a:t>
                      </a:r>
                      <a:endParaRPr kumimoji="0" lang="zh-CN" altLang="en-US"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u="none" strike="noStrike" cap="none" normalizeH="0" baseline="-25000" dirty="0">
                          <a:ln>
                            <a:noFill/>
                          </a:ln>
                          <a:effectLst/>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(B, C, 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r>
              <a:tr h="291759">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0 &lt;= j &lt;= 15</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u="none" strike="noStrike" cap="none" normalizeH="0" baseline="-25000" dirty="0">
                          <a:ln>
                            <a:noFill/>
                          </a:ln>
                          <a:effectLst/>
                          <a:latin typeface="Times New Roman" panose="02020603050405020304" pitchFamily="18" charset="0"/>
                          <a:ea typeface="楷体" panose="02010609060101010101" pitchFamily="49" charset="-122"/>
                          <a:cs typeface="Times New Roman" panose="02020603050405020304" pitchFamily="18" charset="0"/>
                        </a:rPr>
                        <a:t>1</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=B</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C</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r h="301498">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16 &lt;= j &lt;= 31</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u="none" strike="noStrike" cap="none" normalizeH="0" baseline="-25000" dirty="0">
                          <a:ln>
                            <a:noFill/>
                          </a:ln>
                          <a:effectLst/>
                          <a:latin typeface="Times New Roman" panose="02020603050405020304" pitchFamily="18" charset="0"/>
                          <a:ea typeface="楷体" panose="02010609060101010101" pitchFamily="49" charset="-122"/>
                          <a:cs typeface="Times New Roman" panose="02020603050405020304" pitchFamily="18" charset="0"/>
                        </a:rPr>
                        <a:t>2</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=(B&amp;C) | ((~B)&amp;D)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r h="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32 &lt;= j &lt;= 47</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u="none" strike="noStrike" cap="none" normalizeH="0" baseline="-25000" dirty="0">
                          <a:ln>
                            <a:noFill/>
                          </a:ln>
                          <a:effectLst/>
                          <a:latin typeface="Times New Roman" panose="02020603050405020304" pitchFamily="18" charset="0"/>
                          <a:ea typeface="楷体" panose="02010609060101010101" pitchFamily="49" charset="-122"/>
                          <a:cs typeface="Times New Roman" panose="02020603050405020304" pitchFamily="18" charset="0"/>
                        </a:rPr>
                        <a:t>3</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=(B|(~C))</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r h="127582">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48 &lt;= j &lt;= 63</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u="none" strike="noStrike" cap="none" normalizeH="0" baseline="-25000" dirty="0">
                          <a:ln>
                            <a:noFill/>
                          </a:ln>
                          <a:effectLst/>
                          <a:latin typeface="Times New Roman" panose="02020603050405020304" pitchFamily="18" charset="0"/>
                          <a:ea typeface="楷体" panose="02010609060101010101" pitchFamily="49" charset="-122"/>
                          <a:cs typeface="Times New Roman" panose="02020603050405020304" pitchFamily="18" charset="0"/>
                        </a:rPr>
                        <a:t>4</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=(B&amp;D) | (C&amp;(~D))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r h="0">
                <a:tc>
                  <a:txBody>
                    <a:bodyPr/>
                    <a:lstStyle/>
                    <a:p>
                      <a:pPr marL="342900" marR="0" lvl="0" indent="-34290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64 &lt;= j &lt;= 79</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pP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u="none" strike="noStrike" cap="none" normalizeH="0" baseline="-25000" dirty="0">
                          <a:ln>
                            <a:noFill/>
                          </a:ln>
                          <a:effectLst/>
                          <a:latin typeface="Times New Roman" panose="02020603050405020304" pitchFamily="18" charset="0"/>
                          <a:ea typeface="楷体" panose="02010609060101010101" pitchFamily="49" charset="-122"/>
                          <a:cs typeface="Times New Roman" panose="02020603050405020304" pitchFamily="18" charset="0"/>
                        </a:rPr>
                        <a:t>5</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=B</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000" u="none" strike="noStrike" cap="none" normalizeH="0" baseline="0" dirty="0">
                          <a:ln>
                            <a:noFill/>
                          </a:ln>
                          <a:effectLst/>
                          <a:latin typeface="Times New Roman" panose="02020603050405020304" pitchFamily="18" charset="0"/>
                          <a:ea typeface="楷体" panose="02010609060101010101" pitchFamily="49" charset="-122"/>
                          <a:cs typeface="Times New Roman" panose="02020603050405020304" pitchFamily="18" charset="0"/>
                        </a:rPr>
                        <a:t>(C|(~D))</a:t>
                      </a:r>
                      <a:endParaRPr kumimoji="0" lang="en-US" altLang="zh-CN" sz="2000" b="1" i="0" u="none" strike="noStrike" cap="none" normalizeH="0" baseline="0" dirty="0">
                        <a:ln>
                          <a:noFill/>
                        </a:ln>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txBody>
                  <a:tcPr horzOverflow="overflow"/>
                </a:tc>
              </a:tr>
            </a:tbl>
          </a:graphicData>
        </a:graphic>
      </p:graphicFrame>
      <p:pic>
        <p:nvPicPr>
          <p:cNvPr id="11" name="Picture 2"/>
          <p:cNvPicPr>
            <a:picLocks noChangeAspect="1" noChangeArrowheads="1"/>
          </p:cNvPicPr>
          <p:nvPr/>
        </p:nvPicPr>
        <p:blipFill>
          <a:blip r:embed="rId2" cstate="print"/>
          <a:srcRect/>
          <a:stretch>
            <a:fillRect/>
          </a:stretch>
        </p:blipFill>
        <p:spPr bwMode="auto">
          <a:xfrm>
            <a:off x="5204725" y="3429000"/>
            <a:ext cx="6544259" cy="2693894"/>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ea typeface="宋体" panose="02010600030101010101" pitchFamily="2" charset="-122"/>
              </a:rPr>
              <a:t>RipeMD-160</a:t>
            </a:r>
            <a:r>
              <a:rPr lang="zh-CN" altLang="en-US" dirty="0"/>
              <a:t>单步操作</a:t>
            </a:r>
            <a:endParaRPr lang="zh-CN" altLang="en-US" dirty="0"/>
          </a:p>
        </p:txBody>
      </p:sp>
      <p:pic>
        <p:nvPicPr>
          <p:cNvPr id="4" name="Picture 2"/>
          <p:cNvPicPr>
            <a:picLocks noChangeAspect="1" noChangeArrowheads="1"/>
          </p:cNvPicPr>
          <p:nvPr/>
        </p:nvPicPr>
        <p:blipFill>
          <a:blip r:embed="rId1" cstate="print"/>
          <a:srcRect/>
          <a:stretch>
            <a:fillRect/>
          </a:stretch>
        </p:blipFill>
        <p:spPr bwMode="auto">
          <a:xfrm>
            <a:off x="2423592" y="1052737"/>
            <a:ext cx="7272808" cy="5052103"/>
          </a:xfrm>
          <a:prstGeom prst="rect">
            <a:avLst/>
          </a:prstGeom>
          <a:noFill/>
          <a:ln w="9525">
            <a:noFill/>
            <a:miter lim="800000"/>
            <a:headEnd/>
            <a:tailEnd/>
          </a:ln>
          <a:effectLst/>
        </p:spPr>
      </p:pic>
      <p:sp>
        <p:nvSpPr>
          <p:cNvPr id="6" name="文本框 5"/>
          <p:cNvSpPr txBox="1"/>
          <p:nvPr/>
        </p:nvSpPr>
        <p:spPr>
          <a:xfrm>
            <a:off x="7559487" y="954126"/>
            <a:ext cx="1611406" cy="369332"/>
          </a:xfrm>
          <a:prstGeom prst="rect">
            <a:avLst/>
          </a:prstGeom>
          <a:noFill/>
        </p:spPr>
        <p:txBody>
          <a:bodyPr wrap="square">
            <a:spAutoFit/>
          </a:bodyPr>
          <a:lstStyle/>
          <a:p>
            <a:r>
              <a:rPr lang="zh-CN" altLang="en-US" dirty="0">
                <a:latin typeface="黑体" panose="02010609060101010101" pitchFamily="49" charset="-122"/>
                <a:ea typeface="黑体" panose="02010609060101010101" pitchFamily="49" charset="-122"/>
                <a:cs typeface="Times New Roman" panose="02020603050405020304" pitchFamily="18" charset="0"/>
              </a:rPr>
              <a:t>消息字的变换</a:t>
            </a:r>
            <a:endParaRPr lang="zh-CN" altLang="en-US" dirty="0">
              <a:latin typeface="黑体" panose="02010609060101010101" pitchFamily="49" charset="-122"/>
              <a:ea typeface="黑体" panose="02010609060101010101" pitchFamily="49" charset="-122"/>
            </a:endParaRPr>
          </a:p>
        </p:txBody>
      </p:sp>
      <p:sp>
        <p:nvSpPr>
          <p:cNvPr id="7" name="文本框 6"/>
          <p:cNvSpPr txBox="1"/>
          <p:nvPr/>
        </p:nvSpPr>
        <p:spPr>
          <a:xfrm>
            <a:off x="8300437" y="3769043"/>
            <a:ext cx="1166292" cy="369332"/>
          </a:xfrm>
          <a:prstGeom prst="rect">
            <a:avLst/>
          </a:prstGeom>
          <a:noFill/>
        </p:spPr>
        <p:txBody>
          <a:bodyPr wrap="square">
            <a:spAutoFit/>
          </a:bodyPr>
          <a:lstStyle/>
          <a:p>
            <a:r>
              <a:rPr lang="zh-CN" altLang="en-US" dirty="0">
                <a:latin typeface="黑体" panose="02010609060101010101" pitchFamily="49" charset="-122"/>
                <a:ea typeface="黑体" panose="02010609060101010101" pitchFamily="49" charset="-122"/>
                <a:cs typeface="Times New Roman" panose="02020603050405020304" pitchFamily="18" charset="0"/>
              </a:rPr>
              <a:t>循环左移</a:t>
            </a: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ea typeface="宋体" panose="02010600030101010101" pitchFamily="2" charset="-122"/>
              </a:rPr>
              <a:t>RipeMD-160 vs. MD5 &amp; SHA-1</a:t>
            </a:r>
            <a:endParaRPr lang="zh-CN" altLang="en-US" dirty="0"/>
          </a:p>
        </p:txBody>
      </p:sp>
      <p:pic>
        <p:nvPicPr>
          <p:cNvPr id="4" name="Picture 2"/>
          <p:cNvPicPr>
            <a:picLocks noChangeAspect="1" noChangeArrowheads="1"/>
          </p:cNvPicPr>
          <p:nvPr/>
        </p:nvPicPr>
        <p:blipFill>
          <a:blip r:embed="rId1" cstate="print"/>
          <a:srcRect/>
          <a:stretch>
            <a:fillRect/>
          </a:stretch>
        </p:blipFill>
        <p:spPr bwMode="auto">
          <a:xfrm>
            <a:off x="1673602" y="1329286"/>
            <a:ext cx="8377264" cy="2403456"/>
          </a:xfrm>
          <a:prstGeom prst="rect">
            <a:avLst/>
          </a:prstGeom>
          <a:noFill/>
          <a:ln w="9525">
            <a:noFill/>
            <a:miter lim="800000"/>
            <a:headEnd/>
            <a:tailEnd/>
          </a:ln>
          <a:effectLst/>
        </p:spPr>
      </p:pic>
      <p:pic>
        <p:nvPicPr>
          <p:cNvPr id="6" name="Picture 3"/>
          <p:cNvPicPr>
            <a:picLocks noChangeAspect="1" noChangeArrowheads="1"/>
          </p:cNvPicPr>
          <p:nvPr/>
        </p:nvPicPr>
        <p:blipFill>
          <a:blip r:embed="rId2" cstate="print"/>
          <a:srcRect/>
          <a:stretch>
            <a:fillRect/>
          </a:stretch>
        </p:blipFill>
        <p:spPr bwMode="auto">
          <a:xfrm>
            <a:off x="4445386" y="4143954"/>
            <a:ext cx="2962275" cy="1400175"/>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Whirlpool</a:t>
            </a:r>
            <a:endParaRPr lang="zh-CN" altLang="en-US" dirty="0"/>
          </a:p>
        </p:txBody>
      </p:sp>
      <p:sp>
        <p:nvSpPr>
          <p:cNvPr id="5" name="文本占位符 4"/>
          <p:cNvSpPr>
            <a:spLocks noGrp="1"/>
          </p:cNvSpPr>
          <p:nvPr>
            <p:ph type="body" sz="quarter" idx="10"/>
          </p:nvPr>
        </p:nvSpPr>
        <p:spPr/>
        <p:txBody>
          <a:bodyPr/>
          <a:lstStyle/>
          <a:p>
            <a:r>
              <a:rPr lang="en-US" altLang="zh-CN" dirty="0"/>
              <a:t>2003</a:t>
            </a:r>
            <a:r>
              <a:rPr lang="zh-CN" altLang="en-US" dirty="0"/>
              <a:t>年提出，得到欧盟支持的“新欧洲签名、完整性和加密计划”认可</a:t>
            </a:r>
            <a:endParaRPr lang="en-US" altLang="zh-CN" dirty="0"/>
          </a:p>
          <a:p>
            <a:r>
              <a:rPr lang="zh-CN" altLang="en-US" dirty="0"/>
              <a:t>使用修改了的</a:t>
            </a:r>
            <a:r>
              <a:rPr lang="en-US" altLang="zh-CN" dirty="0"/>
              <a:t>AES</a:t>
            </a:r>
            <a:r>
              <a:rPr lang="zh-CN" altLang="en-US" dirty="0"/>
              <a:t>内部结构作为压缩函数</a:t>
            </a:r>
            <a:endParaRPr lang="en-US" altLang="zh-CN" dirty="0"/>
          </a:p>
          <a:p>
            <a:pPr lvl="1"/>
            <a:r>
              <a:rPr lang="zh-CN" altLang="en-US" dirty="0"/>
              <a:t>基于分组密码的散列函数的缺点有：</a:t>
            </a:r>
            <a:endParaRPr lang="en-US" altLang="zh-CN" dirty="0"/>
          </a:p>
          <a:p>
            <a:pPr lvl="2"/>
            <a:r>
              <a:rPr lang="zh-CN" altLang="en-US" dirty="0"/>
              <a:t>密码是可逆的，随机性缺失</a:t>
            </a:r>
            <a:endParaRPr lang="en-US" altLang="zh-CN" dirty="0"/>
          </a:p>
          <a:p>
            <a:pPr lvl="2"/>
            <a:r>
              <a:rPr lang="zh-CN" altLang="en-US" dirty="0"/>
              <a:t>分组密码常会有其它规则性和弱点</a:t>
            </a:r>
            <a:endParaRPr lang="en-US" altLang="zh-CN" dirty="0"/>
          </a:p>
          <a:p>
            <a:pPr lvl="2"/>
            <a:r>
              <a:rPr lang="zh-CN" altLang="en-US" dirty="0"/>
              <a:t>速度慢</a:t>
            </a:r>
            <a:endParaRPr lang="en-US" altLang="zh-CN" dirty="0"/>
          </a:p>
          <a:p>
            <a:pPr lvl="2"/>
            <a:r>
              <a:rPr lang="zh-CN" altLang="en-US" dirty="0"/>
              <a:t>长度受限：消息摘要长度为密文分组长度（或其两倍）</a:t>
            </a:r>
            <a:endParaRPr lang="en-US" altLang="zh-CN" dirty="0"/>
          </a:p>
          <a:p>
            <a:pPr lvl="1"/>
            <a:r>
              <a:rPr lang="en-US" altLang="zh-CN" dirty="0"/>
              <a:t>AES</a:t>
            </a:r>
            <a:r>
              <a:rPr lang="zh-CN" altLang="en-US" dirty="0"/>
              <a:t>刺激人们利用强分组密码来设计安全散列函数</a:t>
            </a:r>
            <a:endParaRPr lang="en-US" altLang="zh-CN" dirty="0"/>
          </a:p>
          <a:p>
            <a:r>
              <a:rPr lang="en-US" altLang="zh-CN" dirty="0"/>
              <a:t>Whirlpool</a:t>
            </a:r>
            <a:r>
              <a:rPr lang="zh-CN" altLang="en-US" dirty="0"/>
              <a:t>特点：</a:t>
            </a:r>
            <a:endParaRPr lang="en-US" altLang="zh-CN" dirty="0"/>
          </a:p>
          <a:p>
            <a:pPr lvl="1"/>
            <a:r>
              <a:rPr lang="zh-CN" altLang="en-US" dirty="0"/>
              <a:t>消息摘要长度为</a:t>
            </a:r>
            <a:r>
              <a:rPr lang="en-US" altLang="zh-CN" dirty="0"/>
              <a:t>512</a:t>
            </a:r>
            <a:r>
              <a:rPr lang="zh-CN" altLang="en-US" dirty="0"/>
              <a:t>比特</a:t>
            </a:r>
            <a:endParaRPr lang="en-US" altLang="zh-CN" dirty="0"/>
          </a:p>
          <a:p>
            <a:pPr lvl="1"/>
            <a:r>
              <a:rPr lang="zh-CN" altLang="en-US" dirty="0"/>
              <a:t>总体结构可以防止针对“基于分组密码的散列函数”的常见攻击</a:t>
            </a:r>
            <a:endParaRPr lang="en-US" altLang="zh-CN" dirty="0"/>
          </a:p>
          <a:p>
            <a:pPr lvl="1"/>
            <a:r>
              <a:rPr lang="zh-CN" altLang="en-US" dirty="0"/>
              <a:t>基于</a:t>
            </a:r>
            <a:r>
              <a:rPr lang="en-US" altLang="zh-CN" dirty="0"/>
              <a:t>AES</a:t>
            </a:r>
            <a:r>
              <a:rPr lang="zh-CN" altLang="en-US" dirty="0"/>
              <a:t>结构，适于软硬件实现，效率高</a:t>
            </a:r>
            <a:endParaRPr lang="en-US" altLang="zh-CN" dirty="0"/>
          </a:p>
          <a:p>
            <a:pPr lvl="1"/>
            <a:r>
              <a:rPr lang="zh-CN" altLang="en-US" dirty="0"/>
              <a:t>抗线性分析和差分分析</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Whirlpool</a:t>
            </a:r>
            <a:r>
              <a:rPr lang="zh-CN" altLang="en-US" dirty="0"/>
              <a:t>整体结构</a:t>
            </a:r>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2265599" y="1093433"/>
            <a:ext cx="7288273" cy="4467330"/>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Whirlpool</a:t>
            </a:r>
            <a:r>
              <a:rPr lang="zh-CN" altLang="en-US" dirty="0"/>
              <a:t>单分组结构</a:t>
            </a:r>
            <a:endParaRPr lang="zh-CN" altLang="en-US" dirty="0"/>
          </a:p>
        </p:txBody>
      </p:sp>
      <p:sp>
        <p:nvSpPr>
          <p:cNvPr id="3" name="文本占位符 2"/>
          <p:cNvSpPr>
            <a:spLocks noGrp="1"/>
          </p:cNvSpPr>
          <p:nvPr>
            <p:ph type="body" sz="quarter" idx="10"/>
          </p:nvPr>
        </p:nvSpPr>
        <p:spPr/>
        <p:txBody>
          <a:bodyPr/>
          <a:lstStyle/>
          <a:p>
            <a:r>
              <a:rPr lang="en-US" altLang="zh-CN" dirty="0"/>
              <a:t>Whirlpool</a:t>
            </a:r>
            <a:r>
              <a:rPr lang="zh-CN" altLang="en-US" dirty="0"/>
              <a:t>使用一个专为杂凑函数设计的分组密码结构</a:t>
            </a:r>
            <a:endParaRPr lang="en-US" altLang="zh-CN" dirty="0"/>
          </a:p>
          <a:p>
            <a:pPr lvl="1"/>
            <a:r>
              <a:rPr lang="zh-CN" altLang="en-US" dirty="0"/>
              <a:t>不能独立用于加密</a:t>
            </a:r>
            <a:endParaRPr lang="en-US" altLang="zh-CN" dirty="0"/>
          </a:p>
          <a:p>
            <a:pPr lvl="1"/>
            <a:r>
              <a:rPr lang="zh-CN" altLang="en-US" dirty="0"/>
              <a:t>具有与</a:t>
            </a:r>
            <a:r>
              <a:rPr lang="en-US" altLang="zh-CN" dirty="0"/>
              <a:t>AES</a:t>
            </a:r>
            <a:r>
              <a:rPr lang="zh-CN" altLang="en-US" dirty="0"/>
              <a:t>相似的安全性和效率</a:t>
            </a:r>
            <a:endParaRPr lang="en-US" altLang="zh-CN" dirty="0"/>
          </a:p>
          <a:p>
            <a:pPr lvl="1"/>
            <a:r>
              <a:rPr lang="zh-CN" altLang="en-US" dirty="0"/>
              <a:t>分组长度</a:t>
            </a:r>
            <a:r>
              <a:rPr lang="en-US" altLang="zh-CN" dirty="0"/>
              <a:t>512</a:t>
            </a:r>
            <a:r>
              <a:rPr lang="zh-CN" altLang="en-US" dirty="0"/>
              <a:t>比特</a:t>
            </a:r>
            <a:endParaRPr lang="en-US" altLang="zh-CN" dirty="0"/>
          </a:p>
          <a:p>
            <a:pPr lvl="1"/>
            <a:r>
              <a:rPr lang="zh-CN" altLang="en-US" dirty="0"/>
              <a:t>结构与函数与</a:t>
            </a:r>
            <a:r>
              <a:rPr lang="en-US" altLang="zh-CN" dirty="0"/>
              <a:t>AES</a:t>
            </a:r>
            <a:r>
              <a:rPr lang="zh-CN" altLang="en-US" dirty="0"/>
              <a:t>类似，但</a:t>
            </a:r>
            <a:endParaRPr lang="en-US" altLang="zh-CN" dirty="0"/>
          </a:p>
          <a:p>
            <a:pPr lvl="2"/>
            <a:r>
              <a:rPr lang="zh-CN" altLang="en-US" dirty="0"/>
              <a:t>输入以行优先映射到矩阵</a:t>
            </a:r>
            <a:endParaRPr lang="en-US" altLang="zh-CN" dirty="0"/>
          </a:p>
          <a:p>
            <a:pPr lvl="2"/>
            <a:r>
              <a:rPr lang="en-US" altLang="zh-CN" dirty="0"/>
              <a:t>10</a:t>
            </a:r>
            <a:r>
              <a:rPr lang="zh-CN" altLang="en-US" dirty="0"/>
              <a:t>轮操作</a:t>
            </a:r>
            <a:endParaRPr lang="en-US" altLang="zh-CN" dirty="0"/>
          </a:p>
          <a:p>
            <a:pPr lvl="2"/>
            <a:r>
              <a:rPr lang="zh-CN" altLang="en-US" dirty="0"/>
              <a:t>不同的素多项式，</a:t>
            </a:r>
            <a:r>
              <a:rPr lang="en-US" altLang="zh-CN" dirty="0"/>
              <a:t>GF(2</a:t>
            </a:r>
            <a:r>
              <a:rPr lang="en-US" altLang="zh-CN" baseline="30000" dirty="0"/>
              <a:t>8</a:t>
            </a:r>
            <a:r>
              <a:rPr lang="en-US" altLang="zh-CN" dirty="0"/>
              <a:t>)</a:t>
            </a:r>
            <a:endParaRPr lang="en-US" altLang="zh-CN" dirty="0"/>
          </a:p>
          <a:p>
            <a:pPr lvl="2"/>
            <a:r>
              <a:rPr lang="en-US" altLang="zh-CN" dirty="0"/>
              <a:t>S</a:t>
            </a:r>
            <a:r>
              <a:rPr lang="zh-CN" altLang="en-US" dirty="0"/>
              <a:t>盒子的设计不同</a:t>
            </a:r>
            <a:endParaRPr lang="zh-CN" altLang="en-US" dirty="0"/>
          </a:p>
        </p:txBody>
      </p:sp>
      <p:pic>
        <p:nvPicPr>
          <p:cNvPr id="7" name="Picture 2"/>
          <p:cNvPicPr>
            <a:picLocks noChangeAspect="1" noChangeArrowheads="1"/>
          </p:cNvPicPr>
          <p:nvPr/>
        </p:nvPicPr>
        <p:blipFill>
          <a:blip r:embed="rId1" cstate="print"/>
          <a:srcRect/>
          <a:stretch>
            <a:fillRect/>
          </a:stretch>
        </p:blipFill>
        <p:spPr bwMode="auto">
          <a:xfrm>
            <a:off x="5316122" y="1462201"/>
            <a:ext cx="6367309" cy="4633800"/>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Whirlpool</a:t>
            </a:r>
            <a:r>
              <a:rPr lang="zh-CN" altLang="en-US" dirty="0"/>
              <a:t>单分组结构</a:t>
            </a:r>
            <a:endParaRPr lang="zh-CN" altLang="en-US" dirty="0"/>
          </a:p>
        </p:txBody>
      </p:sp>
      <p:sp>
        <p:nvSpPr>
          <p:cNvPr id="3" name="文本占位符 2"/>
          <p:cNvSpPr>
            <a:spLocks noGrp="1"/>
          </p:cNvSpPr>
          <p:nvPr>
            <p:ph type="body" sz="quarter" idx="10"/>
          </p:nvPr>
        </p:nvSpPr>
        <p:spPr/>
        <p:txBody>
          <a:bodyPr/>
          <a:lstStyle/>
          <a:p>
            <a:r>
              <a:rPr lang="zh-CN" altLang="en-US" dirty="0"/>
              <a:t>第</a:t>
            </a:r>
            <a:r>
              <a:rPr lang="en-US" altLang="zh-CN" dirty="0"/>
              <a:t>r</a:t>
            </a:r>
            <a:r>
              <a:rPr lang="zh-CN" altLang="en-US" dirty="0"/>
              <a:t>轮操作可写为：</a:t>
            </a:r>
            <a:endParaRPr lang="en-US" altLang="zh-CN" dirty="0"/>
          </a:p>
          <a:p>
            <a:pPr>
              <a:buNone/>
            </a:pPr>
            <a:r>
              <a:rPr lang="en-US" altLang="zh-CN" dirty="0"/>
              <a:t>RF(K</a:t>
            </a:r>
            <a:r>
              <a:rPr lang="en-US" altLang="zh-CN" baseline="-25000" dirty="0"/>
              <a:t>r</a:t>
            </a:r>
            <a:r>
              <a:rPr lang="en-US" altLang="zh-CN" dirty="0"/>
              <a:t>)=AK[K</a:t>
            </a:r>
            <a:r>
              <a:rPr lang="en-US" altLang="zh-CN" baseline="-25000" dirty="0"/>
              <a:t>r</a:t>
            </a:r>
            <a:r>
              <a:rPr lang="en-US" altLang="zh-CN" dirty="0"/>
              <a:t>]</a:t>
            </a:r>
            <a:r>
              <a:rPr lang="en-US" altLang="zh-CN" dirty="0">
                <a:cs typeface="Times New Roman" panose="02020603050405020304"/>
              </a:rPr>
              <a:t>◦MR◦SC◦SB</a:t>
            </a:r>
            <a:endParaRPr lang="zh-CN" altLang="en-US" dirty="0"/>
          </a:p>
          <a:p>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4868616" y="958365"/>
            <a:ext cx="4000528" cy="4941270"/>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Whirlpool</a:t>
            </a:r>
            <a:r>
              <a:rPr lang="zh-CN" altLang="en-US" dirty="0"/>
              <a:t>单分组结构</a:t>
            </a:r>
            <a:endParaRPr lang="zh-CN" altLang="en-US" dirty="0"/>
          </a:p>
        </p:txBody>
      </p:sp>
      <p:sp>
        <p:nvSpPr>
          <p:cNvPr id="6" name="文本占位符 5"/>
          <p:cNvSpPr>
            <a:spLocks noGrp="1"/>
          </p:cNvSpPr>
          <p:nvPr>
            <p:ph type="body" sz="quarter" idx="10"/>
          </p:nvPr>
        </p:nvSpPr>
        <p:spPr/>
        <p:txBody>
          <a:bodyPr/>
          <a:lstStyle/>
          <a:p>
            <a:r>
              <a:rPr lang="zh-CN" altLang="en-US" dirty="0"/>
              <a:t>状态矩阵</a:t>
            </a:r>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2452663" y="1643050"/>
            <a:ext cx="7474201" cy="3857652"/>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Whirlpool</a:t>
            </a:r>
            <a:r>
              <a:rPr lang="zh-CN" altLang="en-US" dirty="0"/>
              <a:t>单分组结构</a:t>
            </a:r>
            <a:endParaRPr lang="zh-CN" altLang="en-US" dirty="0"/>
          </a:p>
        </p:txBody>
      </p:sp>
      <p:sp>
        <p:nvSpPr>
          <p:cNvPr id="3" name="文本占位符 2"/>
          <p:cNvSpPr>
            <a:spLocks noGrp="1"/>
          </p:cNvSpPr>
          <p:nvPr>
            <p:ph type="body" sz="quarter" idx="10"/>
          </p:nvPr>
        </p:nvSpPr>
        <p:spPr/>
        <p:txBody>
          <a:bodyPr/>
          <a:lstStyle/>
          <a:p>
            <a:r>
              <a:rPr lang="zh-CN" altLang="en-US" dirty="0"/>
              <a:t>字节代换</a:t>
            </a:r>
            <a:endParaRPr lang="en-US" altLang="zh-CN" dirty="0"/>
          </a:p>
          <a:p>
            <a:pPr lvl="1"/>
            <a:r>
              <a:rPr lang="zh-CN" altLang="en-US" dirty="0"/>
              <a:t>与</a:t>
            </a:r>
            <a:r>
              <a:rPr lang="en-US" altLang="zh-CN" dirty="0"/>
              <a:t>AES</a:t>
            </a:r>
            <a:r>
              <a:rPr lang="zh-CN" altLang="en-US" dirty="0"/>
              <a:t>算法相同</a:t>
            </a:r>
            <a:endParaRPr lang="en-US" altLang="zh-CN" dirty="0"/>
          </a:p>
          <a:p>
            <a:pPr lvl="1"/>
            <a:r>
              <a:rPr lang="zh-CN" altLang="en-US" dirty="0"/>
              <a:t>增加非线性</a:t>
            </a:r>
            <a:endParaRPr lang="en-US" altLang="zh-CN" dirty="0"/>
          </a:p>
          <a:p>
            <a:r>
              <a:rPr lang="en-US" altLang="zh-CN" dirty="0"/>
              <a:t>S</a:t>
            </a:r>
            <a:r>
              <a:rPr lang="zh-CN" altLang="en-US" dirty="0"/>
              <a:t>盒子构造：</a:t>
            </a:r>
            <a:endParaRPr lang="zh-CN" altLang="en-US" dirty="0"/>
          </a:p>
          <a:p>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5465475" y="1531770"/>
            <a:ext cx="4871252" cy="4857979"/>
          </a:xfrm>
          <a:prstGeom prst="rect">
            <a:avLst/>
          </a:prstGeom>
          <a:noFill/>
          <a:ln w="9525">
            <a:noFill/>
            <a:miter lim="800000"/>
            <a:headEnd/>
            <a:tailEnd/>
          </a:ln>
          <a:effectLst/>
        </p:spPr>
      </p:pic>
      <p:pic>
        <p:nvPicPr>
          <p:cNvPr id="7" name="Picture 3"/>
          <p:cNvPicPr>
            <a:picLocks noChangeAspect="1" noChangeArrowheads="1"/>
          </p:cNvPicPr>
          <p:nvPr/>
        </p:nvPicPr>
        <p:blipFill>
          <a:blip r:embed="rId2" cstate="print"/>
          <a:srcRect/>
          <a:stretch>
            <a:fillRect/>
          </a:stretch>
        </p:blipFill>
        <p:spPr bwMode="auto">
          <a:xfrm>
            <a:off x="2045623" y="2897822"/>
            <a:ext cx="3071834" cy="3525055"/>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Whirlpool</a:t>
            </a:r>
            <a:r>
              <a:rPr lang="zh-CN" altLang="en-US" dirty="0"/>
              <a:t>单分组结构</a:t>
            </a:r>
            <a:endParaRPr lang="zh-CN" altLang="en-US" dirty="0"/>
          </a:p>
        </p:txBody>
      </p:sp>
      <p:sp>
        <p:nvSpPr>
          <p:cNvPr id="3" name="文本占位符 2"/>
          <p:cNvSpPr>
            <a:spLocks noGrp="1"/>
          </p:cNvSpPr>
          <p:nvPr>
            <p:ph type="body" sz="quarter" idx="10"/>
          </p:nvPr>
        </p:nvSpPr>
        <p:spPr/>
        <p:txBody>
          <a:bodyPr/>
          <a:lstStyle/>
          <a:p>
            <a:r>
              <a:rPr lang="zh-CN" altLang="en-US" dirty="0"/>
              <a:t>列移位：第</a:t>
            </a:r>
            <a:r>
              <a:rPr lang="en-US" altLang="zh-CN" dirty="0" err="1"/>
              <a:t>i</a:t>
            </a:r>
            <a:r>
              <a:rPr lang="zh-CN" altLang="en-US" dirty="0"/>
              <a:t>列，向下循环移位</a:t>
            </a:r>
            <a:r>
              <a:rPr lang="en-US" altLang="zh-CN" dirty="0"/>
              <a:t>i-1</a:t>
            </a:r>
            <a:r>
              <a:rPr lang="zh-CN" altLang="en-US" dirty="0"/>
              <a:t>个字节</a:t>
            </a:r>
            <a:endParaRPr lang="en-US" altLang="zh-CN" dirty="0"/>
          </a:p>
          <a:p>
            <a:endParaRPr lang="en-US" altLang="zh-CN" dirty="0"/>
          </a:p>
          <a:p>
            <a:r>
              <a:rPr lang="zh-CN" altLang="en-US" dirty="0"/>
              <a:t>行混淆：</a:t>
            </a:r>
            <a:r>
              <a:rPr lang="en-US" altLang="zh-CN" dirty="0"/>
              <a:t>[B]=[A][C]</a:t>
            </a:r>
            <a:r>
              <a:rPr lang="zh-CN" altLang="en-US" dirty="0"/>
              <a:t>，模多项式</a:t>
            </a:r>
            <a:r>
              <a:rPr lang="en-US" altLang="zh-CN" dirty="0"/>
              <a:t>10011101</a:t>
            </a:r>
            <a:endParaRPr lang="en-US" altLang="zh-CN" dirty="0"/>
          </a:p>
          <a:p>
            <a:pPr>
              <a:buNone/>
            </a:pPr>
            <a:r>
              <a:rPr lang="en-US" altLang="zh-CN" dirty="0"/>
              <a:t>	[C]=[01 01 04 01 08 05 02 09</a:t>
            </a:r>
            <a:endParaRPr lang="en-US" altLang="zh-CN" dirty="0"/>
          </a:p>
          <a:p>
            <a:pPr>
              <a:buNone/>
            </a:pPr>
            <a:r>
              <a:rPr lang="en-US" altLang="zh-CN" dirty="0"/>
              <a:t>		  09 01 01 04 01 08 05 02</a:t>
            </a:r>
            <a:endParaRPr lang="en-US" altLang="zh-CN" dirty="0"/>
          </a:p>
          <a:p>
            <a:pPr>
              <a:buNone/>
            </a:pPr>
            <a:r>
              <a:rPr lang="en-US" altLang="zh-CN" dirty="0"/>
              <a:t>		  02 09 01 01 04 01 08 05</a:t>
            </a:r>
            <a:endParaRPr lang="en-US" altLang="zh-CN" dirty="0"/>
          </a:p>
          <a:p>
            <a:pPr>
              <a:buNone/>
            </a:pPr>
            <a:r>
              <a:rPr lang="en-US" altLang="zh-CN" dirty="0"/>
              <a:t>		  05 02 09 01 01 04 01 08</a:t>
            </a:r>
            <a:endParaRPr lang="en-US" altLang="zh-CN" dirty="0"/>
          </a:p>
          <a:p>
            <a:pPr>
              <a:buNone/>
            </a:pPr>
            <a:r>
              <a:rPr lang="en-US" altLang="zh-CN" dirty="0"/>
              <a:t>		  08 05 02 09 01 01 04 01</a:t>
            </a:r>
            <a:endParaRPr lang="en-US" altLang="zh-CN" dirty="0"/>
          </a:p>
          <a:p>
            <a:pPr>
              <a:buNone/>
            </a:pPr>
            <a:r>
              <a:rPr lang="en-US" altLang="zh-CN" dirty="0"/>
              <a:t>		  01 08 05 02 09 01 01 04</a:t>
            </a:r>
            <a:endParaRPr lang="en-US" altLang="zh-CN" dirty="0"/>
          </a:p>
          <a:p>
            <a:pPr>
              <a:buNone/>
            </a:pPr>
            <a:r>
              <a:rPr lang="en-US" altLang="zh-CN" dirty="0"/>
              <a:t>		  04 01 08 05 02 09 01 01</a:t>
            </a:r>
            <a:endParaRPr lang="en-US" altLang="zh-CN" dirty="0"/>
          </a:p>
          <a:p>
            <a:pPr>
              <a:buNone/>
            </a:pPr>
            <a:r>
              <a:rPr lang="en-US" altLang="zh-CN" dirty="0"/>
              <a:t>		  01 04 01 08 05 02 09 01]</a:t>
            </a: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Whirlpool</a:t>
            </a:r>
            <a:r>
              <a:rPr lang="zh-CN" altLang="en-US" dirty="0"/>
              <a:t>单分组结构</a:t>
            </a:r>
            <a:endParaRPr lang="zh-CN" altLang="en-US" dirty="0"/>
          </a:p>
        </p:txBody>
      </p:sp>
      <p:sp>
        <p:nvSpPr>
          <p:cNvPr id="3" name="文本占位符 2"/>
          <p:cNvSpPr>
            <a:spLocks noGrp="1"/>
          </p:cNvSpPr>
          <p:nvPr>
            <p:ph type="body" sz="quarter" idx="10"/>
          </p:nvPr>
        </p:nvSpPr>
        <p:spPr/>
        <p:txBody>
          <a:bodyPr/>
          <a:lstStyle/>
          <a:p>
            <a:r>
              <a:rPr lang="zh-CN" altLang="en-US" dirty="0"/>
              <a:t>密钥扩展：</a:t>
            </a:r>
            <a:endParaRPr lang="en-US" altLang="zh-CN" dirty="0"/>
          </a:p>
          <a:p>
            <a:pPr lvl="1"/>
            <a:r>
              <a:rPr lang="zh-CN" altLang="en-US" dirty="0"/>
              <a:t>运用轮常数，通过算法本身，将</a:t>
            </a:r>
            <a:r>
              <a:rPr lang="en-US" altLang="zh-CN" dirty="0"/>
              <a:t>512</a:t>
            </a:r>
            <a:r>
              <a:rPr lang="zh-CN" altLang="en-US" dirty="0"/>
              <a:t>比特的密钥</a:t>
            </a:r>
            <a:r>
              <a:rPr lang="en-US" altLang="zh-CN" dirty="0"/>
              <a:t>K</a:t>
            </a:r>
            <a:r>
              <a:rPr lang="zh-CN" altLang="en-US" dirty="0"/>
              <a:t>扩展为轮密钥序列</a:t>
            </a:r>
            <a:r>
              <a:rPr lang="en-US" altLang="zh-CN" dirty="0"/>
              <a:t>K</a:t>
            </a:r>
            <a:r>
              <a:rPr lang="en-US" altLang="zh-CN" baseline="-25000" dirty="0"/>
              <a:t>0</a:t>
            </a:r>
            <a:r>
              <a:rPr lang="en-US" altLang="zh-CN" dirty="0"/>
              <a:t>,K</a:t>
            </a:r>
            <a:r>
              <a:rPr lang="en-US" altLang="zh-CN" baseline="-25000" dirty="0"/>
              <a:t>1</a:t>
            </a:r>
            <a:r>
              <a:rPr lang="en-US" altLang="zh-CN" dirty="0"/>
              <a:t>,…,K</a:t>
            </a:r>
            <a:r>
              <a:rPr lang="en-US" altLang="zh-CN" baseline="-25000" dirty="0"/>
              <a:t>10</a:t>
            </a:r>
            <a:endParaRPr lang="en-US" altLang="zh-CN" baseline="-25000" dirty="0"/>
          </a:p>
          <a:p>
            <a:endParaRPr lang="en-US" altLang="zh-CN" dirty="0"/>
          </a:p>
          <a:p>
            <a:pPr lvl="1"/>
            <a:r>
              <a:rPr lang="zh-CN" altLang="en-US" dirty="0"/>
              <a:t>第</a:t>
            </a:r>
            <a:r>
              <a:rPr lang="en-US" altLang="zh-CN" dirty="0"/>
              <a:t>r</a:t>
            </a:r>
            <a:r>
              <a:rPr lang="zh-CN" altLang="en-US" dirty="0"/>
              <a:t>轮的轮常数是一个矩阵</a:t>
            </a:r>
            <a:r>
              <a:rPr lang="en-US" altLang="zh-CN" dirty="0"/>
              <a:t>RC[r]</a:t>
            </a:r>
            <a:r>
              <a:rPr lang="zh-CN" altLang="en-US" dirty="0"/>
              <a:t>，其中只有第一行是非零的（每个元素是</a:t>
            </a:r>
            <a:r>
              <a:rPr lang="en-US" altLang="zh-CN" dirty="0"/>
              <a:t>S</a:t>
            </a:r>
            <a:r>
              <a:rPr lang="zh-CN" altLang="en-US" dirty="0"/>
              <a:t>盒的一个值），定义为</a:t>
            </a:r>
            <a:endParaRPr lang="en-US" altLang="zh-CN" dirty="0"/>
          </a:p>
          <a:p>
            <a:pPr marL="1703705" lvl="1" indent="9525">
              <a:buNone/>
            </a:pPr>
            <a:r>
              <a:rPr lang="en-US" altLang="zh-CN" dirty="0"/>
              <a:t>RC[r]</a:t>
            </a:r>
            <a:r>
              <a:rPr lang="en-US" altLang="zh-CN" baseline="-25000" dirty="0"/>
              <a:t>0,j</a:t>
            </a:r>
            <a:r>
              <a:rPr lang="en-US" altLang="zh-CN" dirty="0"/>
              <a:t>=S[8(r-1)+j],	0≤j≤7, 1≤r≤10</a:t>
            </a:r>
            <a:endParaRPr lang="en-US" altLang="zh-CN" dirty="0"/>
          </a:p>
          <a:p>
            <a:pPr marL="1703705" lvl="1" indent="9525">
              <a:buNone/>
            </a:pPr>
            <a:r>
              <a:rPr lang="en-US" altLang="zh-CN" dirty="0"/>
              <a:t>RC[r]</a:t>
            </a:r>
            <a:r>
              <a:rPr lang="en-US" altLang="zh-CN" baseline="-25000" dirty="0" err="1"/>
              <a:t>i,j</a:t>
            </a:r>
            <a:r>
              <a:rPr lang="en-US" altLang="zh-CN" dirty="0"/>
              <a:t>=0, 	    	0≤i≤7, 0≤j≤7, 1≤r≤10</a:t>
            </a:r>
            <a:endParaRPr lang="zh-CN" altLang="en-US" dirty="0"/>
          </a:p>
          <a:p>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Whirlpool</a:t>
            </a:r>
            <a:r>
              <a:rPr lang="zh-CN" altLang="en-US" dirty="0"/>
              <a:t>性能与安全性</a:t>
            </a:r>
            <a:endParaRPr lang="zh-CN" altLang="en-US" dirty="0"/>
          </a:p>
        </p:txBody>
      </p:sp>
      <p:sp>
        <p:nvSpPr>
          <p:cNvPr id="3" name="文本占位符 2"/>
          <p:cNvSpPr>
            <a:spLocks noGrp="1"/>
          </p:cNvSpPr>
          <p:nvPr>
            <p:ph type="body" sz="quarter" idx="10"/>
          </p:nvPr>
        </p:nvSpPr>
        <p:spPr/>
        <p:txBody>
          <a:bodyPr/>
          <a:lstStyle/>
          <a:p>
            <a:r>
              <a:rPr lang="zh-CN" altLang="en-US" dirty="0"/>
              <a:t>拥有与</a:t>
            </a:r>
            <a:r>
              <a:rPr lang="en-US" altLang="zh-CN" dirty="0"/>
              <a:t>AES</a:t>
            </a:r>
            <a:r>
              <a:rPr lang="zh-CN" altLang="en-US" dirty="0"/>
              <a:t>相似的性能和空间特性</a:t>
            </a:r>
            <a:endParaRPr lang="en-US" altLang="zh-CN" dirty="0"/>
          </a:p>
          <a:p>
            <a:pPr lvl="1"/>
            <a:r>
              <a:rPr lang="zh-CN" altLang="en-US" dirty="0"/>
              <a:t>便于软硬件实现</a:t>
            </a:r>
            <a:endParaRPr lang="en-US" altLang="zh-CN" dirty="0"/>
          </a:p>
          <a:p>
            <a:pPr lvl="1"/>
            <a:r>
              <a:rPr lang="zh-CN" altLang="en-US" dirty="0"/>
              <a:t>占内存少</a:t>
            </a:r>
            <a:endParaRPr lang="en-US" altLang="zh-CN" dirty="0"/>
          </a:p>
          <a:p>
            <a:pPr lvl="1"/>
            <a:r>
              <a:rPr lang="zh-CN" altLang="en-US" dirty="0"/>
              <a:t>高效</a:t>
            </a:r>
            <a:endParaRPr lang="en-US" altLang="zh-CN" dirty="0"/>
          </a:p>
          <a:p>
            <a:endParaRPr lang="en-US" altLang="zh-CN" dirty="0"/>
          </a:p>
          <a:p>
            <a:r>
              <a:rPr lang="zh-CN" altLang="en-US" dirty="0"/>
              <a:t>与</a:t>
            </a:r>
            <a:r>
              <a:rPr lang="en-US" altLang="zh-CN" dirty="0"/>
              <a:t>SHA-512</a:t>
            </a:r>
            <a:r>
              <a:rPr lang="zh-CN" altLang="en-US" dirty="0"/>
              <a:t>相比，</a:t>
            </a:r>
            <a:r>
              <a:rPr lang="en-US" altLang="zh-CN" dirty="0"/>
              <a:t>Whirlpool</a:t>
            </a:r>
            <a:r>
              <a:rPr lang="zh-CN" altLang="en-US" dirty="0"/>
              <a:t>需要更多硬件资源，但性能更好</a:t>
            </a:r>
            <a:endParaRPr lang="en-US" altLang="zh-CN" dirty="0"/>
          </a:p>
          <a:p>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SM3</a:t>
            </a:r>
            <a:endParaRPr lang="zh-CN" altLang="en-US" dirty="0"/>
          </a:p>
        </p:txBody>
      </p:sp>
      <p:sp>
        <p:nvSpPr>
          <p:cNvPr id="3" name="文本占位符 2"/>
          <p:cNvSpPr>
            <a:spLocks noGrp="1"/>
          </p:cNvSpPr>
          <p:nvPr>
            <p:ph type="body" sz="quarter" idx="10"/>
          </p:nvPr>
        </p:nvSpPr>
        <p:spPr/>
        <p:txBody>
          <a:bodyPr/>
          <a:lstStyle/>
          <a:p>
            <a:r>
              <a:rPr lang="en-US" altLang="zh-CN" dirty="0"/>
              <a:t>SM3</a:t>
            </a:r>
            <a:r>
              <a:rPr lang="zh-CN" altLang="en-US" dirty="0"/>
              <a:t>是我国国家密码管理局</a:t>
            </a:r>
            <a:r>
              <a:rPr lang="en-US" altLang="zh-CN" dirty="0"/>
              <a:t>2010</a:t>
            </a:r>
            <a:r>
              <a:rPr lang="zh-CN" altLang="en-US" dirty="0"/>
              <a:t>年发布，</a:t>
            </a:r>
            <a:r>
              <a:rPr lang="en-US" altLang="zh-CN" dirty="0"/>
              <a:t>2018</a:t>
            </a:r>
            <a:r>
              <a:rPr lang="zh-CN" altLang="en-US" dirty="0"/>
              <a:t>年成为国际标准</a:t>
            </a:r>
            <a:endParaRPr lang="en-US" altLang="zh-CN" dirty="0"/>
          </a:p>
          <a:p>
            <a:endParaRPr lang="en-US" altLang="zh-CN" dirty="0"/>
          </a:p>
          <a:p>
            <a:r>
              <a:rPr lang="en-US" altLang="zh-CN" dirty="0">
                <a:cs typeface="Times New Roman" panose="02020603050405020304" pitchFamily="18" charset="0"/>
              </a:rPr>
              <a:t>SM3</a:t>
            </a:r>
            <a:r>
              <a:rPr lang="zh-CN" altLang="en-US" dirty="0">
                <a:cs typeface="Times New Roman" panose="02020603050405020304" pitchFamily="18" charset="0"/>
              </a:rPr>
              <a:t>基于</a:t>
            </a:r>
            <a:r>
              <a:rPr lang="en-US" altLang="zh-CN" dirty="0">
                <a:cs typeface="Times New Roman" panose="02020603050405020304" pitchFamily="18" charset="0"/>
              </a:rPr>
              <a:t>MD</a:t>
            </a:r>
            <a:r>
              <a:rPr lang="zh-CN" altLang="en-US" dirty="0">
                <a:cs typeface="Times New Roman" panose="02020603050405020304" pitchFamily="18" charset="0"/>
              </a:rPr>
              <a:t>（</a:t>
            </a:r>
            <a:r>
              <a:rPr lang="en-US" altLang="zh-CN" dirty="0" err="1">
                <a:cs typeface="Times New Roman" panose="02020603050405020304" pitchFamily="18" charset="0"/>
              </a:rPr>
              <a:t>Merkle-Damgard</a:t>
            </a:r>
            <a:r>
              <a:rPr lang="zh-CN" altLang="en-US" dirty="0">
                <a:cs typeface="Times New Roman" panose="02020603050405020304" pitchFamily="18" charset="0"/>
              </a:rPr>
              <a:t>）结构</a:t>
            </a:r>
            <a:endParaRPr lang="en-US" altLang="zh-CN" dirty="0">
              <a:cs typeface="Times New Roman" panose="02020603050405020304" pitchFamily="18" charset="0"/>
            </a:endParaRPr>
          </a:p>
          <a:p>
            <a:r>
              <a:rPr lang="zh-CN" altLang="en-US" dirty="0">
                <a:cs typeface="Times New Roman" panose="02020603050405020304" pitchFamily="18" charset="0"/>
              </a:rPr>
              <a:t>算法核心包括</a:t>
            </a:r>
            <a:r>
              <a:rPr lang="en-US" altLang="zh-CN" dirty="0">
                <a:cs typeface="Times New Roman" panose="02020603050405020304" pitchFamily="18" charset="0"/>
              </a:rPr>
              <a:t>64</a:t>
            </a:r>
            <a:r>
              <a:rPr lang="zh-CN" altLang="en-US" dirty="0">
                <a:cs typeface="Times New Roman" panose="02020603050405020304" pitchFamily="18" charset="0"/>
              </a:rPr>
              <a:t>步</a:t>
            </a:r>
            <a:endParaRPr lang="en-US" altLang="zh-CN" dirty="0">
              <a:cs typeface="Times New Roman" panose="02020603050405020304" pitchFamily="18" charset="0"/>
            </a:endParaRPr>
          </a:p>
          <a:p>
            <a:r>
              <a:rPr lang="zh-CN" altLang="en-US" dirty="0">
                <a:cs typeface="Times New Roman" panose="02020603050405020304" pitchFamily="18" charset="0"/>
              </a:rPr>
              <a:t>面向</a:t>
            </a:r>
            <a:r>
              <a:rPr lang="en-US" altLang="zh-CN" dirty="0">
                <a:cs typeface="Times New Roman" panose="02020603050405020304" pitchFamily="18" charset="0"/>
              </a:rPr>
              <a:t>32</a:t>
            </a:r>
            <a:r>
              <a:rPr lang="zh-CN" altLang="en-US" dirty="0">
                <a:cs typeface="Times New Roman" panose="02020603050405020304" pitchFamily="18" charset="0"/>
              </a:rPr>
              <a:t>位处理器</a:t>
            </a:r>
            <a:endParaRPr lang="en-AU" altLang="zh-CN" dirty="0">
              <a:cs typeface="Times New Roman" panose="02020603050405020304" pitchFamily="18" charset="0"/>
            </a:endParaRPr>
          </a:p>
          <a:p>
            <a:endParaRPr lang="en-US" altLang="zh-CN" dirty="0">
              <a:cs typeface="Times New Roman" panose="02020603050405020304" pitchFamily="18" charset="0"/>
            </a:endParaRPr>
          </a:p>
          <a:p>
            <a:r>
              <a:rPr lang="zh-CN" altLang="en-US" dirty="0">
                <a:cs typeface="Times New Roman" panose="02020603050405020304" pitchFamily="18" charset="0"/>
              </a:rPr>
              <a:t>产生</a:t>
            </a:r>
            <a:r>
              <a:rPr lang="en-US" altLang="zh-CN" dirty="0">
                <a:cs typeface="Times New Roman" panose="02020603050405020304" pitchFamily="18" charset="0"/>
              </a:rPr>
              <a:t>256</a:t>
            </a:r>
            <a:r>
              <a:rPr lang="zh-CN" altLang="en-US" dirty="0">
                <a:cs typeface="Times New Roman" panose="02020603050405020304" pitchFamily="18" charset="0"/>
              </a:rPr>
              <a:t>比特消息摘要</a:t>
            </a:r>
            <a:endParaRPr lang="en-US" altLang="zh-CN" dirty="0">
              <a:cs typeface="Times New Roman" panose="02020603050405020304" pitchFamily="18" charset="0"/>
            </a:endParaRPr>
          </a:p>
          <a:p>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SM3</a:t>
            </a:r>
            <a:r>
              <a:rPr lang="zh-CN" altLang="en-US" dirty="0"/>
              <a:t>算法步骤</a:t>
            </a:r>
            <a:endParaRPr lang="zh-CN" altLang="en-US" dirty="0"/>
          </a:p>
        </p:txBody>
      </p:sp>
      <p:sp>
        <p:nvSpPr>
          <p:cNvPr id="3" name="文本占位符 2"/>
          <p:cNvSpPr>
            <a:spLocks noGrp="1"/>
          </p:cNvSpPr>
          <p:nvPr>
            <p:ph type="body" sz="quarter" idx="10"/>
          </p:nvPr>
        </p:nvSpPr>
        <p:spPr/>
        <p:txBody>
          <a:bodyPr/>
          <a:lstStyle/>
          <a:p>
            <a:pPr marL="355600" indent="-355600">
              <a:buFontTx/>
              <a:buAutoNum type="arabicPeriod"/>
            </a:pPr>
            <a:r>
              <a:rPr lang="zh-CN" altLang="en-US" dirty="0">
                <a:cs typeface="Times New Roman" panose="02020603050405020304" pitchFamily="18" charset="0"/>
              </a:rPr>
              <a:t>增加填充位，使长度模</a:t>
            </a:r>
            <a:r>
              <a:rPr lang="en-US" altLang="zh-CN" dirty="0">
                <a:cs typeface="Times New Roman" panose="02020603050405020304" pitchFamily="18" charset="0"/>
              </a:rPr>
              <a:t>512</a:t>
            </a:r>
            <a:r>
              <a:rPr lang="zh-CN" altLang="en-US" dirty="0">
                <a:cs typeface="Times New Roman" panose="02020603050405020304" pitchFamily="18" charset="0"/>
              </a:rPr>
              <a:t>余</a:t>
            </a:r>
            <a:r>
              <a:rPr lang="en-US" altLang="zh-CN" dirty="0">
                <a:cs typeface="Times New Roman" panose="02020603050405020304" pitchFamily="18" charset="0"/>
              </a:rPr>
              <a:t>448</a:t>
            </a:r>
            <a:endParaRPr lang="en-AU" altLang="zh-CN" dirty="0">
              <a:cs typeface="Times New Roman" panose="02020603050405020304" pitchFamily="18" charset="0"/>
            </a:endParaRPr>
          </a:p>
          <a:p>
            <a:pPr marL="355600" indent="-355600">
              <a:buFontTx/>
              <a:buAutoNum type="arabicPeriod"/>
            </a:pPr>
            <a:r>
              <a:rPr lang="zh-CN" altLang="en-US" dirty="0">
                <a:cs typeface="Times New Roman" panose="02020603050405020304" pitchFamily="18" charset="0"/>
              </a:rPr>
              <a:t>填充长度，附加原始消息长度，</a:t>
            </a:r>
            <a:r>
              <a:rPr lang="en-US" altLang="zh-CN" dirty="0">
                <a:cs typeface="Times New Roman" panose="02020603050405020304" pitchFamily="18" charset="0"/>
              </a:rPr>
              <a:t>64</a:t>
            </a:r>
            <a:r>
              <a:rPr lang="zh-CN" altLang="en-US" dirty="0">
                <a:cs typeface="Times New Roman" panose="02020603050405020304" pitchFamily="18" charset="0"/>
              </a:rPr>
              <a:t>比特</a:t>
            </a:r>
            <a:endParaRPr lang="en-AU" altLang="zh-CN" dirty="0">
              <a:cs typeface="Times New Roman" panose="02020603050405020304" pitchFamily="18" charset="0"/>
            </a:endParaRPr>
          </a:p>
          <a:p>
            <a:pPr marL="355600" indent="-355600">
              <a:buFontTx/>
              <a:buAutoNum type="arabicPeriod"/>
            </a:pPr>
            <a:r>
              <a:rPr lang="zh-CN" altLang="en-US" dirty="0">
                <a:cs typeface="Times New Roman" panose="02020603050405020304" pitchFamily="18" charset="0"/>
              </a:rPr>
              <a:t>初始化</a:t>
            </a:r>
            <a:r>
              <a:rPr lang="en-US" altLang="zh-CN" dirty="0">
                <a:cs typeface="Times New Roman" panose="02020603050405020304" pitchFamily="18" charset="0"/>
              </a:rPr>
              <a:t>8</a:t>
            </a:r>
            <a:r>
              <a:rPr lang="zh-CN" altLang="en-US" dirty="0">
                <a:cs typeface="Times New Roman" panose="02020603050405020304" pitchFamily="18" charset="0"/>
              </a:rPr>
              <a:t>个</a:t>
            </a:r>
            <a:r>
              <a:rPr lang="en-US" altLang="zh-CN" dirty="0">
                <a:cs typeface="Times New Roman" panose="02020603050405020304" pitchFamily="18" charset="0"/>
              </a:rPr>
              <a:t>32</a:t>
            </a:r>
            <a:r>
              <a:rPr lang="zh-CN" altLang="en-US" dirty="0">
                <a:cs typeface="Times New Roman" panose="02020603050405020304" pitchFamily="18" charset="0"/>
              </a:rPr>
              <a:t>位寄存器</a:t>
            </a:r>
            <a:r>
              <a:rPr lang="en-AU" altLang="zh-CN" dirty="0">
                <a:cs typeface="Times New Roman" panose="02020603050405020304" pitchFamily="18" charset="0"/>
              </a:rPr>
              <a:t>(A, B, C, D, E</a:t>
            </a:r>
            <a:r>
              <a:rPr lang="en-US" altLang="zh-CN" dirty="0">
                <a:cs typeface="Times New Roman" panose="02020603050405020304" pitchFamily="18" charset="0"/>
              </a:rPr>
              <a:t>, F, G, H</a:t>
            </a:r>
            <a:r>
              <a:rPr lang="en-AU" altLang="zh-CN" dirty="0">
                <a:cs typeface="Times New Roman" panose="02020603050405020304" pitchFamily="18" charset="0"/>
              </a:rPr>
              <a:t>)</a:t>
            </a:r>
            <a:endParaRPr lang="en-AU" altLang="zh-CN" dirty="0">
              <a:cs typeface="Times New Roman" panose="02020603050405020304" pitchFamily="18" charset="0"/>
            </a:endParaRPr>
          </a:p>
          <a:p>
            <a:pPr marL="444500" lvl="1" indent="12700">
              <a:buNone/>
            </a:pPr>
            <a:r>
              <a:rPr lang="en-US" altLang="zh-CN" dirty="0">
                <a:latin typeface="Consolas" panose="020B0609020204030204" pitchFamily="49" charset="0"/>
                <a:cs typeface="Times New Roman" panose="02020603050405020304" pitchFamily="18" charset="0"/>
              </a:rPr>
              <a:t>A=7380166f</a:t>
            </a:r>
            <a:r>
              <a:rPr lang="en-AU" altLang="zh-CN" dirty="0">
                <a:latin typeface="Consolas" panose="020B0609020204030204" pitchFamily="49" charset="0"/>
                <a:cs typeface="Times New Roman" panose="02020603050405020304" pitchFamily="18" charset="0"/>
              </a:rPr>
              <a:t>;</a:t>
            </a:r>
            <a:r>
              <a:rPr lang="zh-CN" altLang="en-US" dirty="0">
                <a:latin typeface="Consolas" panose="020B0609020204030204" pitchFamily="49" charset="0"/>
                <a:cs typeface="Times New Roman" panose="02020603050405020304" pitchFamily="18" charset="0"/>
              </a:rPr>
              <a:t> </a:t>
            </a:r>
            <a:r>
              <a:rPr lang="en-AU" altLang="zh-CN" dirty="0">
                <a:latin typeface="Consolas" panose="020B0609020204030204" pitchFamily="49" charset="0"/>
                <a:cs typeface="Times New Roman" panose="02020603050405020304" pitchFamily="18" charset="0"/>
              </a:rPr>
              <a:t>B=4914b2b9;</a:t>
            </a:r>
            <a:endParaRPr lang="en-AU" altLang="zh-CN" dirty="0">
              <a:latin typeface="Consolas" panose="020B0609020204030204" pitchFamily="49" charset="0"/>
              <a:cs typeface="Times New Roman" panose="02020603050405020304" pitchFamily="18" charset="0"/>
            </a:endParaRPr>
          </a:p>
          <a:p>
            <a:pPr marL="444500" lvl="1" indent="12700">
              <a:buNone/>
            </a:pPr>
            <a:r>
              <a:rPr lang="en-AU" altLang="zh-CN" dirty="0">
                <a:latin typeface="Consolas" panose="020B0609020204030204" pitchFamily="49" charset="0"/>
                <a:cs typeface="Times New Roman" panose="02020603050405020304" pitchFamily="18" charset="0"/>
              </a:rPr>
              <a:t>C=172442d7; D=da8a0600;</a:t>
            </a:r>
            <a:endParaRPr lang="en-AU" altLang="zh-CN" dirty="0">
              <a:latin typeface="Consolas" panose="020B0609020204030204" pitchFamily="49" charset="0"/>
              <a:cs typeface="Times New Roman" panose="02020603050405020304" pitchFamily="18" charset="0"/>
            </a:endParaRPr>
          </a:p>
          <a:p>
            <a:pPr marL="444500" lvl="1" indent="12700">
              <a:buNone/>
            </a:pPr>
            <a:r>
              <a:rPr lang="en-AU" altLang="zh-CN" dirty="0">
                <a:latin typeface="Consolas" panose="020B0609020204030204" pitchFamily="49" charset="0"/>
                <a:cs typeface="Times New Roman" panose="02020603050405020304" pitchFamily="18" charset="0"/>
              </a:rPr>
              <a:t>E=a9bf30bc; F=163138aa;</a:t>
            </a:r>
            <a:endParaRPr lang="en-AU" altLang="zh-CN" dirty="0">
              <a:latin typeface="Consolas" panose="020B0609020204030204" pitchFamily="49" charset="0"/>
              <a:cs typeface="Times New Roman" panose="02020603050405020304" pitchFamily="18" charset="0"/>
            </a:endParaRPr>
          </a:p>
          <a:p>
            <a:pPr marL="444500" lvl="1" indent="12700">
              <a:buNone/>
            </a:pPr>
            <a:r>
              <a:rPr lang="en-AU" altLang="zh-CN" dirty="0">
                <a:latin typeface="Consolas" panose="020B0609020204030204" pitchFamily="49" charset="0"/>
                <a:cs typeface="Times New Roman" panose="02020603050405020304" pitchFamily="18" charset="0"/>
              </a:rPr>
              <a:t>G=e38dee4d; H=b0fb0e4e	</a:t>
            </a:r>
            <a:endParaRPr lang="en-AU" altLang="zh-CN" dirty="0">
              <a:latin typeface="Consolas" panose="020B0609020204030204" pitchFamily="49" charset="0"/>
              <a:cs typeface="Times New Roman" panose="02020603050405020304" pitchFamily="18" charset="0"/>
            </a:endParaRPr>
          </a:p>
          <a:p>
            <a:pPr marL="355600" indent="-355600">
              <a:buFontTx/>
              <a:buAutoNum type="arabicPeriod"/>
            </a:pPr>
            <a:r>
              <a:rPr lang="zh-CN" altLang="en-US" dirty="0">
                <a:cs typeface="Times New Roman" panose="02020603050405020304" pitchFamily="18" charset="0"/>
              </a:rPr>
              <a:t>执行</a:t>
            </a:r>
            <a:r>
              <a:rPr lang="en-US" altLang="zh-CN" dirty="0">
                <a:cs typeface="Times New Roman" panose="02020603050405020304" pitchFamily="18" charset="0"/>
              </a:rPr>
              <a:t>64</a:t>
            </a:r>
            <a:r>
              <a:rPr lang="zh-CN" altLang="en-US" dirty="0">
                <a:cs typeface="Times New Roman" panose="02020603050405020304" pitchFamily="18" charset="0"/>
              </a:rPr>
              <a:t>步</a:t>
            </a:r>
            <a:endParaRPr lang="en-AU" altLang="zh-CN" dirty="0">
              <a:cs typeface="Times New Roman" panose="02020603050405020304" pitchFamily="18" charset="0"/>
            </a:endParaRPr>
          </a:p>
          <a:p>
            <a:pPr marL="376555" lvl="1" indent="0">
              <a:buNone/>
            </a:pPr>
            <a:r>
              <a:rPr lang="zh-CN" altLang="en-US" dirty="0">
                <a:cs typeface="Times New Roman" panose="02020603050405020304" pitchFamily="18" charset="0"/>
              </a:rPr>
              <a:t>计算结果加上输入寄存器值作为新的寄存器值</a:t>
            </a:r>
            <a:endParaRPr lang="en-AU" altLang="zh-CN" dirty="0">
              <a:cs typeface="Times New Roman" panose="02020603050405020304" pitchFamily="18" charset="0"/>
            </a:endParaRPr>
          </a:p>
          <a:p>
            <a:pPr marL="355600" indent="-355600">
              <a:buFontTx/>
              <a:buAutoNum type="arabicPeriod"/>
            </a:pPr>
            <a:r>
              <a:rPr lang="zh-CN" altLang="en-US" dirty="0">
                <a:cs typeface="Times New Roman" panose="02020603050405020304" pitchFamily="18" charset="0"/>
              </a:rPr>
              <a:t>输出消息摘要为最终寄存器值</a:t>
            </a:r>
            <a:endParaRPr lang="zh-CN" altLang="en-US" dirty="0"/>
          </a:p>
        </p:txBody>
      </p:sp>
      <p:grpSp>
        <p:nvGrpSpPr>
          <p:cNvPr id="153" name="组合 152"/>
          <p:cNvGrpSpPr/>
          <p:nvPr/>
        </p:nvGrpSpPr>
        <p:grpSpPr>
          <a:xfrm>
            <a:off x="7537153" y="1513349"/>
            <a:ext cx="3070974" cy="3831301"/>
            <a:chOff x="7406525" y="722936"/>
            <a:chExt cx="3070974" cy="3831301"/>
          </a:xfrm>
        </p:grpSpPr>
        <p:sp>
          <p:nvSpPr>
            <p:cNvPr id="6" name="流程图: 可选过程 5"/>
            <p:cNvSpPr/>
            <p:nvPr/>
          </p:nvSpPr>
          <p:spPr>
            <a:xfrm>
              <a:off x="7999311" y="2153955"/>
              <a:ext cx="2097190" cy="345270"/>
            </a:xfrm>
            <a:prstGeom prst="flowChartAlternateProcess">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64</a:t>
              </a:r>
              <a:r>
                <a:rPr lang="zh-CN" altLang="en-US" dirty="0">
                  <a:solidFill>
                    <a:schemeClr val="tx1"/>
                  </a:solidFill>
                </a:rPr>
                <a:t>步</a:t>
              </a:r>
              <a:endParaRPr lang="zh-CN" altLang="en-US" dirty="0">
                <a:solidFill>
                  <a:schemeClr val="tx1"/>
                </a:solidFill>
              </a:endParaRPr>
            </a:p>
          </p:txBody>
        </p:sp>
        <p:cxnSp>
          <p:nvCxnSpPr>
            <p:cNvPr id="8" name="直接连接符 7"/>
            <p:cNvCxnSpPr/>
            <p:nvPr/>
          </p:nvCxnSpPr>
          <p:spPr>
            <a:xfrm>
              <a:off x="8248650" y="1600200"/>
              <a:ext cx="16383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 name="直接连接符 8"/>
            <p:cNvCxnSpPr/>
            <p:nvPr/>
          </p:nvCxnSpPr>
          <p:spPr>
            <a:xfrm>
              <a:off x="8248650" y="1600200"/>
              <a:ext cx="0" cy="553755"/>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a:xfrm>
              <a:off x="9886950" y="1600200"/>
              <a:ext cx="0" cy="553755"/>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3" name="直接连接符 12"/>
            <p:cNvCxnSpPr/>
            <p:nvPr/>
          </p:nvCxnSpPr>
          <p:spPr>
            <a:xfrm>
              <a:off x="8482693" y="1600200"/>
              <a:ext cx="0" cy="553755"/>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a:off x="8716736" y="1600200"/>
              <a:ext cx="0" cy="553755"/>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5" name="直接连接符 14"/>
            <p:cNvCxnSpPr/>
            <p:nvPr/>
          </p:nvCxnSpPr>
          <p:spPr>
            <a:xfrm>
              <a:off x="8950779" y="1600200"/>
              <a:ext cx="0" cy="553755"/>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a:xfrm>
              <a:off x="9184822" y="1600200"/>
              <a:ext cx="0" cy="553755"/>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a:off x="9418865" y="1600200"/>
              <a:ext cx="0" cy="553755"/>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9652908" y="1600200"/>
              <a:ext cx="0" cy="553755"/>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9" name="矩形 18"/>
            <p:cNvSpPr/>
            <p:nvPr/>
          </p:nvSpPr>
          <p:spPr>
            <a:xfrm>
              <a:off x="8192420" y="1808684"/>
              <a:ext cx="314766"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A</a:t>
              </a:r>
              <a:endParaRPr lang="zh-CN" altLang="en-US" sz="1600" dirty="0">
                <a:latin typeface="Times New Roman" panose="02020603050405020304" pitchFamily="18" charset="0"/>
                <a:cs typeface="Times New Roman" panose="02020603050405020304" pitchFamily="18" charset="0"/>
              </a:endParaRPr>
            </a:p>
          </p:txBody>
        </p:sp>
        <p:sp>
          <p:nvSpPr>
            <p:cNvPr id="20" name="矩形 19"/>
            <p:cNvSpPr/>
            <p:nvPr/>
          </p:nvSpPr>
          <p:spPr>
            <a:xfrm>
              <a:off x="8426196" y="1808684"/>
              <a:ext cx="314766"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B</a:t>
              </a:r>
              <a:endParaRPr lang="zh-CN" altLang="en-US" sz="1600" dirty="0">
                <a:latin typeface="Times New Roman" panose="02020603050405020304" pitchFamily="18" charset="0"/>
                <a:cs typeface="Times New Roman" panose="02020603050405020304" pitchFamily="18" charset="0"/>
              </a:endParaRPr>
            </a:p>
          </p:txBody>
        </p:sp>
        <p:sp>
          <p:nvSpPr>
            <p:cNvPr id="21" name="矩形 20"/>
            <p:cNvSpPr/>
            <p:nvPr/>
          </p:nvSpPr>
          <p:spPr>
            <a:xfrm>
              <a:off x="8659972" y="1808684"/>
              <a:ext cx="314766"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C</a:t>
              </a:r>
              <a:endParaRPr lang="zh-CN" altLang="en-US" sz="1600" dirty="0">
                <a:latin typeface="Times New Roman" panose="02020603050405020304" pitchFamily="18" charset="0"/>
                <a:cs typeface="Times New Roman" panose="02020603050405020304" pitchFamily="18" charset="0"/>
              </a:endParaRPr>
            </a:p>
          </p:txBody>
        </p:sp>
        <p:sp>
          <p:nvSpPr>
            <p:cNvPr id="22" name="矩形 21"/>
            <p:cNvSpPr/>
            <p:nvPr/>
          </p:nvSpPr>
          <p:spPr>
            <a:xfrm>
              <a:off x="8893748" y="1808684"/>
              <a:ext cx="314766"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D</a:t>
              </a:r>
              <a:endParaRPr lang="zh-CN" altLang="en-US" sz="1600" dirty="0">
                <a:latin typeface="Times New Roman" panose="02020603050405020304" pitchFamily="18" charset="0"/>
                <a:cs typeface="Times New Roman" panose="02020603050405020304" pitchFamily="18" charset="0"/>
              </a:endParaRPr>
            </a:p>
          </p:txBody>
        </p:sp>
        <p:sp>
          <p:nvSpPr>
            <p:cNvPr id="23" name="矩形 22"/>
            <p:cNvSpPr/>
            <p:nvPr/>
          </p:nvSpPr>
          <p:spPr>
            <a:xfrm>
              <a:off x="9127524" y="1808684"/>
              <a:ext cx="314766"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E</a:t>
              </a:r>
              <a:endParaRPr lang="zh-CN" altLang="en-US" sz="1600" dirty="0">
                <a:latin typeface="Times New Roman" panose="02020603050405020304" pitchFamily="18" charset="0"/>
                <a:cs typeface="Times New Roman" panose="02020603050405020304" pitchFamily="18" charset="0"/>
              </a:endParaRPr>
            </a:p>
          </p:txBody>
        </p:sp>
        <p:sp>
          <p:nvSpPr>
            <p:cNvPr id="24" name="矩形 23"/>
            <p:cNvSpPr/>
            <p:nvPr/>
          </p:nvSpPr>
          <p:spPr>
            <a:xfrm>
              <a:off x="9361300" y="1808684"/>
              <a:ext cx="314766"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F</a:t>
              </a:r>
              <a:endParaRPr lang="zh-CN" altLang="en-US" sz="1600" dirty="0">
                <a:latin typeface="Times New Roman" panose="02020603050405020304" pitchFamily="18" charset="0"/>
                <a:cs typeface="Times New Roman" panose="02020603050405020304" pitchFamily="18" charset="0"/>
              </a:endParaRPr>
            </a:p>
          </p:txBody>
        </p:sp>
        <p:sp>
          <p:nvSpPr>
            <p:cNvPr id="25" name="矩形 24"/>
            <p:cNvSpPr/>
            <p:nvPr/>
          </p:nvSpPr>
          <p:spPr>
            <a:xfrm>
              <a:off x="9595076" y="1808684"/>
              <a:ext cx="314766"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G</a:t>
              </a:r>
              <a:endParaRPr lang="zh-CN" altLang="en-US" sz="1600" dirty="0">
                <a:latin typeface="Times New Roman" panose="02020603050405020304" pitchFamily="18" charset="0"/>
                <a:cs typeface="Times New Roman" panose="02020603050405020304" pitchFamily="18" charset="0"/>
              </a:endParaRPr>
            </a:p>
          </p:txBody>
        </p:sp>
        <p:sp>
          <p:nvSpPr>
            <p:cNvPr id="26" name="矩形 25"/>
            <p:cNvSpPr/>
            <p:nvPr/>
          </p:nvSpPr>
          <p:spPr>
            <a:xfrm>
              <a:off x="9828855" y="1808684"/>
              <a:ext cx="314766"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H</a:t>
              </a:r>
              <a:endParaRPr lang="zh-CN" altLang="en-US" sz="1600" dirty="0">
                <a:latin typeface="Times New Roman" panose="02020603050405020304" pitchFamily="18" charset="0"/>
                <a:cs typeface="Times New Roman" panose="02020603050405020304" pitchFamily="18" charset="0"/>
              </a:endParaRPr>
            </a:p>
          </p:txBody>
        </p:sp>
        <p:cxnSp>
          <p:nvCxnSpPr>
            <p:cNvPr id="28" name="直接连接符 27"/>
            <p:cNvCxnSpPr/>
            <p:nvPr/>
          </p:nvCxnSpPr>
          <p:spPr>
            <a:xfrm flipH="1">
              <a:off x="9828852" y="1716219"/>
              <a:ext cx="122136" cy="132284"/>
            </a:xfrm>
            <a:prstGeom prst="line">
              <a:avLst/>
            </a:prstGeom>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flipH="1">
              <a:off x="9594154" y="1716219"/>
              <a:ext cx="122136" cy="132284"/>
            </a:xfrm>
            <a:prstGeom prst="line">
              <a:avLst/>
            </a:prstGeom>
          </p:spPr>
          <p:style>
            <a:lnRef idx="1">
              <a:schemeClr val="dk1"/>
            </a:lnRef>
            <a:fillRef idx="0">
              <a:schemeClr val="dk1"/>
            </a:fillRef>
            <a:effectRef idx="0">
              <a:schemeClr val="dk1"/>
            </a:effectRef>
            <a:fontRef idx="minor">
              <a:schemeClr val="tx1"/>
            </a:fontRef>
          </p:style>
        </p:cxnSp>
        <p:cxnSp>
          <p:nvCxnSpPr>
            <p:cNvPr id="30" name="直接连接符 29"/>
            <p:cNvCxnSpPr/>
            <p:nvPr/>
          </p:nvCxnSpPr>
          <p:spPr>
            <a:xfrm flipH="1">
              <a:off x="9359453" y="1716219"/>
              <a:ext cx="122136" cy="132284"/>
            </a:xfrm>
            <a:prstGeom prst="line">
              <a:avLst/>
            </a:prstGeom>
          </p:spPr>
          <p:style>
            <a:lnRef idx="1">
              <a:schemeClr val="dk1"/>
            </a:lnRef>
            <a:fillRef idx="0">
              <a:schemeClr val="dk1"/>
            </a:fillRef>
            <a:effectRef idx="0">
              <a:schemeClr val="dk1"/>
            </a:effectRef>
            <a:fontRef idx="minor">
              <a:schemeClr val="tx1"/>
            </a:fontRef>
          </p:style>
        </p:cxnSp>
        <p:cxnSp>
          <p:nvCxnSpPr>
            <p:cNvPr id="31" name="直接连接符 30"/>
            <p:cNvCxnSpPr/>
            <p:nvPr/>
          </p:nvCxnSpPr>
          <p:spPr>
            <a:xfrm flipH="1">
              <a:off x="9124752" y="1716219"/>
              <a:ext cx="122136" cy="132284"/>
            </a:xfrm>
            <a:prstGeom prst="line">
              <a:avLst/>
            </a:prstGeom>
          </p:spPr>
          <p:style>
            <a:lnRef idx="1">
              <a:schemeClr val="dk1"/>
            </a:lnRef>
            <a:fillRef idx="0">
              <a:schemeClr val="dk1"/>
            </a:fillRef>
            <a:effectRef idx="0">
              <a:schemeClr val="dk1"/>
            </a:effectRef>
            <a:fontRef idx="minor">
              <a:schemeClr val="tx1"/>
            </a:fontRef>
          </p:style>
        </p:cxnSp>
        <p:cxnSp>
          <p:nvCxnSpPr>
            <p:cNvPr id="32" name="直接连接符 31"/>
            <p:cNvCxnSpPr/>
            <p:nvPr/>
          </p:nvCxnSpPr>
          <p:spPr>
            <a:xfrm flipH="1">
              <a:off x="8890051" y="1716219"/>
              <a:ext cx="122136" cy="132284"/>
            </a:xfrm>
            <a:prstGeom prst="line">
              <a:avLst/>
            </a:prstGeom>
          </p:spPr>
          <p:style>
            <a:lnRef idx="1">
              <a:schemeClr val="dk1"/>
            </a:lnRef>
            <a:fillRef idx="0">
              <a:schemeClr val="dk1"/>
            </a:fillRef>
            <a:effectRef idx="0">
              <a:schemeClr val="dk1"/>
            </a:effectRef>
            <a:fontRef idx="minor">
              <a:schemeClr val="tx1"/>
            </a:fontRef>
          </p:style>
        </p:cxnSp>
        <p:cxnSp>
          <p:nvCxnSpPr>
            <p:cNvPr id="33" name="直接连接符 32"/>
            <p:cNvCxnSpPr/>
            <p:nvPr/>
          </p:nvCxnSpPr>
          <p:spPr>
            <a:xfrm flipH="1">
              <a:off x="8655350" y="1716219"/>
              <a:ext cx="122136" cy="132284"/>
            </a:xfrm>
            <a:prstGeom prst="line">
              <a:avLst/>
            </a:prstGeom>
          </p:spPr>
          <p:style>
            <a:lnRef idx="1">
              <a:schemeClr val="dk1"/>
            </a:lnRef>
            <a:fillRef idx="0">
              <a:schemeClr val="dk1"/>
            </a:fillRef>
            <a:effectRef idx="0">
              <a:schemeClr val="dk1"/>
            </a:effectRef>
            <a:fontRef idx="minor">
              <a:schemeClr val="tx1"/>
            </a:fontRef>
          </p:style>
        </p:cxnSp>
        <p:cxnSp>
          <p:nvCxnSpPr>
            <p:cNvPr id="34" name="直接连接符 33"/>
            <p:cNvCxnSpPr/>
            <p:nvPr/>
          </p:nvCxnSpPr>
          <p:spPr>
            <a:xfrm flipH="1">
              <a:off x="8420649" y="1716219"/>
              <a:ext cx="122136" cy="132284"/>
            </a:xfrm>
            <a:prstGeom prst="line">
              <a:avLst/>
            </a:prstGeom>
          </p:spPr>
          <p:style>
            <a:lnRef idx="1">
              <a:schemeClr val="dk1"/>
            </a:lnRef>
            <a:fillRef idx="0">
              <a:schemeClr val="dk1"/>
            </a:fillRef>
            <a:effectRef idx="0">
              <a:schemeClr val="dk1"/>
            </a:effectRef>
            <a:fontRef idx="minor">
              <a:schemeClr val="tx1"/>
            </a:fontRef>
          </p:style>
        </p:cxnSp>
        <p:cxnSp>
          <p:nvCxnSpPr>
            <p:cNvPr id="35" name="直接连接符 34"/>
            <p:cNvCxnSpPr/>
            <p:nvPr/>
          </p:nvCxnSpPr>
          <p:spPr>
            <a:xfrm flipH="1">
              <a:off x="8185948" y="1716219"/>
              <a:ext cx="122136" cy="132284"/>
            </a:xfrm>
            <a:prstGeom prst="line">
              <a:avLst/>
            </a:prstGeom>
          </p:spPr>
          <p:style>
            <a:lnRef idx="1">
              <a:schemeClr val="dk1"/>
            </a:lnRef>
            <a:fillRef idx="0">
              <a:schemeClr val="dk1"/>
            </a:fillRef>
            <a:effectRef idx="0">
              <a:schemeClr val="dk1"/>
            </a:effectRef>
            <a:fontRef idx="minor">
              <a:schemeClr val="tx1"/>
            </a:fontRef>
          </p:style>
        </p:cxnSp>
        <p:sp>
          <p:nvSpPr>
            <p:cNvPr id="36" name="矩形 35"/>
            <p:cNvSpPr/>
            <p:nvPr/>
          </p:nvSpPr>
          <p:spPr>
            <a:xfrm>
              <a:off x="9906521" y="1476768"/>
              <a:ext cx="314766"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32</a:t>
              </a:r>
              <a:endParaRPr lang="zh-CN" altLang="en-US" sz="1600" dirty="0">
                <a:latin typeface="Times New Roman" panose="02020603050405020304" pitchFamily="18" charset="0"/>
                <a:cs typeface="Times New Roman" panose="02020603050405020304" pitchFamily="18" charset="0"/>
              </a:endParaRPr>
            </a:p>
          </p:txBody>
        </p:sp>
        <p:cxnSp>
          <p:nvCxnSpPr>
            <p:cNvPr id="37" name="直接连接符 36"/>
            <p:cNvCxnSpPr/>
            <p:nvPr/>
          </p:nvCxnSpPr>
          <p:spPr>
            <a:xfrm flipV="1">
              <a:off x="9067800" y="1041533"/>
              <a:ext cx="0" cy="558668"/>
            </a:xfrm>
            <a:prstGeom prst="line">
              <a:avLst/>
            </a:prstGeom>
            <a:ln w="19050"/>
          </p:spPr>
          <p:style>
            <a:lnRef idx="1">
              <a:schemeClr val="dk1"/>
            </a:lnRef>
            <a:fillRef idx="0">
              <a:schemeClr val="dk1"/>
            </a:fillRef>
            <a:effectRef idx="0">
              <a:schemeClr val="dk1"/>
            </a:effectRef>
            <a:fontRef idx="minor">
              <a:schemeClr val="tx1"/>
            </a:fontRef>
          </p:style>
        </p:cxnSp>
        <p:sp>
          <p:nvSpPr>
            <p:cNvPr id="41" name="矩形 40"/>
            <p:cNvSpPr/>
            <p:nvPr/>
          </p:nvSpPr>
          <p:spPr>
            <a:xfrm>
              <a:off x="8820274" y="733453"/>
              <a:ext cx="534824"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err="1">
                  <a:latin typeface="Times New Roman" panose="02020603050405020304" pitchFamily="18" charset="0"/>
                  <a:cs typeface="Times New Roman" panose="02020603050405020304" pitchFamily="18" charset="0"/>
                </a:rPr>
                <a:t>CV</a:t>
              </a:r>
              <a:r>
                <a:rPr lang="en-US" altLang="zh-CN" sz="1600" baseline="-25000" dirty="0" err="1">
                  <a:latin typeface="Times New Roman" panose="02020603050405020304" pitchFamily="18" charset="0"/>
                  <a:cs typeface="Times New Roman" panose="02020603050405020304" pitchFamily="18" charset="0"/>
                </a:rPr>
                <a:t>q</a:t>
              </a:r>
              <a:endParaRPr lang="zh-CN" altLang="en-US" sz="1600" baseline="-25000" dirty="0">
                <a:latin typeface="Times New Roman" panose="02020603050405020304" pitchFamily="18" charset="0"/>
                <a:cs typeface="Times New Roman" panose="02020603050405020304" pitchFamily="18" charset="0"/>
              </a:endParaRPr>
            </a:p>
          </p:txBody>
        </p:sp>
        <p:cxnSp>
          <p:nvCxnSpPr>
            <p:cNvPr id="42" name="直接连接符 41"/>
            <p:cNvCxnSpPr/>
            <p:nvPr/>
          </p:nvCxnSpPr>
          <p:spPr>
            <a:xfrm flipH="1">
              <a:off x="9003478" y="1232577"/>
              <a:ext cx="122136" cy="132284"/>
            </a:xfrm>
            <a:prstGeom prst="line">
              <a:avLst/>
            </a:prstGeom>
          </p:spPr>
          <p:style>
            <a:lnRef idx="1">
              <a:schemeClr val="dk1"/>
            </a:lnRef>
            <a:fillRef idx="0">
              <a:schemeClr val="dk1"/>
            </a:fillRef>
            <a:effectRef idx="0">
              <a:schemeClr val="dk1"/>
            </a:effectRef>
            <a:fontRef idx="minor">
              <a:schemeClr val="tx1"/>
            </a:fontRef>
          </p:style>
        </p:cxnSp>
        <p:sp>
          <p:nvSpPr>
            <p:cNvPr id="43" name="矩形 42"/>
            <p:cNvSpPr/>
            <p:nvPr/>
          </p:nvSpPr>
          <p:spPr>
            <a:xfrm>
              <a:off x="9118220" y="1011254"/>
              <a:ext cx="459031"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256</a:t>
              </a:r>
              <a:endParaRPr lang="zh-CN" altLang="en-US" sz="1600" dirty="0">
                <a:latin typeface="Times New Roman" panose="02020603050405020304" pitchFamily="18" charset="0"/>
                <a:cs typeface="Times New Roman" panose="02020603050405020304" pitchFamily="18" charset="0"/>
              </a:endParaRPr>
            </a:p>
          </p:txBody>
        </p:sp>
        <p:cxnSp>
          <p:nvCxnSpPr>
            <p:cNvPr id="45" name="直接连接符 44"/>
            <p:cNvCxnSpPr/>
            <p:nvPr/>
          </p:nvCxnSpPr>
          <p:spPr>
            <a:xfrm>
              <a:off x="8255000" y="2499224"/>
              <a:ext cx="0" cy="720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6" name="直接连接符 45"/>
            <p:cNvCxnSpPr/>
            <p:nvPr/>
          </p:nvCxnSpPr>
          <p:spPr>
            <a:xfrm>
              <a:off x="9893300" y="2499224"/>
              <a:ext cx="0" cy="720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7" name="直接连接符 46"/>
            <p:cNvCxnSpPr/>
            <p:nvPr/>
          </p:nvCxnSpPr>
          <p:spPr>
            <a:xfrm>
              <a:off x="8489043" y="2499224"/>
              <a:ext cx="0" cy="720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8" name="直接连接符 47"/>
            <p:cNvCxnSpPr/>
            <p:nvPr/>
          </p:nvCxnSpPr>
          <p:spPr>
            <a:xfrm>
              <a:off x="8723086" y="2499224"/>
              <a:ext cx="0" cy="720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a:xfrm>
              <a:off x="8957129" y="2499224"/>
              <a:ext cx="0" cy="720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50" name="直接连接符 49"/>
            <p:cNvCxnSpPr/>
            <p:nvPr/>
          </p:nvCxnSpPr>
          <p:spPr>
            <a:xfrm>
              <a:off x="9191172" y="2499224"/>
              <a:ext cx="0" cy="720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51" name="直接连接符 50"/>
            <p:cNvCxnSpPr/>
            <p:nvPr/>
          </p:nvCxnSpPr>
          <p:spPr>
            <a:xfrm>
              <a:off x="9425215" y="2499224"/>
              <a:ext cx="0" cy="720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52" name="直接连接符 51"/>
            <p:cNvCxnSpPr/>
            <p:nvPr/>
          </p:nvCxnSpPr>
          <p:spPr>
            <a:xfrm>
              <a:off x="9659258" y="2499224"/>
              <a:ext cx="0" cy="720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3" name="流程图: 可选过程 52"/>
            <p:cNvSpPr/>
            <p:nvPr/>
          </p:nvSpPr>
          <p:spPr>
            <a:xfrm>
              <a:off x="8230520" y="3225700"/>
              <a:ext cx="166248" cy="193495"/>
            </a:xfrm>
            <a:prstGeom prst="flowChartAlternateProcess">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chemeClr val="tx1"/>
                  </a:solidFill>
                </a:rPr>
                <a:t>+</a:t>
              </a:r>
              <a:endParaRPr lang="zh-CN" altLang="en-US" dirty="0">
                <a:solidFill>
                  <a:schemeClr val="tx1"/>
                </a:solidFill>
              </a:endParaRPr>
            </a:p>
          </p:txBody>
        </p:sp>
        <p:sp>
          <p:nvSpPr>
            <p:cNvPr id="55" name="流程图: 可选过程 54"/>
            <p:cNvSpPr/>
            <p:nvPr/>
          </p:nvSpPr>
          <p:spPr>
            <a:xfrm>
              <a:off x="8463442" y="3225700"/>
              <a:ext cx="166248" cy="193495"/>
            </a:xfrm>
            <a:prstGeom prst="flowChartAlternateProcess">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chemeClr val="tx1"/>
                  </a:solidFill>
                </a:rPr>
                <a:t>+</a:t>
              </a:r>
              <a:endParaRPr lang="zh-CN" altLang="en-US" dirty="0">
                <a:solidFill>
                  <a:schemeClr val="tx1"/>
                </a:solidFill>
              </a:endParaRPr>
            </a:p>
          </p:txBody>
        </p:sp>
        <p:sp>
          <p:nvSpPr>
            <p:cNvPr id="56" name="流程图: 可选过程 55"/>
            <p:cNvSpPr/>
            <p:nvPr/>
          </p:nvSpPr>
          <p:spPr>
            <a:xfrm>
              <a:off x="8696364" y="3225700"/>
              <a:ext cx="166248" cy="193495"/>
            </a:xfrm>
            <a:prstGeom prst="flowChartAlternateProcess">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chemeClr val="tx1"/>
                  </a:solidFill>
                </a:rPr>
                <a:t>+</a:t>
              </a:r>
              <a:endParaRPr lang="zh-CN" altLang="en-US" dirty="0">
                <a:solidFill>
                  <a:schemeClr val="tx1"/>
                </a:solidFill>
              </a:endParaRPr>
            </a:p>
          </p:txBody>
        </p:sp>
        <p:sp>
          <p:nvSpPr>
            <p:cNvPr id="57" name="流程图: 可选过程 56"/>
            <p:cNvSpPr/>
            <p:nvPr/>
          </p:nvSpPr>
          <p:spPr>
            <a:xfrm>
              <a:off x="8929286" y="3225700"/>
              <a:ext cx="166248" cy="193495"/>
            </a:xfrm>
            <a:prstGeom prst="flowChartAlternateProcess">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chemeClr val="tx1"/>
                  </a:solidFill>
                </a:rPr>
                <a:t>+</a:t>
              </a:r>
              <a:endParaRPr lang="zh-CN" altLang="en-US" dirty="0">
                <a:solidFill>
                  <a:schemeClr val="tx1"/>
                </a:solidFill>
              </a:endParaRPr>
            </a:p>
          </p:txBody>
        </p:sp>
        <p:sp>
          <p:nvSpPr>
            <p:cNvPr id="58" name="流程图: 可选过程 57"/>
            <p:cNvSpPr/>
            <p:nvPr/>
          </p:nvSpPr>
          <p:spPr>
            <a:xfrm>
              <a:off x="9162208" y="3225700"/>
              <a:ext cx="166248" cy="193495"/>
            </a:xfrm>
            <a:prstGeom prst="flowChartAlternateProcess">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chemeClr val="tx1"/>
                  </a:solidFill>
                </a:rPr>
                <a:t>+</a:t>
              </a:r>
              <a:endParaRPr lang="zh-CN" altLang="en-US" dirty="0">
                <a:solidFill>
                  <a:schemeClr val="tx1"/>
                </a:solidFill>
              </a:endParaRPr>
            </a:p>
          </p:txBody>
        </p:sp>
        <p:sp>
          <p:nvSpPr>
            <p:cNvPr id="59" name="流程图: 可选过程 58"/>
            <p:cNvSpPr/>
            <p:nvPr/>
          </p:nvSpPr>
          <p:spPr>
            <a:xfrm>
              <a:off x="9395130" y="3225700"/>
              <a:ext cx="166248" cy="193495"/>
            </a:xfrm>
            <a:prstGeom prst="flowChartAlternateProcess">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chemeClr val="tx1"/>
                  </a:solidFill>
                </a:rPr>
                <a:t>+</a:t>
              </a:r>
              <a:endParaRPr lang="zh-CN" altLang="en-US" dirty="0">
                <a:solidFill>
                  <a:schemeClr val="tx1"/>
                </a:solidFill>
              </a:endParaRPr>
            </a:p>
          </p:txBody>
        </p:sp>
        <p:sp>
          <p:nvSpPr>
            <p:cNvPr id="60" name="流程图: 可选过程 59"/>
            <p:cNvSpPr/>
            <p:nvPr/>
          </p:nvSpPr>
          <p:spPr>
            <a:xfrm>
              <a:off x="9628052" y="3225700"/>
              <a:ext cx="166248" cy="193495"/>
            </a:xfrm>
            <a:prstGeom prst="flowChartAlternateProcess">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chemeClr val="tx1"/>
                  </a:solidFill>
                </a:rPr>
                <a:t>+</a:t>
              </a:r>
              <a:endParaRPr lang="zh-CN" altLang="en-US" dirty="0">
                <a:solidFill>
                  <a:schemeClr val="tx1"/>
                </a:solidFill>
              </a:endParaRPr>
            </a:p>
          </p:txBody>
        </p:sp>
        <p:sp>
          <p:nvSpPr>
            <p:cNvPr id="61" name="流程图: 可选过程 60"/>
            <p:cNvSpPr/>
            <p:nvPr/>
          </p:nvSpPr>
          <p:spPr>
            <a:xfrm>
              <a:off x="9860976" y="3225700"/>
              <a:ext cx="166248" cy="193495"/>
            </a:xfrm>
            <a:prstGeom prst="flowChartAlternateProcess">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chemeClr val="tx1"/>
                  </a:solidFill>
                </a:rPr>
                <a:t>+</a:t>
              </a:r>
              <a:endParaRPr lang="zh-CN" altLang="en-US" dirty="0">
                <a:solidFill>
                  <a:schemeClr val="tx1"/>
                </a:solidFill>
              </a:endParaRPr>
            </a:p>
          </p:txBody>
        </p:sp>
        <p:cxnSp>
          <p:nvCxnSpPr>
            <p:cNvPr id="62" name="直接连接符 61"/>
            <p:cNvCxnSpPr/>
            <p:nvPr/>
          </p:nvCxnSpPr>
          <p:spPr>
            <a:xfrm>
              <a:off x="8341588" y="2627989"/>
              <a:ext cx="0" cy="594722"/>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63" name="直接连接符 62"/>
            <p:cNvCxnSpPr/>
            <p:nvPr/>
          </p:nvCxnSpPr>
          <p:spPr>
            <a:xfrm>
              <a:off x="9978618" y="3046776"/>
              <a:ext cx="1270" cy="175935"/>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64" name="直接连接符 63"/>
            <p:cNvCxnSpPr/>
            <p:nvPr/>
          </p:nvCxnSpPr>
          <p:spPr>
            <a:xfrm flipH="1">
              <a:off x="8575631" y="2688702"/>
              <a:ext cx="1420" cy="534009"/>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65" name="直接连接符 64"/>
            <p:cNvCxnSpPr/>
            <p:nvPr/>
          </p:nvCxnSpPr>
          <p:spPr>
            <a:xfrm>
              <a:off x="8809674" y="2749415"/>
              <a:ext cx="0" cy="473296"/>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66" name="直接连接符 65"/>
            <p:cNvCxnSpPr/>
            <p:nvPr/>
          </p:nvCxnSpPr>
          <p:spPr>
            <a:xfrm>
              <a:off x="9043717" y="2810128"/>
              <a:ext cx="0" cy="412583"/>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67" name="直接连接符 66"/>
            <p:cNvCxnSpPr/>
            <p:nvPr/>
          </p:nvCxnSpPr>
          <p:spPr>
            <a:xfrm>
              <a:off x="9277760" y="2870841"/>
              <a:ext cx="0" cy="35187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68" name="直接连接符 67"/>
            <p:cNvCxnSpPr/>
            <p:nvPr/>
          </p:nvCxnSpPr>
          <p:spPr>
            <a:xfrm>
              <a:off x="9511803" y="2925350"/>
              <a:ext cx="0" cy="297361"/>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69" name="直接连接符 68"/>
            <p:cNvCxnSpPr/>
            <p:nvPr/>
          </p:nvCxnSpPr>
          <p:spPr>
            <a:xfrm>
              <a:off x="9745846" y="2986063"/>
              <a:ext cx="0" cy="236648"/>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0" name="直接连接符 69"/>
            <p:cNvCxnSpPr/>
            <p:nvPr/>
          </p:nvCxnSpPr>
          <p:spPr>
            <a:xfrm>
              <a:off x="8312976" y="3707195"/>
              <a:ext cx="16383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1" name="直接连接符 70"/>
            <p:cNvCxnSpPr/>
            <p:nvPr/>
          </p:nvCxnSpPr>
          <p:spPr>
            <a:xfrm>
              <a:off x="8308340" y="3419195"/>
              <a:ext cx="0" cy="288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2" name="直接连接符 71"/>
            <p:cNvCxnSpPr/>
            <p:nvPr/>
          </p:nvCxnSpPr>
          <p:spPr>
            <a:xfrm>
              <a:off x="9946640" y="3419195"/>
              <a:ext cx="0" cy="288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3" name="直接连接符 72"/>
            <p:cNvCxnSpPr/>
            <p:nvPr/>
          </p:nvCxnSpPr>
          <p:spPr>
            <a:xfrm>
              <a:off x="8542383" y="3419195"/>
              <a:ext cx="0" cy="288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4" name="直接连接符 73"/>
            <p:cNvCxnSpPr/>
            <p:nvPr/>
          </p:nvCxnSpPr>
          <p:spPr>
            <a:xfrm>
              <a:off x="8776426" y="3419195"/>
              <a:ext cx="0" cy="288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5" name="直接连接符 74"/>
            <p:cNvCxnSpPr/>
            <p:nvPr/>
          </p:nvCxnSpPr>
          <p:spPr>
            <a:xfrm>
              <a:off x="9010469" y="3419195"/>
              <a:ext cx="0" cy="288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6" name="直接连接符 75"/>
            <p:cNvCxnSpPr/>
            <p:nvPr/>
          </p:nvCxnSpPr>
          <p:spPr>
            <a:xfrm>
              <a:off x="9244512" y="3419195"/>
              <a:ext cx="0" cy="288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7" name="直接连接符 76"/>
            <p:cNvCxnSpPr/>
            <p:nvPr/>
          </p:nvCxnSpPr>
          <p:spPr>
            <a:xfrm>
              <a:off x="9478555" y="3419195"/>
              <a:ext cx="0" cy="288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8" name="直接连接符 77"/>
            <p:cNvCxnSpPr/>
            <p:nvPr/>
          </p:nvCxnSpPr>
          <p:spPr>
            <a:xfrm>
              <a:off x="9712598" y="3419195"/>
              <a:ext cx="0" cy="288000"/>
            </a:xfrm>
            <a:prstGeom prst="line">
              <a:avLst/>
            </a:prstGeom>
            <a:ln w="63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9" name="直接连接符 78"/>
            <p:cNvCxnSpPr/>
            <p:nvPr/>
          </p:nvCxnSpPr>
          <p:spPr>
            <a:xfrm flipV="1">
              <a:off x="9139348" y="3707195"/>
              <a:ext cx="0" cy="558668"/>
            </a:xfrm>
            <a:prstGeom prst="line">
              <a:avLst/>
            </a:prstGeom>
            <a:ln w="19050"/>
          </p:spPr>
          <p:style>
            <a:lnRef idx="1">
              <a:schemeClr val="dk1"/>
            </a:lnRef>
            <a:fillRef idx="0">
              <a:schemeClr val="dk1"/>
            </a:fillRef>
            <a:effectRef idx="0">
              <a:schemeClr val="dk1"/>
            </a:effectRef>
            <a:fontRef idx="minor">
              <a:schemeClr val="tx1"/>
            </a:fontRef>
          </p:style>
        </p:cxnSp>
        <p:sp>
          <p:nvSpPr>
            <p:cNvPr id="80" name="矩形 79"/>
            <p:cNvSpPr/>
            <p:nvPr/>
          </p:nvSpPr>
          <p:spPr>
            <a:xfrm>
              <a:off x="9175009" y="3777235"/>
              <a:ext cx="459031"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256</a:t>
              </a:r>
              <a:endParaRPr lang="zh-CN" altLang="en-US" sz="1600" dirty="0">
                <a:latin typeface="Times New Roman" panose="02020603050405020304" pitchFamily="18" charset="0"/>
                <a:cs typeface="Times New Roman" panose="02020603050405020304" pitchFamily="18" charset="0"/>
              </a:endParaRPr>
            </a:p>
          </p:txBody>
        </p:sp>
        <p:cxnSp>
          <p:nvCxnSpPr>
            <p:cNvPr id="81" name="直接连接符 80"/>
            <p:cNvCxnSpPr/>
            <p:nvPr/>
          </p:nvCxnSpPr>
          <p:spPr>
            <a:xfrm flipH="1">
              <a:off x="9071058" y="3967852"/>
              <a:ext cx="122136" cy="132284"/>
            </a:xfrm>
            <a:prstGeom prst="line">
              <a:avLst/>
            </a:prstGeom>
          </p:spPr>
          <p:style>
            <a:lnRef idx="1">
              <a:schemeClr val="dk1"/>
            </a:lnRef>
            <a:fillRef idx="0">
              <a:schemeClr val="dk1"/>
            </a:fillRef>
            <a:effectRef idx="0">
              <a:schemeClr val="dk1"/>
            </a:effectRef>
            <a:fontRef idx="minor">
              <a:schemeClr val="tx1"/>
            </a:fontRef>
          </p:style>
        </p:cxnSp>
        <p:sp>
          <p:nvSpPr>
            <p:cNvPr id="82" name="矩形 81"/>
            <p:cNvSpPr/>
            <p:nvPr/>
          </p:nvSpPr>
          <p:spPr>
            <a:xfrm>
              <a:off x="8960683" y="4256527"/>
              <a:ext cx="616568"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CV</a:t>
              </a:r>
              <a:r>
                <a:rPr lang="en-US" altLang="zh-CN" sz="1600" baseline="-25000" dirty="0">
                  <a:latin typeface="Times New Roman" panose="02020603050405020304" pitchFamily="18" charset="0"/>
                  <a:cs typeface="Times New Roman" panose="02020603050405020304" pitchFamily="18" charset="0"/>
                </a:rPr>
                <a:t>q+1</a:t>
              </a:r>
              <a:endParaRPr lang="zh-CN" altLang="en-US" sz="1600" baseline="-25000" dirty="0">
                <a:latin typeface="Times New Roman" panose="02020603050405020304" pitchFamily="18" charset="0"/>
                <a:cs typeface="Times New Roman" panose="02020603050405020304" pitchFamily="18" charset="0"/>
              </a:endParaRPr>
            </a:p>
          </p:txBody>
        </p:sp>
        <p:cxnSp>
          <p:nvCxnSpPr>
            <p:cNvPr id="83" name="直接连接符 82"/>
            <p:cNvCxnSpPr/>
            <p:nvPr/>
          </p:nvCxnSpPr>
          <p:spPr>
            <a:xfrm flipV="1">
              <a:off x="7658100" y="1041533"/>
              <a:ext cx="0" cy="1285057"/>
            </a:xfrm>
            <a:prstGeom prst="line">
              <a:avLst/>
            </a:prstGeom>
            <a:ln w="28575"/>
          </p:spPr>
          <p:style>
            <a:lnRef idx="1">
              <a:schemeClr val="dk1"/>
            </a:lnRef>
            <a:fillRef idx="0">
              <a:schemeClr val="dk1"/>
            </a:fillRef>
            <a:effectRef idx="0">
              <a:schemeClr val="dk1"/>
            </a:effectRef>
            <a:fontRef idx="minor">
              <a:schemeClr val="tx1"/>
            </a:fontRef>
          </p:style>
        </p:cxnSp>
        <p:cxnSp>
          <p:nvCxnSpPr>
            <p:cNvPr id="85" name="直接连接符 84"/>
            <p:cNvCxnSpPr>
              <a:endCxn id="6" idx="1"/>
            </p:cNvCxnSpPr>
            <p:nvPr/>
          </p:nvCxnSpPr>
          <p:spPr>
            <a:xfrm>
              <a:off x="7645400" y="2326590"/>
              <a:ext cx="353911" cy="0"/>
            </a:xfrm>
            <a:prstGeom prst="line">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99" name="直接连接符 98"/>
            <p:cNvCxnSpPr/>
            <p:nvPr/>
          </p:nvCxnSpPr>
          <p:spPr>
            <a:xfrm flipH="1">
              <a:off x="7593491" y="1348523"/>
              <a:ext cx="122136" cy="132284"/>
            </a:xfrm>
            <a:prstGeom prst="line">
              <a:avLst/>
            </a:prstGeom>
          </p:spPr>
          <p:style>
            <a:lnRef idx="1">
              <a:schemeClr val="dk1"/>
            </a:lnRef>
            <a:fillRef idx="0">
              <a:schemeClr val="dk1"/>
            </a:fillRef>
            <a:effectRef idx="0">
              <a:schemeClr val="dk1"/>
            </a:effectRef>
            <a:fontRef idx="minor">
              <a:schemeClr val="tx1"/>
            </a:fontRef>
          </p:style>
        </p:cxnSp>
        <p:sp>
          <p:nvSpPr>
            <p:cNvPr id="101" name="矩形 100"/>
            <p:cNvSpPr/>
            <p:nvPr/>
          </p:nvSpPr>
          <p:spPr>
            <a:xfrm>
              <a:off x="7688673" y="1147346"/>
              <a:ext cx="459031"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512</a:t>
              </a:r>
              <a:endParaRPr lang="zh-CN" altLang="en-US" sz="1600" dirty="0">
                <a:latin typeface="Times New Roman" panose="02020603050405020304" pitchFamily="18" charset="0"/>
                <a:cs typeface="Times New Roman" panose="02020603050405020304" pitchFamily="18" charset="0"/>
              </a:endParaRPr>
            </a:p>
          </p:txBody>
        </p:sp>
        <p:sp>
          <p:nvSpPr>
            <p:cNvPr id="102" name="矩形 101"/>
            <p:cNvSpPr/>
            <p:nvPr/>
          </p:nvSpPr>
          <p:spPr>
            <a:xfrm>
              <a:off x="7406525" y="722936"/>
              <a:ext cx="534824" cy="29771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err="1">
                  <a:latin typeface="Times New Roman" panose="02020603050405020304" pitchFamily="18" charset="0"/>
                  <a:cs typeface="Times New Roman" panose="02020603050405020304" pitchFamily="18" charset="0"/>
                </a:rPr>
                <a:t>Y</a:t>
              </a:r>
              <a:r>
                <a:rPr lang="en-US" altLang="zh-CN" sz="1600" baseline="-25000" dirty="0" err="1">
                  <a:latin typeface="Times New Roman" panose="02020603050405020304" pitchFamily="18" charset="0"/>
                  <a:cs typeface="Times New Roman" panose="02020603050405020304" pitchFamily="18" charset="0"/>
                </a:rPr>
                <a:t>q</a:t>
              </a:r>
              <a:endParaRPr lang="zh-CN" altLang="en-US" sz="1600" baseline="-25000" dirty="0">
                <a:latin typeface="Times New Roman" panose="02020603050405020304" pitchFamily="18" charset="0"/>
                <a:cs typeface="Times New Roman" panose="02020603050405020304" pitchFamily="18" charset="0"/>
              </a:endParaRPr>
            </a:p>
          </p:txBody>
        </p:sp>
        <p:cxnSp>
          <p:nvCxnSpPr>
            <p:cNvPr id="103" name="直接连接符 102"/>
            <p:cNvCxnSpPr/>
            <p:nvPr/>
          </p:nvCxnSpPr>
          <p:spPr>
            <a:xfrm flipH="1" flipV="1">
              <a:off x="9087686" y="1406729"/>
              <a:ext cx="138981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8" name="直接连接符 107"/>
            <p:cNvCxnSpPr/>
            <p:nvPr/>
          </p:nvCxnSpPr>
          <p:spPr>
            <a:xfrm flipH="1" flipV="1">
              <a:off x="10477499" y="1414666"/>
              <a:ext cx="0" cy="1388569"/>
            </a:xfrm>
            <a:prstGeom prst="line">
              <a:avLst/>
            </a:prstGeom>
            <a:ln w="19050"/>
          </p:spPr>
          <p:style>
            <a:lnRef idx="1">
              <a:schemeClr val="dk1"/>
            </a:lnRef>
            <a:fillRef idx="0">
              <a:schemeClr val="dk1"/>
            </a:fillRef>
            <a:effectRef idx="0">
              <a:schemeClr val="dk1"/>
            </a:effectRef>
            <a:fontRef idx="minor">
              <a:schemeClr val="tx1"/>
            </a:fontRef>
          </p:style>
        </p:cxnSp>
        <p:cxnSp>
          <p:nvCxnSpPr>
            <p:cNvPr id="111" name="直接连接符 110"/>
            <p:cNvCxnSpPr/>
            <p:nvPr/>
          </p:nvCxnSpPr>
          <p:spPr>
            <a:xfrm flipH="1" flipV="1">
              <a:off x="10262458" y="2627989"/>
              <a:ext cx="0" cy="423290"/>
            </a:xfrm>
            <a:prstGeom prst="line">
              <a:avLst/>
            </a:prstGeom>
            <a:ln w="19050"/>
          </p:spPr>
          <p:style>
            <a:lnRef idx="1">
              <a:schemeClr val="dk1"/>
            </a:lnRef>
            <a:fillRef idx="0">
              <a:schemeClr val="dk1"/>
            </a:fillRef>
            <a:effectRef idx="0">
              <a:schemeClr val="dk1"/>
            </a:effectRef>
            <a:fontRef idx="minor">
              <a:schemeClr val="tx1"/>
            </a:fontRef>
          </p:style>
        </p:cxnSp>
        <p:cxnSp>
          <p:nvCxnSpPr>
            <p:cNvPr id="114" name="直接连接符 113"/>
            <p:cNvCxnSpPr/>
            <p:nvPr/>
          </p:nvCxnSpPr>
          <p:spPr>
            <a:xfrm>
              <a:off x="10262458" y="2803235"/>
              <a:ext cx="21504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1" name="直接连接符 120"/>
            <p:cNvCxnSpPr/>
            <p:nvPr/>
          </p:nvCxnSpPr>
          <p:spPr>
            <a:xfrm flipH="1">
              <a:off x="8342183" y="2627989"/>
              <a:ext cx="1921696" cy="0"/>
            </a:xfrm>
            <a:prstGeom prst="line">
              <a:avLst/>
            </a:prstGeom>
          </p:spPr>
          <p:style>
            <a:lnRef idx="1">
              <a:schemeClr val="dk1"/>
            </a:lnRef>
            <a:fillRef idx="0">
              <a:schemeClr val="dk1"/>
            </a:fillRef>
            <a:effectRef idx="0">
              <a:schemeClr val="dk1"/>
            </a:effectRef>
            <a:fontRef idx="minor">
              <a:schemeClr val="tx1"/>
            </a:fontRef>
          </p:style>
        </p:cxnSp>
        <p:cxnSp>
          <p:nvCxnSpPr>
            <p:cNvPr id="124" name="直接连接符 123"/>
            <p:cNvCxnSpPr/>
            <p:nvPr/>
          </p:nvCxnSpPr>
          <p:spPr>
            <a:xfrm flipH="1">
              <a:off x="9978618" y="3052980"/>
              <a:ext cx="285261" cy="0"/>
            </a:xfrm>
            <a:prstGeom prst="line">
              <a:avLst/>
            </a:prstGeom>
          </p:spPr>
          <p:style>
            <a:lnRef idx="1">
              <a:schemeClr val="dk1"/>
            </a:lnRef>
            <a:fillRef idx="0">
              <a:schemeClr val="dk1"/>
            </a:fillRef>
            <a:effectRef idx="0">
              <a:schemeClr val="dk1"/>
            </a:effectRef>
            <a:fontRef idx="minor">
              <a:schemeClr val="tx1"/>
            </a:fontRef>
          </p:style>
        </p:cxnSp>
        <p:cxnSp>
          <p:nvCxnSpPr>
            <p:cNvPr id="126" name="直接连接符 125"/>
            <p:cNvCxnSpPr/>
            <p:nvPr/>
          </p:nvCxnSpPr>
          <p:spPr>
            <a:xfrm flipH="1">
              <a:off x="8577051" y="2688702"/>
              <a:ext cx="1686828" cy="0"/>
            </a:xfrm>
            <a:prstGeom prst="line">
              <a:avLst/>
            </a:prstGeom>
          </p:spPr>
          <p:style>
            <a:lnRef idx="1">
              <a:schemeClr val="dk1"/>
            </a:lnRef>
            <a:fillRef idx="0">
              <a:schemeClr val="dk1"/>
            </a:fillRef>
            <a:effectRef idx="0">
              <a:schemeClr val="dk1"/>
            </a:effectRef>
            <a:fontRef idx="minor">
              <a:schemeClr val="tx1"/>
            </a:fontRef>
          </p:style>
        </p:cxnSp>
        <p:cxnSp>
          <p:nvCxnSpPr>
            <p:cNvPr id="128" name="直接连接符 127"/>
            <p:cNvCxnSpPr/>
            <p:nvPr/>
          </p:nvCxnSpPr>
          <p:spPr>
            <a:xfrm flipH="1">
              <a:off x="8803414" y="2749415"/>
              <a:ext cx="1460465" cy="0"/>
            </a:xfrm>
            <a:prstGeom prst="line">
              <a:avLst/>
            </a:prstGeom>
          </p:spPr>
          <p:style>
            <a:lnRef idx="1">
              <a:schemeClr val="dk1"/>
            </a:lnRef>
            <a:fillRef idx="0">
              <a:schemeClr val="dk1"/>
            </a:fillRef>
            <a:effectRef idx="0">
              <a:schemeClr val="dk1"/>
            </a:effectRef>
            <a:fontRef idx="minor">
              <a:schemeClr val="tx1"/>
            </a:fontRef>
          </p:style>
        </p:cxnSp>
        <p:cxnSp>
          <p:nvCxnSpPr>
            <p:cNvPr id="133" name="直接连接符 132"/>
            <p:cNvCxnSpPr/>
            <p:nvPr/>
          </p:nvCxnSpPr>
          <p:spPr>
            <a:xfrm flipH="1">
              <a:off x="9043717" y="2810128"/>
              <a:ext cx="1220163" cy="0"/>
            </a:xfrm>
            <a:prstGeom prst="line">
              <a:avLst/>
            </a:prstGeom>
          </p:spPr>
          <p:style>
            <a:lnRef idx="1">
              <a:schemeClr val="dk1"/>
            </a:lnRef>
            <a:fillRef idx="0">
              <a:schemeClr val="dk1"/>
            </a:fillRef>
            <a:effectRef idx="0">
              <a:schemeClr val="dk1"/>
            </a:effectRef>
            <a:fontRef idx="minor">
              <a:schemeClr val="tx1"/>
            </a:fontRef>
          </p:style>
        </p:cxnSp>
        <p:cxnSp>
          <p:nvCxnSpPr>
            <p:cNvPr id="135" name="直接连接符 134"/>
            <p:cNvCxnSpPr/>
            <p:nvPr/>
          </p:nvCxnSpPr>
          <p:spPr>
            <a:xfrm flipH="1">
              <a:off x="9277760" y="2870841"/>
              <a:ext cx="986119" cy="0"/>
            </a:xfrm>
            <a:prstGeom prst="line">
              <a:avLst/>
            </a:prstGeom>
          </p:spPr>
          <p:style>
            <a:lnRef idx="1">
              <a:schemeClr val="dk1"/>
            </a:lnRef>
            <a:fillRef idx="0">
              <a:schemeClr val="dk1"/>
            </a:fillRef>
            <a:effectRef idx="0">
              <a:schemeClr val="dk1"/>
            </a:effectRef>
            <a:fontRef idx="minor">
              <a:schemeClr val="tx1"/>
            </a:fontRef>
          </p:style>
        </p:cxnSp>
        <p:cxnSp>
          <p:nvCxnSpPr>
            <p:cNvPr id="137" name="直接连接符 136"/>
            <p:cNvCxnSpPr/>
            <p:nvPr/>
          </p:nvCxnSpPr>
          <p:spPr>
            <a:xfrm flipH="1">
              <a:off x="9511803" y="2931554"/>
              <a:ext cx="752076" cy="0"/>
            </a:xfrm>
            <a:prstGeom prst="line">
              <a:avLst/>
            </a:prstGeom>
          </p:spPr>
          <p:style>
            <a:lnRef idx="1">
              <a:schemeClr val="dk1"/>
            </a:lnRef>
            <a:fillRef idx="0">
              <a:schemeClr val="dk1"/>
            </a:fillRef>
            <a:effectRef idx="0">
              <a:schemeClr val="dk1"/>
            </a:effectRef>
            <a:fontRef idx="minor">
              <a:schemeClr val="tx1"/>
            </a:fontRef>
          </p:style>
        </p:cxnSp>
        <p:cxnSp>
          <p:nvCxnSpPr>
            <p:cNvPr id="139" name="直接连接符 138"/>
            <p:cNvCxnSpPr/>
            <p:nvPr/>
          </p:nvCxnSpPr>
          <p:spPr>
            <a:xfrm flipH="1">
              <a:off x="9745846" y="2992267"/>
              <a:ext cx="518034" cy="0"/>
            </a:xfrm>
            <a:prstGeom prst="line">
              <a:avLst/>
            </a:prstGeom>
          </p:spPr>
          <p:style>
            <a:lnRef idx="1">
              <a:schemeClr val="dk1"/>
            </a:lnRef>
            <a:fillRef idx="0">
              <a:schemeClr val="dk1"/>
            </a:fillRef>
            <a:effectRef idx="0">
              <a:schemeClr val="dk1"/>
            </a:effectRef>
            <a:fontRef idx="minor">
              <a:schemeClr val="tx1"/>
            </a:fontRef>
          </p:style>
        </p:cxn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SM3</a:t>
            </a:r>
            <a:r>
              <a:rPr lang="zh-CN" altLang="en-US" dirty="0"/>
              <a:t>单步操作</a:t>
            </a:r>
            <a:endParaRPr lang="zh-CN" altLang="en-US" dirty="0"/>
          </a:p>
        </p:txBody>
      </p:sp>
      <p:grpSp>
        <p:nvGrpSpPr>
          <p:cNvPr id="6" name="组合 5"/>
          <p:cNvGrpSpPr/>
          <p:nvPr/>
        </p:nvGrpSpPr>
        <p:grpSpPr>
          <a:xfrm>
            <a:off x="2656904" y="680054"/>
            <a:ext cx="7376478" cy="3605624"/>
            <a:chOff x="3530963" y="2822384"/>
            <a:chExt cx="6563892" cy="3009361"/>
          </a:xfrm>
        </p:grpSpPr>
        <p:sp>
          <p:nvSpPr>
            <p:cNvPr id="7" name="矩形 6"/>
            <p:cNvSpPr/>
            <p:nvPr/>
          </p:nvSpPr>
          <p:spPr>
            <a:xfrm>
              <a:off x="7351535" y="2822385"/>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A</a:t>
              </a:r>
              <a:endParaRPr lang="zh-CN" altLang="en-US" sz="1600" dirty="0">
                <a:latin typeface="Times New Roman" panose="02020603050405020304" pitchFamily="18" charset="0"/>
                <a:cs typeface="Times New Roman" panose="02020603050405020304" pitchFamily="18" charset="0"/>
              </a:endParaRPr>
            </a:p>
          </p:txBody>
        </p:sp>
        <p:sp>
          <p:nvSpPr>
            <p:cNvPr id="8" name="矩形 7"/>
            <p:cNvSpPr/>
            <p:nvPr/>
          </p:nvSpPr>
          <p:spPr>
            <a:xfrm>
              <a:off x="7932909" y="2822385"/>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B</a:t>
              </a:r>
              <a:endParaRPr lang="zh-CN" altLang="en-US" sz="1600" dirty="0">
                <a:latin typeface="Times New Roman" panose="02020603050405020304" pitchFamily="18" charset="0"/>
                <a:cs typeface="Times New Roman" panose="02020603050405020304" pitchFamily="18" charset="0"/>
              </a:endParaRPr>
            </a:p>
          </p:txBody>
        </p:sp>
        <p:sp>
          <p:nvSpPr>
            <p:cNvPr id="9" name="矩形 8"/>
            <p:cNvSpPr/>
            <p:nvPr/>
          </p:nvSpPr>
          <p:spPr>
            <a:xfrm>
              <a:off x="8518025" y="2822385"/>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C</a:t>
              </a:r>
              <a:endParaRPr lang="zh-CN" altLang="en-US" sz="1600" dirty="0">
                <a:latin typeface="Times New Roman" panose="02020603050405020304" pitchFamily="18" charset="0"/>
                <a:cs typeface="Times New Roman" panose="02020603050405020304" pitchFamily="18" charset="0"/>
              </a:endParaRPr>
            </a:p>
          </p:txBody>
        </p:sp>
        <p:sp>
          <p:nvSpPr>
            <p:cNvPr id="10" name="矩形 9"/>
            <p:cNvSpPr/>
            <p:nvPr/>
          </p:nvSpPr>
          <p:spPr>
            <a:xfrm>
              <a:off x="9100370" y="2822385"/>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D</a:t>
              </a:r>
              <a:endParaRPr lang="zh-CN" altLang="en-US" sz="1600" dirty="0">
                <a:latin typeface="Times New Roman" panose="02020603050405020304" pitchFamily="18" charset="0"/>
                <a:cs typeface="Times New Roman" panose="02020603050405020304" pitchFamily="18" charset="0"/>
              </a:endParaRPr>
            </a:p>
          </p:txBody>
        </p:sp>
        <p:cxnSp>
          <p:nvCxnSpPr>
            <p:cNvPr id="11" name="直接连接符 10"/>
            <p:cNvCxnSpPr/>
            <p:nvPr/>
          </p:nvCxnSpPr>
          <p:spPr>
            <a:xfrm>
              <a:off x="7748526" y="3070864"/>
              <a:ext cx="0" cy="2232000"/>
            </a:xfrm>
            <a:prstGeom prst="line">
              <a:avLst/>
            </a:prstGeom>
          </p:spPr>
          <p:style>
            <a:lnRef idx="1">
              <a:schemeClr val="dk1"/>
            </a:lnRef>
            <a:fillRef idx="0">
              <a:schemeClr val="dk1"/>
            </a:fillRef>
            <a:effectRef idx="0">
              <a:schemeClr val="dk1"/>
            </a:effectRef>
            <a:fontRef idx="minor">
              <a:schemeClr val="tx1"/>
            </a:fontRef>
          </p:style>
        </p:cxnSp>
        <p:cxnSp>
          <p:nvCxnSpPr>
            <p:cNvPr id="12" name="直接连接符 11"/>
            <p:cNvCxnSpPr>
              <a:endCxn id="24" idx="0"/>
            </p:cNvCxnSpPr>
            <p:nvPr/>
          </p:nvCxnSpPr>
          <p:spPr>
            <a:xfrm>
              <a:off x="7748525" y="5302485"/>
              <a:ext cx="472384" cy="280781"/>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3" name="直接连接符 12"/>
            <p:cNvCxnSpPr>
              <a:endCxn id="14" idx="0"/>
            </p:cNvCxnSpPr>
            <p:nvPr/>
          </p:nvCxnSpPr>
          <p:spPr>
            <a:xfrm>
              <a:off x="8077915" y="3075872"/>
              <a:ext cx="2327" cy="102661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4" name="流程图: 终止 13"/>
            <p:cNvSpPr/>
            <p:nvPr/>
          </p:nvSpPr>
          <p:spPr>
            <a:xfrm>
              <a:off x="7848758" y="4102488"/>
              <a:ext cx="462968" cy="288173"/>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1600" dirty="0">
                  <a:solidFill>
                    <a:schemeClr val="tx1"/>
                  </a:solidFill>
                </a:rPr>
                <a:t>CLS</a:t>
              </a:r>
              <a:r>
                <a:rPr lang="en-US" altLang="zh-CN" sz="1600" baseline="-25000" dirty="0">
                  <a:solidFill>
                    <a:schemeClr val="tx1"/>
                  </a:solidFill>
                </a:rPr>
                <a:t>9</a:t>
              </a:r>
              <a:endParaRPr lang="zh-CN" altLang="en-US" sz="1600" baseline="-25000" dirty="0">
                <a:solidFill>
                  <a:schemeClr val="tx1"/>
                </a:solidFill>
              </a:endParaRPr>
            </a:p>
          </p:txBody>
        </p:sp>
        <p:cxnSp>
          <p:nvCxnSpPr>
            <p:cNvPr id="15" name="直接连接符 14"/>
            <p:cNvCxnSpPr>
              <a:stCxn id="14" idx="2"/>
            </p:cNvCxnSpPr>
            <p:nvPr/>
          </p:nvCxnSpPr>
          <p:spPr>
            <a:xfrm>
              <a:off x="8080242" y="4390661"/>
              <a:ext cx="0" cy="911824"/>
            </a:xfrm>
            <a:prstGeom prst="line">
              <a:avLst/>
            </a:prstGeom>
          </p:spPr>
          <p:style>
            <a:lnRef idx="1">
              <a:schemeClr val="dk1"/>
            </a:lnRef>
            <a:fillRef idx="0">
              <a:schemeClr val="dk1"/>
            </a:fillRef>
            <a:effectRef idx="0">
              <a:schemeClr val="dk1"/>
            </a:effectRef>
            <a:fontRef idx="minor">
              <a:schemeClr val="tx1"/>
            </a:fontRef>
          </p:style>
        </p:cxnSp>
        <p:cxnSp>
          <p:nvCxnSpPr>
            <p:cNvPr id="16" name="直接连接符 15"/>
            <p:cNvCxnSpPr>
              <a:endCxn id="25" idx="0"/>
            </p:cNvCxnSpPr>
            <p:nvPr/>
          </p:nvCxnSpPr>
          <p:spPr>
            <a:xfrm>
              <a:off x="8073897" y="5302485"/>
              <a:ext cx="732128" cy="280781"/>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a:off x="8929904" y="3076101"/>
              <a:ext cx="0" cy="2232000"/>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a:endCxn id="26" idx="0"/>
            </p:cNvCxnSpPr>
            <p:nvPr/>
          </p:nvCxnSpPr>
          <p:spPr>
            <a:xfrm>
              <a:off x="8929904" y="5308981"/>
              <a:ext cx="458466" cy="274285"/>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9" name="流程图: 终止 18"/>
            <p:cNvSpPr/>
            <p:nvPr/>
          </p:nvSpPr>
          <p:spPr>
            <a:xfrm>
              <a:off x="8252002" y="3495670"/>
              <a:ext cx="561262" cy="288173"/>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1600" dirty="0" err="1">
                  <a:solidFill>
                    <a:schemeClr val="tx1"/>
                  </a:solidFill>
                </a:rPr>
                <a:t>FF</a:t>
              </a:r>
              <a:r>
                <a:rPr lang="en-US" altLang="zh-CN" sz="1600" baseline="-25000" dirty="0" err="1">
                  <a:solidFill>
                    <a:schemeClr val="tx1"/>
                  </a:solidFill>
                </a:rPr>
                <a:t>j</a:t>
              </a:r>
              <a:endParaRPr lang="zh-CN" altLang="en-US" sz="1600" baseline="-25000" dirty="0">
                <a:solidFill>
                  <a:schemeClr val="tx1"/>
                </a:solidFill>
              </a:endParaRPr>
            </a:p>
          </p:txBody>
        </p:sp>
        <p:cxnSp>
          <p:nvCxnSpPr>
            <p:cNvPr id="20" name="直接连接符 19"/>
            <p:cNvCxnSpPr/>
            <p:nvPr/>
          </p:nvCxnSpPr>
          <p:spPr>
            <a:xfrm>
              <a:off x="7852939" y="3070863"/>
              <a:ext cx="500097" cy="442589"/>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21" name="直接连接符 20"/>
            <p:cNvCxnSpPr>
              <a:endCxn id="19" idx="0"/>
            </p:cNvCxnSpPr>
            <p:nvPr/>
          </p:nvCxnSpPr>
          <p:spPr>
            <a:xfrm>
              <a:off x="8330026" y="3070864"/>
              <a:ext cx="202607" cy="42480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22" name="直接连接符 21"/>
            <p:cNvCxnSpPr/>
            <p:nvPr/>
          </p:nvCxnSpPr>
          <p:spPr>
            <a:xfrm>
              <a:off x="8662341" y="3069292"/>
              <a:ext cx="0" cy="426377"/>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23" name="矩形 22"/>
            <p:cNvSpPr/>
            <p:nvPr/>
          </p:nvSpPr>
          <p:spPr>
            <a:xfrm>
              <a:off x="7351535" y="5583266"/>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A</a:t>
              </a:r>
              <a:endParaRPr lang="zh-CN" altLang="en-US" sz="1600" dirty="0">
                <a:latin typeface="Times New Roman" panose="02020603050405020304" pitchFamily="18" charset="0"/>
                <a:cs typeface="Times New Roman" panose="02020603050405020304" pitchFamily="18" charset="0"/>
              </a:endParaRPr>
            </a:p>
          </p:txBody>
        </p:sp>
        <p:sp>
          <p:nvSpPr>
            <p:cNvPr id="24" name="矩形 23"/>
            <p:cNvSpPr/>
            <p:nvPr/>
          </p:nvSpPr>
          <p:spPr>
            <a:xfrm>
              <a:off x="7932909" y="5583266"/>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B</a:t>
              </a:r>
              <a:endParaRPr lang="zh-CN" altLang="en-US" sz="1600" dirty="0">
                <a:latin typeface="Times New Roman" panose="02020603050405020304" pitchFamily="18" charset="0"/>
                <a:cs typeface="Times New Roman" panose="02020603050405020304" pitchFamily="18" charset="0"/>
              </a:endParaRPr>
            </a:p>
          </p:txBody>
        </p:sp>
        <p:sp>
          <p:nvSpPr>
            <p:cNvPr id="25" name="矩形 24"/>
            <p:cNvSpPr/>
            <p:nvPr/>
          </p:nvSpPr>
          <p:spPr>
            <a:xfrm>
              <a:off x="8518025" y="5583266"/>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C</a:t>
              </a:r>
              <a:endParaRPr lang="zh-CN" altLang="en-US" sz="1600" dirty="0">
                <a:latin typeface="Times New Roman" panose="02020603050405020304" pitchFamily="18" charset="0"/>
                <a:cs typeface="Times New Roman" panose="02020603050405020304" pitchFamily="18" charset="0"/>
              </a:endParaRPr>
            </a:p>
          </p:txBody>
        </p:sp>
        <p:sp>
          <p:nvSpPr>
            <p:cNvPr id="26" name="矩形 25"/>
            <p:cNvSpPr/>
            <p:nvPr/>
          </p:nvSpPr>
          <p:spPr>
            <a:xfrm>
              <a:off x="9100370" y="5583266"/>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D</a:t>
              </a:r>
              <a:endParaRPr lang="zh-CN" altLang="en-US" sz="1600" dirty="0">
                <a:latin typeface="Times New Roman" panose="02020603050405020304" pitchFamily="18" charset="0"/>
                <a:cs typeface="Times New Roman" panose="02020603050405020304" pitchFamily="18" charset="0"/>
              </a:endParaRPr>
            </a:p>
          </p:txBody>
        </p:sp>
        <p:sp>
          <p:nvSpPr>
            <p:cNvPr id="27" name="流程图: 终止 26"/>
            <p:cNvSpPr/>
            <p:nvPr/>
          </p:nvSpPr>
          <p:spPr>
            <a:xfrm>
              <a:off x="9197468" y="3513452"/>
              <a:ext cx="381804" cy="248478"/>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28" name="流程图: 终止 27"/>
            <p:cNvSpPr/>
            <p:nvPr/>
          </p:nvSpPr>
          <p:spPr>
            <a:xfrm>
              <a:off x="9197468" y="3999224"/>
              <a:ext cx="381804" cy="248478"/>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cxnSp>
          <p:nvCxnSpPr>
            <p:cNvPr id="29" name="直接连接符 28"/>
            <p:cNvCxnSpPr>
              <a:stCxn id="10" idx="2"/>
              <a:endCxn id="27" idx="0"/>
            </p:cNvCxnSpPr>
            <p:nvPr/>
          </p:nvCxnSpPr>
          <p:spPr>
            <a:xfrm>
              <a:off x="9388370" y="3070864"/>
              <a:ext cx="0" cy="442588"/>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30" name="直接连接符 29"/>
            <p:cNvCxnSpPr>
              <a:stCxn id="19" idx="3"/>
              <a:endCxn id="27" idx="1"/>
            </p:cNvCxnSpPr>
            <p:nvPr/>
          </p:nvCxnSpPr>
          <p:spPr>
            <a:xfrm flipV="1">
              <a:off x="8813264" y="3637691"/>
              <a:ext cx="384204" cy="206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31" name="直接连接符 30"/>
            <p:cNvCxnSpPr>
              <a:stCxn id="27" idx="2"/>
              <a:endCxn id="28" idx="0"/>
            </p:cNvCxnSpPr>
            <p:nvPr/>
          </p:nvCxnSpPr>
          <p:spPr>
            <a:xfrm>
              <a:off x="9388370" y="3761930"/>
              <a:ext cx="0" cy="237294"/>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32" name="流程图: 终止 31"/>
            <p:cNvSpPr/>
            <p:nvPr/>
          </p:nvSpPr>
          <p:spPr>
            <a:xfrm>
              <a:off x="7222634" y="3510489"/>
              <a:ext cx="462968" cy="288173"/>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dirty="0">
                  <a:solidFill>
                    <a:schemeClr val="tx1"/>
                  </a:solidFill>
                </a:rPr>
                <a:t>CLS</a:t>
              </a:r>
              <a:r>
                <a:rPr lang="en-US" altLang="zh-CN" sz="1600" baseline="-25000" dirty="0">
                  <a:solidFill>
                    <a:schemeClr val="tx1"/>
                  </a:solidFill>
                </a:rPr>
                <a:t>12</a:t>
              </a:r>
              <a:endParaRPr lang="zh-CN" altLang="en-US" sz="1600" baseline="-25000" dirty="0">
                <a:solidFill>
                  <a:schemeClr val="tx1"/>
                </a:solidFill>
              </a:endParaRPr>
            </a:p>
          </p:txBody>
        </p:sp>
        <p:cxnSp>
          <p:nvCxnSpPr>
            <p:cNvPr id="33" name="直接连接符 32"/>
            <p:cNvCxnSpPr>
              <a:endCxn id="32" idx="0"/>
            </p:cNvCxnSpPr>
            <p:nvPr/>
          </p:nvCxnSpPr>
          <p:spPr>
            <a:xfrm>
              <a:off x="7445177" y="3070864"/>
              <a:ext cx="0" cy="439625"/>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34" name="流程图: 终止 33"/>
            <p:cNvSpPr/>
            <p:nvPr/>
          </p:nvSpPr>
          <p:spPr>
            <a:xfrm>
              <a:off x="9197468" y="4451868"/>
              <a:ext cx="381804" cy="248478"/>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cxnSp>
          <p:nvCxnSpPr>
            <p:cNvPr id="35" name="直接连接符 34"/>
            <p:cNvCxnSpPr>
              <a:stCxn id="28" idx="2"/>
              <a:endCxn id="34" idx="0"/>
            </p:cNvCxnSpPr>
            <p:nvPr/>
          </p:nvCxnSpPr>
          <p:spPr>
            <a:xfrm>
              <a:off x="9388370" y="4247702"/>
              <a:ext cx="0" cy="20416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36" name="直接连接符 35"/>
            <p:cNvCxnSpPr>
              <a:endCxn id="28" idx="3"/>
            </p:cNvCxnSpPr>
            <p:nvPr/>
          </p:nvCxnSpPr>
          <p:spPr>
            <a:xfrm flipH="1">
              <a:off x="9579272" y="4123463"/>
              <a:ext cx="267564" cy="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37" name="矩形 36"/>
            <p:cNvSpPr/>
            <p:nvPr/>
          </p:nvSpPr>
          <p:spPr>
            <a:xfrm>
              <a:off x="9713054" y="3856348"/>
              <a:ext cx="381801" cy="24847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err="1">
                  <a:latin typeface="Times New Roman" panose="02020603050405020304" pitchFamily="18" charset="0"/>
                  <a:cs typeface="Times New Roman" panose="02020603050405020304" pitchFamily="18" charset="0"/>
                </a:rPr>
                <a:t>W</a:t>
              </a:r>
              <a:r>
                <a:rPr lang="en-US" altLang="zh-CN" sz="1600" baseline="-25000" dirty="0" err="1">
                  <a:latin typeface="Times New Roman" panose="02020603050405020304" pitchFamily="18" charset="0"/>
                  <a:cs typeface="Times New Roman" panose="02020603050405020304" pitchFamily="18" charset="0"/>
                </a:rPr>
                <a:t>j</a:t>
              </a:r>
              <a:r>
                <a:rPr lang="en-US"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cxnSp>
          <p:nvCxnSpPr>
            <p:cNvPr id="38" name="直接连接符 37"/>
            <p:cNvCxnSpPr>
              <a:endCxn id="23" idx="0"/>
            </p:cNvCxnSpPr>
            <p:nvPr/>
          </p:nvCxnSpPr>
          <p:spPr>
            <a:xfrm flipH="1">
              <a:off x="7639535" y="5308981"/>
              <a:ext cx="1748835" cy="274285"/>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39" name="直接连接符 38"/>
            <p:cNvCxnSpPr>
              <a:stCxn id="34" idx="2"/>
            </p:cNvCxnSpPr>
            <p:nvPr/>
          </p:nvCxnSpPr>
          <p:spPr>
            <a:xfrm>
              <a:off x="9388370" y="4700346"/>
              <a:ext cx="0" cy="608635"/>
            </a:xfrm>
            <a:prstGeom prst="line">
              <a:avLst/>
            </a:prstGeom>
          </p:spPr>
          <p:style>
            <a:lnRef idx="1">
              <a:schemeClr val="dk1"/>
            </a:lnRef>
            <a:fillRef idx="0">
              <a:schemeClr val="dk1"/>
            </a:fillRef>
            <a:effectRef idx="0">
              <a:schemeClr val="dk1"/>
            </a:effectRef>
            <a:fontRef idx="minor">
              <a:schemeClr val="tx1"/>
            </a:fontRef>
          </p:style>
        </p:cxnSp>
        <p:sp>
          <p:nvSpPr>
            <p:cNvPr id="40" name="流程图: 或者 39"/>
            <p:cNvSpPr/>
            <p:nvPr/>
          </p:nvSpPr>
          <p:spPr>
            <a:xfrm>
              <a:off x="7455137" y="4484731"/>
              <a:ext cx="180000" cy="180000"/>
            </a:xfrm>
            <a:prstGeom prst="flowChar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1" name="流程图: 终止 40"/>
            <p:cNvSpPr/>
            <p:nvPr/>
          </p:nvSpPr>
          <p:spPr>
            <a:xfrm>
              <a:off x="6620920" y="3979285"/>
              <a:ext cx="381804" cy="248478"/>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cxnSp>
          <p:nvCxnSpPr>
            <p:cNvPr id="42" name="直接连接符 41"/>
            <p:cNvCxnSpPr>
              <a:stCxn id="40" idx="6"/>
              <a:endCxn id="34" idx="1"/>
            </p:cNvCxnSpPr>
            <p:nvPr/>
          </p:nvCxnSpPr>
          <p:spPr>
            <a:xfrm>
              <a:off x="7635137" y="4574731"/>
              <a:ext cx="1562331" cy="137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3" name="直接连接符 42"/>
            <p:cNvCxnSpPr>
              <a:endCxn id="40" idx="0"/>
            </p:cNvCxnSpPr>
            <p:nvPr/>
          </p:nvCxnSpPr>
          <p:spPr>
            <a:xfrm>
              <a:off x="7543800" y="3790950"/>
              <a:ext cx="1337" cy="693781"/>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44" name="流程图: 终止 43"/>
            <p:cNvSpPr/>
            <p:nvPr/>
          </p:nvSpPr>
          <p:spPr>
            <a:xfrm>
              <a:off x="6580872" y="4431510"/>
              <a:ext cx="462968" cy="288173"/>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1600" dirty="0">
                  <a:solidFill>
                    <a:schemeClr val="tx1"/>
                  </a:solidFill>
                </a:rPr>
                <a:t>CLS</a:t>
              </a:r>
              <a:r>
                <a:rPr lang="en-US" altLang="zh-CN" sz="1600" baseline="-25000" dirty="0">
                  <a:solidFill>
                    <a:schemeClr val="tx1"/>
                  </a:solidFill>
                </a:rPr>
                <a:t>7</a:t>
              </a:r>
              <a:endParaRPr lang="zh-CN" altLang="en-US" sz="1600" baseline="-25000" dirty="0">
                <a:solidFill>
                  <a:schemeClr val="tx1"/>
                </a:solidFill>
              </a:endParaRPr>
            </a:p>
          </p:txBody>
        </p:sp>
        <p:cxnSp>
          <p:nvCxnSpPr>
            <p:cNvPr id="45" name="直接连接符 44"/>
            <p:cNvCxnSpPr>
              <a:stCxn id="41" idx="2"/>
              <a:endCxn id="44" idx="0"/>
            </p:cNvCxnSpPr>
            <p:nvPr/>
          </p:nvCxnSpPr>
          <p:spPr>
            <a:xfrm>
              <a:off x="6811822" y="4227763"/>
              <a:ext cx="534" cy="203747"/>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6" name="直接连接符 45"/>
            <p:cNvCxnSpPr>
              <a:stCxn id="44" idx="3"/>
              <a:endCxn id="40" idx="2"/>
            </p:cNvCxnSpPr>
            <p:nvPr/>
          </p:nvCxnSpPr>
          <p:spPr>
            <a:xfrm flipV="1">
              <a:off x="7043840" y="4574731"/>
              <a:ext cx="411297" cy="86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7" name="直接连接符 46"/>
            <p:cNvCxnSpPr>
              <a:stCxn id="49" idx="2"/>
              <a:endCxn id="41" idx="0"/>
            </p:cNvCxnSpPr>
            <p:nvPr/>
          </p:nvCxnSpPr>
          <p:spPr>
            <a:xfrm>
              <a:off x="6809001" y="3683451"/>
              <a:ext cx="2821" cy="295834"/>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48" name="矩形 47"/>
            <p:cNvSpPr/>
            <p:nvPr/>
          </p:nvSpPr>
          <p:spPr>
            <a:xfrm>
              <a:off x="6626201" y="2839811"/>
              <a:ext cx="381801" cy="24847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err="1">
                  <a:latin typeface="Times New Roman" panose="02020603050405020304" pitchFamily="18" charset="0"/>
                  <a:cs typeface="Times New Roman" panose="02020603050405020304" pitchFamily="18" charset="0"/>
                </a:rPr>
                <a:t>T</a:t>
              </a:r>
              <a:r>
                <a:rPr lang="en-US" altLang="zh-CN" sz="1600" baseline="-25000" dirty="0" err="1">
                  <a:latin typeface="Times New Roman" panose="02020603050405020304" pitchFamily="18" charset="0"/>
                  <a:cs typeface="Times New Roman" panose="02020603050405020304" pitchFamily="18" charset="0"/>
                </a:rPr>
                <a:t>j</a:t>
              </a:r>
              <a:endParaRPr lang="zh-CN" altLang="en-US" sz="1600" dirty="0">
                <a:latin typeface="Times New Roman" panose="02020603050405020304" pitchFamily="18" charset="0"/>
                <a:cs typeface="Times New Roman" panose="02020603050405020304" pitchFamily="18" charset="0"/>
              </a:endParaRPr>
            </a:p>
          </p:txBody>
        </p:sp>
        <p:sp>
          <p:nvSpPr>
            <p:cNvPr id="49" name="流程图: 终止 48"/>
            <p:cNvSpPr/>
            <p:nvPr/>
          </p:nvSpPr>
          <p:spPr>
            <a:xfrm>
              <a:off x="6577517" y="3395278"/>
              <a:ext cx="462968" cy="288173"/>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1600" dirty="0" err="1">
                  <a:solidFill>
                    <a:schemeClr val="tx1"/>
                  </a:solidFill>
                </a:rPr>
                <a:t>CLS</a:t>
              </a:r>
              <a:r>
                <a:rPr lang="en-US" altLang="zh-CN" sz="1600" baseline="-25000" dirty="0" err="1">
                  <a:solidFill>
                    <a:schemeClr val="tx1"/>
                  </a:solidFill>
                </a:rPr>
                <a:t>j</a:t>
              </a:r>
              <a:endParaRPr lang="zh-CN" altLang="en-US" sz="1600" baseline="-25000" dirty="0">
                <a:solidFill>
                  <a:schemeClr val="tx1"/>
                </a:solidFill>
              </a:endParaRPr>
            </a:p>
          </p:txBody>
        </p:sp>
        <p:cxnSp>
          <p:nvCxnSpPr>
            <p:cNvPr id="50" name="直接连接符 49"/>
            <p:cNvCxnSpPr>
              <a:endCxn id="49" idx="0"/>
            </p:cNvCxnSpPr>
            <p:nvPr/>
          </p:nvCxnSpPr>
          <p:spPr>
            <a:xfrm>
              <a:off x="6809001" y="3103336"/>
              <a:ext cx="0" cy="291942"/>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1" name="矩形 50"/>
            <p:cNvSpPr/>
            <p:nvPr/>
          </p:nvSpPr>
          <p:spPr>
            <a:xfrm>
              <a:off x="3949775" y="2822384"/>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H</a:t>
              </a:r>
              <a:endParaRPr lang="zh-CN" altLang="en-US" sz="1600" dirty="0">
                <a:latin typeface="Times New Roman" panose="02020603050405020304" pitchFamily="18" charset="0"/>
                <a:cs typeface="Times New Roman" panose="02020603050405020304" pitchFamily="18" charset="0"/>
              </a:endParaRPr>
            </a:p>
          </p:txBody>
        </p:sp>
        <p:sp>
          <p:nvSpPr>
            <p:cNvPr id="52" name="矩形 51"/>
            <p:cNvSpPr/>
            <p:nvPr/>
          </p:nvSpPr>
          <p:spPr>
            <a:xfrm>
              <a:off x="4531149" y="2822384"/>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G</a:t>
              </a:r>
              <a:endParaRPr lang="zh-CN" altLang="en-US" sz="1600" dirty="0">
                <a:latin typeface="Times New Roman" panose="02020603050405020304" pitchFamily="18" charset="0"/>
                <a:cs typeface="Times New Roman" panose="02020603050405020304" pitchFamily="18" charset="0"/>
              </a:endParaRPr>
            </a:p>
          </p:txBody>
        </p:sp>
        <p:sp>
          <p:nvSpPr>
            <p:cNvPr id="53" name="矩形 52"/>
            <p:cNvSpPr/>
            <p:nvPr/>
          </p:nvSpPr>
          <p:spPr>
            <a:xfrm>
              <a:off x="5109915" y="2822384"/>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F</a:t>
              </a:r>
              <a:endParaRPr lang="zh-CN" altLang="en-US" sz="1600" dirty="0">
                <a:latin typeface="Times New Roman" panose="02020603050405020304" pitchFamily="18" charset="0"/>
                <a:cs typeface="Times New Roman" panose="02020603050405020304" pitchFamily="18" charset="0"/>
              </a:endParaRPr>
            </a:p>
          </p:txBody>
        </p:sp>
        <p:sp>
          <p:nvSpPr>
            <p:cNvPr id="54" name="矩形 53"/>
            <p:cNvSpPr/>
            <p:nvPr/>
          </p:nvSpPr>
          <p:spPr>
            <a:xfrm>
              <a:off x="5692260" y="2822384"/>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E</a:t>
              </a:r>
              <a:endParaRPr lang="zh-CN" altLang="en-US" sz="1600" dirty="0">
                <a:latin typeface="Times New Roman" panose="02020603050405020304" pitchFamily="18" charset="0"/>
                <a:cs typeface="Times New Roman" panose="02020603050405020304" pitchFamily="18" charset="0"/>
              </a:endParaRPr>
            </a:p>
          </p:txBody>
        </p:sp>
        <p:cxnSp>
          <p:nvCxnSpPr>
            <p:cNvPr id="55" name="直接连接符 54"/>
            <p:cNvCxnSpPr/>
            <p:nvPr/>
          </p:nvCxnSpPr>
          <p:spPr>
            <a:xfrm>
              <a:off x="5880093" y="3070862"/>
              <a:ext cx="0" cy="2232000"/>
            </a:xfrm>
            <a:prstGeom prst="line">
              <a:avLst/>
            </a:prstGeom>
          </p:spPr>
          <p:style>
            <a:lnRef idx="1">
              <a:schemeClr val="dk1"/>
            </a:lnRef>
            <a:fillRef idx="0">
              <a:schemeClr val="dk1"/>
            </a:fillRef>
            <a:effectRef idx="0">
              <a:schemeClr val="dk1"/>
            </a:effectRef>
            <a:fontRef idx="minor">
              <a:schemeClr val="tx1"/>
            </a:fontRef>
          </p:style>
        </p:cxnSp>
        <p:cxnSp>
          <p:nvCxnSpPr>
            <p:cNvPr id="56" name="直接连接符 55"/>
            <p:cNvCxnSpPr>
              <a:endCxn id="70" idx="0"/>
            </p:cNvCxnSpPr>
            <p:nvPr/>
          </p:nvCxnSpPr>
          <p:spPr>
            <a:xfrm>
              <a:off x="4243637" y="5303631"/>
              <a:ext cx="1736623" cy="279634"/>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57" name="直接连接符 56"/>
            <p:cNvCxnSpPr>
              <a:endCxn id="58" idx="0"/>
            </p:cNvCxnSpPr>
            <p:nvPr/>
          </p:nvCxnSpPr>
          <p:spPr>
            <a:xfrm>
              <a:off x="5517359" y="3075872"/>
              <a:ext cx="1321" cy="102661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8" name="流程图: 终止 57"/>
            <p:cNvSpPr/>
            <p:nvPr/>
          </p:nvSpPr>
          <p:spPr>
            <a:xfrm>
              <a:off x="5287196" y="4102488"/>
              <a:ext cx="462968" cy="288173"/>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dirty="0">
                  <a:solidFill>
                    <a:schemeClr val="tx1"/>
                  </a:solidFill>
                </a:rPr>
                <a:t>CLS</a:t>
              </a:r>
              <a:r>
                <a:rPr lang="en-US" altLang="zh-CN" sz="1600" baseline="-25000" dirty="0">
                  <a:solidFill>
                    <a:schemeClr val="tx1"/>
                  </a:solidFill>
                </a:rPr>
                <a:t>19</a:t>
              </a:r>
              <a:endParaRPr lang="zh-CN" altLang="en-US" sz="1600" baseline="-25000" dirty="0">
                <a:solidFill>
                  <a:schemeClr val="tx1"/>
                </a:solidFill>
              </a:endParaRPr>
            </a:p>
          </p:txBody>
        </p:sp>
        <p:cxnSp>
          <p:nvCxnSpPr>
            <p:cNvPr id="59" name="直接连接符 58"/>
            <p:cNvCxnSpPr>
              <a:stCxn id="58" idx="2"/>
            </p:cNvCxnSpPr>
            <p:nvPr/>
          </p:nvCxnSpPr>
          <p:spPr>
            <a:xfrm>
              <a:off x="5518680" y="4390661"/>
              <a:ext cx="0" cy="917836"/>
            </a:xfrm>
            <a:prstGeom prst="line">
              <a:avLst/>
            </a:prstGeom>
          </p:spPr>
          <p:style>
            <a:lnRef idx="1">
              <a:schemeClr val="dk1"/>
            </a:lnRef>
            <a:fillRef idx="0">
              <a:schemeClr val="dk1"/>
            </a:fillRef>
            <a:effectRef idx="0">
              <a:schemeClr val="dk1"/>
            </a:effectRef>
            <a:fontRef idx="minor">
              <a:schemeClr val="tx1"/>
            </a:fontRef>
          </p:style>
        </p:cxnSp>
        <p:cxnSp>
          <p:nvCxnSpPr>
            <p:cNvPr id="60" name="直接连接符 59"/>
            <p:cNvCxnSpPr>
              <a:endCxn id="67" idx="0"/>
            </p:cNvCxnSpPr>
            <p:nvPr/>
          </p:nvCxnSpPr>
          <p:spPr>
            <a:xfrm flipH="1">
              <a:off x="4237775" y="5302485"/>
              <a:ext cx="517203" cy="28078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61" name="直接连接符 60"/>
            <p:cNvCxnSpPr/>
            <p:nvPr/>
          </p:nvCxnSpPr>
          <p:spPr>
            <a:xfrm>
              <a:off x="4751588" y="3075728"/>
              <a:ext cx="0" cy="2232000"/>
            </a:xfrm>
            <a:prstGeom prst="line">
              <a:avLst/>
            </a:prstGeom>
          </p:spPr>
          <p:style>
            <a:lnRef idx="1">
              <a:schemeClr val="dk1"/>
            </a:lnRef>
            <a:fillRef idx="0">
              <a:schemeClr val="dk1"/>
            </a:fillRef>
            <a:effectRef idx="0">
              <a:schemeClr val="dk1"/>
            </a:effectRef>
            <a:fontRef idx="minor">
              <a:schemeClr val="tx1"/>
            </a:fontRef>
          </p:style>
        </p:cxnSp>
        <p:cxnSp>
          <p:nvCxnSpPr>
            <p:cNvPr id="62" name="直接连接符 61"/>
            <p:cNvCxnSpPr>
              <a:endCxn id="68" idx="0"/>
            </p:cNvCxnSpPr>
            <p:nvPr/>
          </p:nvCxnSpPr>
          <p:spPr>
            <a:xfrm flipH="1">
              <a:off x="4819149" y="5309266"/>
              <a:ext cx="698210" cy="273999"/>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3" name="流程图: 终止 62"/>
            <p:cNvSpPr/>
            <p:nvPr/>
          </p:nvSpPr>
          <p:spPr>
            <a:xfrm>
              <a:off x="4862942" y="3495669"/>
              <a:ext cx="561262" cy="288173"/>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1600" dirty="0" err="1">
                  <a:solidFill>
                    <a:schemeClr val="tx1"/>
                  </a:solidFill>
                </a:rPr>
                <a:t>GG</a:t>
              </a:r>
              <a:r>
                <a:rPr lang="en-US" altLang="zh-CN" sz="1600" baseline="-25000" dirty="0" err="1">
                  <a:solidFill>
                    <a:schemeClr val="tx1"/>
                  </a:solidFill>
                </a:rPr>
                <a:t>j</a:t>
              </a:r>
              <a:endParaRPr lang="zh-CN" altLang="en-US" sz="1600" baseline="-25000" dirty="0">
                <a:solidFill>
                  <a:schemeClr val="tx1"/>
                </a:solidFill>
              </a:endParaRPr>
            </a:p>
          </p:txBody>
        </p:sp>
        <p:cxnSp>
          <p:nvCxnSpPr>
            <p:cNvPr id="64" name="直接连接符 63"/>
            <p:cNvCxnSpPr/>
            <p:nvPr/>
          </p:nvCxnSpPr>
          <p:spPr>
            <a:xfrm flipH="1">
              <a:off x="4993777" y="3062829"/>
              <a:ext cx="1" cy="423659"/>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65" name="直接连接符 64"/>
            <p:cNvCxnSpPr>
              <a:endCxn id="63" idx="0"/>
            </p:cNvCxnSpPr>
            <p:nvPr/>
          </p:nvCxnSpPr>
          <p:spPr>
            <a:xfrm flipH="1">
              <a:off x="5143573" y="3062829"/>
              <a:ext cx="129560" cy="43284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66" name="直接连接符 65"/>
            <p:cNvCxnSpPr/>
            <p:nvPr/>
          </p:nvCxnSpPr>
          <p:spPr>
            <a:xfrm flipH="1">
              <a:off x="5296869" y="3077400"/>
              <a:ext cx="476786" cy="41827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7" name="矩形 66"/>
            <p:cNvSpPr/>
            <p:nvPr/>
          </p:nvSpPr>
          <p:spPr>
            <a:xfrm>
              <a:off x="3949775" y="5583265"/>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H</a:t>
              </a:r>
              <a:endParaRPr lang="zh-CN" altLang="en-US" sz="1600" dirty="0">
                <a:latin typeface="Times New Roman" panose="02020603050405020304" pitchFamily="18" charset="0"/>
                <a:cs typeface="Times New Roman" panose="02020603050405020304" pitchFamily="18" charset="0"/>
              </a:endParaRPr>
            </a:p>
          </p:txBody>
        </p:sp>
        <p:sp>
          <p:nvSpPr>
            <p:cNvPr id="68" name="矩形 67"/>
            <p:cNvSpPr/>
            <p:nvPr/>
          </p:nvSpPr>
          <p:spPr>
            <a:xfrm>
              <a:off x="4531149" y="5583265"/>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G</a:t>
              </a:r>
              <a:endParaRPr lang="zh-CN" altLang="en-US" sz="1600" dirty="0">
                <a:latin typeface="Times New Roman" panose="02020603050405020304" pitchFamily="18" charset="0"/>
                <a:cs typeface="Times New Roman" panose="02020603050405020304" pitchFamily="18" charset="0"/>
              </a:endParaRPr>
            </a:p>
          </p:txBody>
        </p:sp>
        <p:sp>
          <p:nvSpPr>
            <p:cNvPr id="69" name="矩形 68"/>
            <p:cNvSpPr/>
            <p:nvPr/>
          </p:nvSpPr>
          <p:spPr>
            <a:xfrm>
              <a:off x="5109915" y="5583265"/>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F</a:t>
              </a:r>
              <a:endParaRPr lang="zh-CN" altLang="en-US" sz="1600" dirty="0">
                <a:latin typeface="Times New Roman" panose="02020603050405020304" pitchFamily="18" charset="0"/>
                <a:cs typeface="Times New Roman" panose="02020603050405020304" pitchFamily="18" charset="0"/>
              </a:endParaRPr>
            </a:p>
          </p:txBody>
        </p:sp>
        <p:sp>
          <p:nvSpPr>
            <p:cNvPr id="70" name="矩形 69"/>
            <p:cNvSpPr/>
            <p:nvPr/>
          </p:nvSpPr>
          <p:spPr>
            <a:xfrm>
              <a:off x="5692260" y="5583265"/>
              <a:ext cx="576000" cy="248479"/>
            </a:xfrm>
            <a:prstGeom prst="rect">
              <a:avLst/>
            </a:prstGeom>
            <a:solidFill>
              <a:schemeClr val="bg1">
                <a:lumMod val="8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a:latin typeface="Times New Roman" panose="02020603050405020304" pitchFamily="18" charset="0"/>
                  <a:cs typeface="Times New Roman" panose="02020603050405020304" pitchFamily="18" charset="0"/>
                </a:rPr>
                <a:t>E</a:t>
              </a:r>
              <a:endParaRPr lang="zh-CN" altLang="en-US" sz="1600" dirty="0">
                <a:latin typeface="Times New Roman" panose="02020603050405020304" pitchFamily="18" charset="0"/>
                <a:cs typeface="Times New Roman" panose="02020603050405020304" pitchFamily="18" charset="0"/>
              </a:endParaRPr>
            </a:p>
          </p:txBody>
        </p:sp>
        <p:sp>
          <p:nvSpPr>
            <p:cNvPr id="71" name="流程图: 终止 70"/>
            <p:cNvSpPr/>
            <p:nvPr/>
          </p:nvSpPr>
          <p:spPr>
            <a:xfrm>
              <a:off x="4045824" y="3513451"/>
              <a:ext cx="381804" cy="248478"/>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sp>
          <p:nvSpPr>
            <p:cNvPr id="72" name="流程图: 终止 71"/>
            <p:cNvSpPr/>
            <p:nvPr/>
          </p:nvSpPr>
          <p:spPr>
            <a:xfrm>
              <a:off x="4045824" y="3999223"/>
              <a:ext cx="381804" cy="248478"/>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cxnSp>
          <p:nvCxnSpPr>
            <p:cNvPr id="73" name="直接连接符 72"/>
            <p:cNvCxnSpPr>
              <a:stCxn id="51" idx="2"/>
              <a:endCxn id="71" idx="0"/>
            </p:cNvCxnSpPr>
            <p:nvPr/>
          </p:nvCxnSpPr>
          <p:spPr>
            <a:xfrm flipH="1">
              <a:off x="4236726" y="3070863"/>
              <a:ext cx="1049" cy="442588"/>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4" name="直接连接符 73"/>
            <p:cNvCxnSpPr>
              <a:stCxn id="63" idx="1"/>
              <a:endCxn id="71" idx="3"/>
            </p:cNvCxnSpPr>
            <p:nvPr/>
          </p:nvCxnSpPr>
          <p:spPr>
            <a:xfrm flipH="1" flipV="1">
              <a:off x="4427628" y="3637690"/>
              <a:ext cx="435314" cy="206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5" name="直接连接符 74"/>
            <p:cNvCxnSpPr>
              <a:stCxn id="71" idx="2"/>
              <a:endCxn id="72" idx="0"/>
            </p:cNvCxnSpPr>
            <p:nvPr/>
          </p:nvCxnSpPr>
          <p:spPr>
            <a:xfrm>
              <a:off x="4236726" y="3761929"/>
              <a:ext cx="0" cy="237294"/>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76" name="流程图: 终止 75"/>
            <p:cNvSpPr/>
            <p:nvPr/>
          </p:nvSpPr>
          <p:spPr>
            <a:xfrm>
              <a:off x="4045824" y="4451867"/>
              <a:ext cx="381804" cy="248478"/>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cxnSp>
          <p:nvCxnSpPr>
            <p:cNvPr id="77" name="直接连接符 76"/>
            <p:cNvCxnSpPr>
              <a:stCxn id="72" idx="2"/>
              <a:endCxn id="76" idx="0"/>
            </p:cNvCxnSpPr>
            <p:nvPr/>
          </p:nvCxnSpPr>
          <p:spPr>
            <a:xfrm>
              <a:off x="4236726" y="4247701"/>
              <a:ext cx="0" cy="20416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8" name="直接连接符 77"/>
            <p:cNvCxnSpPr>
              <a:endCxn id="72" idx="1"/>
            </p:cNvCxnSpPr>
            <p:nvPr/>
          </p:nvCxnSpPr>
          <p:spPr>
            <a:xfrm flipV="1">
              <a:off x="3716561" y="4123462"/>
              <a:ext cx="329263" cy="1"/>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79" name="矩形 78"/>
            <p:cNvSpPr/>
            <p:nvPr/>
          </p:nvSpPr>
          <p:spPr>
            <a:xfrm>
              <a:off x="3530963" y="3840746"/>
              <a:ext cx="381801" cy="24847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lIns="36000" rIns="36000" rtlCol="0" anchor="ctr"/>
            <a:lstStyle/>
            <a:p>
              <a:pPr algn="ctr"/>
              <a:r>
                <a:rPr lang="en-US" altLang="zh-CN" sz="1600" dirty="0" err="1">
                  <a:latin typeface="Times New Roman" panose="02020603050405020304" pitchFamily="18" charset="0"/>
                  <a:cs typeface="Times New Roman" panose="02020603050405020304" pitchFamily="18" charset="0"/>
                </a:rPr>
                <a:t>W</a:t>
              </a:r>
              <a:r>
                <a:rPr lang="en-US" altLang="zh-CN" sz="1600" baseline="-25000" dirty="0" err="1">
                  <a:latin typeface="Times New Roman" panose="02020603050405020304" pitchFamily="18" charset="0"/>
                  <a:cs typeface="Times New Roman" panose="02020603050405020304" pitchFamily="18" charset="0"/>
                </a:rPr>
                <a:t>j</a:t>
              </a:r>
              <a:endParaRPr lang="zh-CN" altLang="en-US" sz="1600" dirty="0">
                <a:latin typeface="Times New Roman" panose="02020603050405020304" pitchFamily="18" charset="0"/>
                <a:cs typeface="Times New Roman" panose="02020603050405020304" pitchFamily="18" charset="0"/>
              </a:endParaRPr>
            </a:p>
          </p:txBody>
        </p:sp>
        <p:cxnSp>
          <p:nvCxnSpPr>
            <p:cNvPr id="80" name="直接连接符 79"/>
            <p:cNvCxnSpPr>
              <a:endCxn id="69" idx="0"/>
            </p:cNvCxnSpPr>
            <p:nvPr/>
          </p:nvCxnSpPr>
          <p:spPr>
            <a:xfrm flipH="1">
              <a:off x="5397915" y="5295353"/>
              <a:ext cx="482178" cy="287912"/>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81" name="直接连接符 80"/>
            <p:cNvCxnSpPr/>
            <p:nvPr/>
          </p:nvCxnSpPr>
          <p:spPr>
            <a:xfrm>
              <a:off x="4243637" y="5205349"/>
              <a:ext cx="0" cy="108000"/>
            </a:xfrm>
            <a:prstGeom prst="line">
              <a:avLst/>
            </a:prstGeom>
          </p:spPr>
          <p:style>
            <a:lnRef idx="1">
              <a:schemeClr val="dk1"/>
            </a:lnRef>
            <a:fillRef idx="0">
              <a:schemeClr val="dk1"/>
            </a:fillRef>
            <a:effectRef idx="0">
              <a:schemeClr val="dk1"/>
            </a:effectRef>
            <a:fontRef idx="minor">
              <a:schemeClr val="tx1"/>
            </a:fontRef>
          </p:style>
        </p:cxnSp>
        <p:cxnSp>
          <p:nvCxnSpPr>
            <p:cNvPr id="82" name="直接连接符 81"/>
            <p:cNvCxnSpPr>
              <a:stCxn id="44" idx="1"/>
              <a:endCxn id="76" idx="3"/>
            </p:cNvCxnSpPr>
            <p:nvPr/>
          </p:nvCxnSpPr>
          <p:spPr>
            <a:xfrm flipH="1">
              <a:off x="4427628" y="4575597"/>
              <a:ext cx="2153244" cy="509"/>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6129878" y="3062829"/>
              <a:ext cx="0" cy="1044000"/>
            </a:xfrm>
            <a:prstGeom prst="line">
              <a:avLst/>
            </a:prstGeom>
          </p:spPr>
          <p:style>
            <a:lnRef idx="1">
              <a:schemeClr val="dk1"/>
            </a:lnRef>
            <a:fillRef idx="0">
              <a:schemeClr val="dk1"/>
            </a:fillRef>
            <a:effectRef idx="0">
              <a:schemeClr val="dk1"/>
            </a:effectRef>
            <a:fontRef idx="minor">
              <a:schemeClr val="tx1"/>
            </a:fontRef>
          </p:style>
        </p:cxnSp>
        <p:cxnSp>
          <p:nvCxnSpPr>
            <p:cNvPr id="84" name="直接连接符 83"/>
            <p:cNvCxnSpPr>
              <a:endCxn id="41" idx="1"/>
            </p:cNvCxnSpPr>
            <p:nvPr/>
          </p:nvCxnSpPr>
          <p:spPr>
            <a:xfrm>
              <a:off x="6129878" y="4103524"/>
              <a:ext cx="491042" cy="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85" name="流程图: 终止 84"/>
            <p:cNvSpPr/>
            <p:nvPr/>
          </p:nvSpPr>
          <p:spPr>
            <a:xfrm>
              <a:off x="4003780" y="4905389"/>
              <a:ext cx="462968" cy="288173"/>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1600" dirty="0">
                  <a:solidFill>
                    <a:schemeClr val="tx1"/>
                  </a:solidFill>
                </a:rPr>
                <a:t>P</a:t>
              </a:r>
              <a:r>
                <a:rPr lang="en-US" altLang="zh-CN" sz="1600" baseline="-25000" dirty="0">
                  <a:solidFill>
                    <a:schemeClr val="tx1"/>
                  </a:solidFill>
                </a:rPr>
                <a:t>0</a:t>
              </a:r>
              <a:endParaRPr lang="zh-CN" altLang="en-US" sz="1600" baseline="-25000" dirty="0">
                <a:solidFill>
                  <a:schemeClr val="tx1"/>
                </a:solidFill>
              </a:endParaRPr>
            </a:p>
          </p:txBody>
        </p:sp>
        <p:cxnSp>
          <p:nvCxnSpPr>
            <p:cNvPr id="86" name="直接连接符 85"/>
            <p:cNvCxnSpPr>
              <a:stCxn id="76" idx="2"/>
              <a:endCxn id="85" idx="0"/>
            </p:cNvCxnSpPr>
            <p:nvPr/>
          </p:nvCxnSpPr>
          <p:spPr>
            <a:xfrm flipH="1">
              <a:off x="4235264" y="4700345"/>
              <a:ext cx="1462" cy="205044"/>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87" name="直接连接符 86"/>
            <p:cNvCxnSpPr>
              <a:endCxn id="41" idx="3"/>
            </p:cNvCxnSpPr>
            <p:nvPr/>
          </p:nvCxnSpPr>
          <p:spPr>
            <a:xfrm flipH="1">
              <a:off x="7002724" y="4103524"/>
              <a:ext cx="348811" cy="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88" name="直接连接符 87"/>
            <p:cNvCxnSpPr/>
            <p:nvPr/>
          </p:nvCxnSpPr>
          <p:spPr>
            <a:xfrm>
              <a:off x="7351535" y="3798170"/>
              <a:ext cx="0" cy="304318"/>
            </a:xfrm>
            <a:prstGeom prst="line">
              <a:avLst/>
            </a:prstGeom>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graphicFrame>
            <p:nvGraphicFramePr>
              <p:cNvPr id="4" name="表格 4"/>
              <p:cNvGraphicFramePr>
                <a:graphicFrameLocks noGrp="1"/>
              </p:cNvGraphicFramePr>
              <p:nvPr/>
            </p:nvGraphicFramePr>
            <p:xfrm>
              <a:off x="3000022" y="4519642"/>
              <a:ext cx="6690243" cy="1658304"/>
            </p:xfrm>
            <a:graphic>
              <a:graphicData uri="http://schemas.openxmlformats.org/drawingml/2006/table">
                <a:tbl>
                  <a:tblPr firstRow="1" bandRow="1">
                    <a:tableStyleId>{5C22544A-7EE6-4342-B048-85BDC9FD1C3A}</a:tableStyleId>
                  </a:tblPr>
                  <a:tblGrid>
                    <a:gridCol w="1928328"/>
                    <a:gridCol w="1920517"/>
                    <a:gridCol w="2841398"/>
                  </a:tblGrid>
                  <a:tr h="0">
                    <a:tc>
                      <a:txBody>
                        <a:bodyPr/>
                        <a:lstStyle/>
                        <a:p>
                          <a:endParaRPr lang="zh-CN" altLang="en-US" sz="2000">
                            <a:latin typeface="Times New Roman" panose="02020603050405020304" pitchFamily="18" charset="0"/>
                            <a:cs typeface="Times New Roman" panose="02020603050405020304" pitchFamily="18" charset="0"/>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𝑗</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15</m:t>
                                </m:r>
                              </m:oMath>
                            </m:oMathPara>
                          </a14:m>
                          <a:endParaRPr lang="zh-CN" altLang="en-US" sz="2000" dirty="0">
                            <a:latin typeface="Times New Roman" panose="02020603050405020304" pitchFamily="18" charset="0"/>
                            <a:cs typeface="Times New Roman" panose="02020603050405020304" pitchFamily="18" charset="0"/>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16</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𝑗</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63</m:t>
                                </m:r>
                              </m:oMath>
                            </m:oMathPara>
                          </a14:m>
                          <a:endParaRPr lang="zh-CN" altLang="en-US" sz="2000" dirty="0">
                            <a:latin typeface="Times New Roman" panose="02020603050405020304" pitchFamily="18" charset="0"/>
                            <a:cs typeface="Times New Roman" panose="02020603050405020304" pitchFamily="18" charset="0"/>
                          </a:endParaRPr>
                        </a:p>
                      </a:txBody>
                      <a:tcPr/>
                    </a:tc>
                  </a:tr>
                  <a:tr h="370840">
                    <a:tc>
                      <a:txBody>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𝑇</m:t>
                                    </m:r>
                                  </m:e>
                                  <m:sub>
                                    <m:r>
                                      <a:rPr lang="en-US" altLang="zh-CN" sz="2000" b="0" i="1" smtClean="0">
                                        <a:latin typeface="Cambria Math" panose="02040503050406030204" pitchFamily="18" charset="0"/>
                                      </a:rPr>
                                      <m:t>𝑗</m:t>
                                    </m:r>
                                  </m:sub>
                                </m:sSub>
                              </m:oMath>
                            </m:oMathPara>
                          </a14:m>
                          <a:endParaRPr lang="zh-CN" altLang="en-US" sz="2000" dirty="0">
                            <a:latin typeface="Times New Roman" panose="02020603050405020304" pitchFamily="18" charset="0"/>
                            <a:cs typeface="Times New Roman" panose="02020603050405020304" pitchFamily="18" charset="0"/>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79</m:t>
                                </m:r>
                                <m:r>
                                  <a:rPr lang="en-US" altLang="zh-CN" sz="2000" b="0" i="1" smtClean="0">
                                    <a:latin typeface="Cambria Math" panose="02040503050406030204" pitchFamily="18" charset="0"/>
                                  </a:rPr>
                                  <m:t>𝑐𝑐</m:t>
                                </m:r>
                                <m:r>
                                  <a:rPr lang="en-US" altLang="zh-CN" sz="2000" b="0" i="1" smtClean="0">
                                    <a:latin typeface="Cambria Math" panose="02040503050406030204" pitchFamily="18" charset="0"/>
                                  </a:rPr>
                                  <m:t>4519</m:t>
                                </m:r>
                              </m:oMath>
                            </m:oMathPara>
                          </a14:m>
                          <a:endParaRPr lang="zh-CN" altLang="en-US" sz="2000" dirty="0">
                            <a:latin typeface="Times New Roman" panose="02020603050405020304" pitchFamily="18" charset="0"/>
                            <a:cs typeface="Times New Roman" panose="02020603050405020304" pitchFamily="18" charset="0"/>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7</m:t>
                                </m:r>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879</m:t>
                                </m:r>
                                <m:r>
                                  <a:rPr lang="en-US" altLang="zh-CN" sz="2000" b="0" i="1" smtClean="0">
                                    <a:latin typeface="Cambria Math" panose="02040503050406030204" pitchFamily="18" charset="0"/>
                                  </a:rPr>
                                  <m:t>𝑑</m:t>
                                </m:r>
                                <m:r>
                                  <a:rPr lang="en-US" altLang="zh-CN" sz="2000" b="0" i="1" smtClean="0">
                                    <a:latin typeface="Cambria Math" panose="02040503050406030204" pitchFamily="18" charset="0"/>
                                  </a:rPr>
                                  <m:t>8</m:t>
                                </m:r>
                                <m:r>
                                  <a:rPr lang="en-US" altLang="zh-CN" sz="2000" b="0" i="1" smtClean="0">
                                    <a:latin typeface="Cambria Math" panose="02040503050406030204" pitchFamily="18" charset="0"/>
                                  </a:rPr>
                                  <m:t>𝑎</m:t>
                                </m:r>
                              </m:oMath>
                            </m:oMathPara>
                          </a14:m>
                          <a:endParaRPr lang="zh-CN" altLang="en-US" sz="2000" dirty="0">
                            <a:latin typeface="Times New Roman" panose="02020603050405020304" pitchFamily="18" charset="0"/>
                            <a:cs typeface="Times New Roman" panose="02020603050405020304" pitchFamily="18" charset="0"/>
                          </a:endParaRPr>
                        </a:p>
                      </a:txBody>
                      <a:tcPr/>
                    </a:tc>
                  </a:tr>
                  <a:tr h="370840">
                    <a:tc>
                      <a:txBody>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𝐹𝐹</m:t>
                                    </m:r>
                                  </m:e>
                                  <m:sub>
                                    <m:r>
                                      <a:rPr lang="en-US" altLang="zh-CN" sz="2000" b="0" i="1" smtClean="0">
                                        <a:latin typeface="Cambria Math" panose="02040503050406030204" pitchFamily="18" charset="0"/>
                                      </a:rPr>
                                      <m:t>𝑗</m:t>
                                    </m:r>
                                  </m:sub>
                                </m:sSub>
                                <m:d>
                                  <m:dPr>
                                    <m:ctrlPr>
                                      <a:rPr lang="en-US" altLang="zh-CN" sz="2000" i="1" smtClean="0">
                                        <a:latin typeface="Cambria Math" panose="02040503050406030204" pitchFamily="18" charset="0"/>
                                      </a:rPr>
                                    </m:ctrlPr>
                                  </m:dPr>
                                  <m:e>
                                    <m:r>
                                      <a:rPr lang="en-US" altLang="zh-CN" sz="2000" b="0" i="1" smtClean="0">
                                        <a:latin typeface="Cambria Math" panose="02040503050406030204" pitchFamily="18" charset="0"/>
                                      </a:rPr>
                                      <m:t>𝑋</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𝑌</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𝑍</m:t>
                                    </m:r>
                                  </m:e>
                                </m:d>
                              </m:oMath>
                            </m:oMathPara>
                          </a14:m>
                          <a:endParaRPr lang="zh-CN" altLang="en-US" sz="2000" dirty="0">
                            <a:latin typeface="Times New Roman" panose="02020603050405020304" pitchFamily="18" charset="0"/>
                            <a:cs typeface="Times New Roman" panose="02020603050405020304" pitchFamily="18" charset="0"/>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𝑋</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𝑌</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𝑍</m:t>
                                </m:r>
                              </m:oMath>
                            </m:oMathPara>
                          </a14:m>
                          <a:endParaRPr lang="zh-CN" altLang="en-US" sz="2000" dirty="0">
                            <a:latin typeface="Times New Roman" panose="02020603050405020304" pitchFamily="18" charset="0"/>
                            <a:cs typeface="Times New Roman" panose="02020603050405020304" pitchFamily="18" charset="0"/>
                          </a:endParaRPr>
                        </a:p>
                      </a:txBody>
                      <a:tcPr/>
                    </a:tc>
                    <a:tc>
                      <a:txBody>
                        <a:bodyPr/>
                        <a:lstStyle/>
                        <a:p>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rPr>
                                    </m:ctrlPr>
                                  </m:dPr>
                                  <m:e>
                                    <m:r>
                                      <a:rPr lang="en-US" altLang="zh-CN" sz="2000" i="1">
                                        <a:latin typeface="Cambria Math" panose="02040503050406030204" pitchFamily="18" charset="0"/>
                                      </a:rPr>
                                      <m:t>𝑋</m:t>
                                    </m:r>
                                    <m:r>
                                      <m:rPr>
                                        <m:lit/>
                                      </m:rPr>
                                      <a:rPr lang="en-US" altLang="zh-CN" sz="2000" i="1">
                                        <a:latin typeface="Cambria Math" panose="02040503050406030204" pitchFamily="18" charset="0"/>
                                      </a:rPr>
                                      <m:t>&amp;</m:t>
                                    </m:r>
                                    <m:r>
                                      <a:rPr lang="en-US" altLang="zh-CN" sz="2000" i="1">
                                        <a:latin typeface="Cambria Math" panose="02040503050406030204" pitchFamily="18" charset="0"/>
                                      </a:rPr>
                                      <m:t>𝑌</m:t>
                                    </m:r>
                                  </m:e>
                                </m:d>
                                <m:r>
                                  <a:rPr lang="en-US" altLang="zh-CN" sz="2000" b="0" i="1" smtClean="0">
                                    <a:latin typeface="Cambria Math" panose="02040503050406030204" pitchFamily="18" charset="0"/>
                                  </a:rPr>
                                  <m:t>|</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𝑋</m:t>
                                    </m:r>
                                    <m:r>
                                      <m:rPr>
                                        <m:lit/>
                                      </m:rPr>
                                      <a:rPr lang="en-US" altLang="zh-CN" sz="2000" i="1">
                                        <a:latin typeface="Cambria Math" panose="02040503050406030204" pitchFamily="18" charset="0"/>
                                      </a:rPr>
                                      <m:t>&amp;</m:t>
                                    </m:r>
                                    <m:r>
                                      <a:rPr lang="en-US" altLang="zh-CN" sz="2000" i="1">
                                        <a:latin typeface="Cambria Math" panose="02040503050406030204" pitchFamily="18" charset="0"/>
                                      </a:rPr>
                                      <m:t>𝑍</m:t>
                                    </m:r>
                                  </m:e>
                                </m:d>
                                <m:r>
                                  <a:rPr lang="en-US" altLang="zh-CN" sz="2000" b="0" i="1" smtClean="0">
                                    <a:latin typeface="Cambria Math" panose="02040503050406030204" pitchFamily="18" charset="0"/>
                                  </a:rPr>
                                  <m:t>|</m:t>
                                </m:r>
                                <m:d>
                                  <m:dPr>
                                    <m:ctrlPr>
                                      <a:rPr lang="en-US" altLang="zh-CN" sz="2000" i="1">
                                        <a:latin typeface="Cambria Math" panose="02040503050406030204" pitchFamily="18" charset="0"/>
                                      </a:rPr>
                                    </m:ctrlPr>
                                  </m:dPr>
                                  <m:e>
                                    <m:r>
                                      <a:rPr lang="en-US" altLang="zh-CN" sz="2000" b="0" i="1" smtClean="0">
                                        <a:latin typeface="Cambria Math" panose="02040503050406030204" pitchFamily="18" charset="0"/>
                                      </a:rPr>
                                      <m:t>𝑌</m:t>
                                    </m:r>
                                    <m:r>
                                      <m:rPr>
                                        <m:lit/>
                                      </m:rPr>
                                      <a:rPr lang="en-US" altLang="zh-CN" sz="2000" i="1">
                                        <a:latin typeface="Cambria Math" panose="02040503050406030204" pitchFamily="18" charset="0"/>
                                      </a:rPr>
                                      <m:t>&amp;</m:t>
                                    </m:r>
                                    <m:r>
                                      <a:rPr lang="en-US" altLang="zh-CN" sz="2000" i="1">
                                        <a:latin typeface="Cambria Math" panose="02040503050406030204" pitchFamily="18" charset="0"/>
                                      </a:rPr>
                                      <m:t>𝑍</m:t>
                                    </m:r>
                                  </m:e>
                                </m:d>
                              </m:oMath>
                            </m:oMathPara>
                          </a14:m>
                          <a:endParaRPr lang="zh-CN" altLang="en-US" sz="2000" dirty="0">
                            <a:latin typeface="Times New Roman" panose="02020603050405020304" pitchFamily="18" charset="0"/>
                            <a:cs typeface="Times New Roman" panose="02020603050405020304" pitchFamily="18" charset="0"/>
                          </a:endParaRPr>
                        </a:p>
                      </a:txBody>
                      <a:tcPr/>
                    </a:tc>
                  </a:tr>
                  <a:tr h="370840">
                    <a:tc>
                      <a:txBody>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𝐺𝐺</m:t>
                                    </m:r>
                                  </m:e>
                                  <m:sub>
                                    <m:r>
                                      <a:rPr lang="en-US" altLang="zh-CN" sz="2000" b="0" i="1" smtClean="0">
                                        <a:latin typeface="Cambria Math" panose="02040503050406030204" pitchFamily="18" charset="0"/>
                                      </a:rPr>
                                      <m:t>𝑗</m:t>
                                    </m:r>
                                  </m:sub>
                                </m:sSub>
                                <m:d>
                                  <m:dPr>
                                    <m:ctrlPr>
                                      <a:rPr lang="en-US" altLang="zh-CN" sz="2000" i="1" smtClean="0">
                                        <a:latin typeface="Cambria Math" panose="02040503050406030204" pitchFamily="18" charset="0"/>
                                      </a:rPr>
                                    </m:ctrlPr>
                                  </m:dPr>
                                  <m:e>
                                    <m:r>
                                      <a:rPr lang="en-US" altLang="zh-CN" sz="2000" b="0" i="1" smtClean="0">
                                        <a:latin typeface="Cambria Math" panose="02040503050406030204" pitchFamily="18" charset="0"/>
                                      </a:rPr>
                                      <m:t>𝑋</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𝑌</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𝑍</m:t>
                                    </m:r>
                                  </m:e>
                                </m:d>
                              </m:oMath>
                            </m:oMathPara>
                          </a14:m>
                          <a:endParaRPr lang="zh-CN" altLang="en-US" sz="2000" dirty="0">
                            <a:latin typeface="Times New Roman" panose="02020603050405020304" pitchFamily="18" charset="0"/>
                            <a:cs typeface="Times New Roman" panose="02020603050405020304" pitchFamily="18" charset="0"/>
                          </a:endParaRPr>
                        </a:p>
                      </a:txBody>
                      <a:tcPr/>
                    </a:tc>
                    <a:tc>
                      <a:txBody>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𝑋</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𝑌</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𝑍</m:t>
                                </m:r>
                              </m:oMath>
                            </m:oMathPara>
                          </a14:m>
                          <a:endParaRPr lang="zh-CN" altLang="en-US" sz="2000" dirty="0">
                            <a:latin typeface="Times New Roman" panose="02020603050405020304" pitchFamily="18" charset="0"/>
                            <a:cs typeface="Times New Roman" panose="02020603050405020304" pitchFamily="18" charset="0"/>
                          </a:endParaRPr>
                        </a:p>
                      </a:txBody>
                      <a:tcPr/>
                    </a:tc>
                    <a:tc>
                      <a:txBody>
                        <a:bodyPr/>
                        <a:lstStyle/>
                        <a:p>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rPr>
                                    </m:ctrlPr>
                                  </m:dPr>
                                  <m:e>
                                    <m:r>
                                      <a:rPr lang="en-US" altLang="zh-CN" sz="2000" i="1">
                                        <a:latin typeface="Cambria Math" panose="02040503050406030204" pitchFamily="18" charset="0"/>
                                      </a:rPr>
                                      <m:t>𝑋</m:t>
                                    </m:r>
                                    <m:r>
                                      <m:rPr>
                                        <m:lit/>
                                      </m:rPr>
                                      <a:rPr lang="en-US" altLang="zh-CN" sz="2000" i="1">
                                        <a:latin typeface="Cambria Math" panose="02040503050406030204" pitchFamily="18" charset="0"/>
                                      </a:rPr>
                                      <m:t>&amp;</m:t>
                                    </m:r>
                                    <m:r>
                                      <a:rPr lang="en-US" altLang="zh-CN" sz="2000" i="1">
                                        <a:latin typeface="Cambria Math" panose="02040503050406030204" pitchFamily="18" charset="0"/>
                                      </a:rPr>
                                      <m:t>𝑌</m:t>
                                    </m:r>
                                  </m:e>
                                </m:d>
                                <m:r>
                                  <a:rPr lang="en-US" altLang="zh-CN" sz="2000" b="0" i="1" smtClean="0">
                                    <a:latin typeface="Cambria Math" panose="02040503050406030204" pitchFamily="18" charset="0"/>
                                  </a:rPr>
                                  <m:t>|</m:t>
                                </m:r>
                                <m:d>
                                  <m:dPr>
                                    <m:ctrlPr>
                                      <a:rPr lang="en-US" altLang="zh-CN" sz="2000" i="1">
                                        <a:latin typeface="Cambria Math" panose="02040503050406030204" pitchFamily="18" charset="0"/>
                                      </a:rPr>
                                    </m:ctrlPr>
                                  </m:dPr>
                                  <m:e>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𝑋</m:t>
                                    </m:r>
                                    <m:r>
                                      <m:rPr>
                                        <m:lit/>
                                      </m:rPr>
                                      <a:rPr lang="en-US" altLang="zh-CN" sz="2000" i="1">
                                        <a:latin typeface="Cambria Math" panose="02040503050406030204" pitchFamily="18" charset="0"/>
                                      </a:rPr>
                                      <m:t>&amp;</m:t>
                                    </m:r>
                                    <m:r>
                                      <a:rPr lang="en-US" altLang="zh-CN" sz="2000" i="1">
                                        <a:latin typeface="Cambria Math" panose="02040503050406030204" pitchFamily="18" charset="0"/>
                                      </a:rPr>
                                      <m:t>𝑍</m:t>
                                    </m:r>
                                  </m:e>
                                </m:d>
                              </m:oMath>
                            </m:oMathPara>
                          </a14:m>
                          <a:endParaRPr lang="zh-CN" altLang="en-US" sz="2000" dirty="0">
                            <a:latin typeface="Times New Roman" panose="02020603050405020304" pitchFamily="18" charset="0"/>
                            <a:cs typeface="Times New Roman" panose="02020603050405020304" pitchFamily="18" charset="0"/>
                          </a:endParaRPr>
                        </a:p>
                      </a:txBody>
                      <a:tcPr/>
                    </a:tc>
                  </a:tr>
                </a:tbl>
              </a:graphicData>
            </a:graphic>
          </p:graphicFrame>
        </mc:Choice>
        <mc:Fallback xmlns="">
          <p:graphicFrame>
            <p:nvGraphicFramePr>
              <p:cNvPr id="4" name="表格 4"/>
              <p:cNvGraphicFramePr>
                <a:graphicFrameLocks noGrp="1"/>
              </p:cNvGraphicFramePr>
              <p:nvPr/>
            </p:nvGraphicFramePr>
            <p:xfrm>
              <a:off x="3000022" y="4519642"/>
              <a:ext cx="6690243" cy="1658304"/>
            </p:xfrm>
            <a:graphic>
              <a:graphicData uri="http://schemas.openxmlformats.org/drawingml/2006/table">
                <a:tbl>
                  <a:tblPr firstRow="1" bandRow="1">
                    <a:tableStyleId>{5C22544A-7EE6-4342-B048-85BDC9FD1C3A}</a:tableStyleId>
                  </a:tblPr>
                  <a:tblGrid>
                    <a:gridCol w="1928328"/>
                    <a:gridCol w="1920517"/>
                    <a:gridCol w="2841398"/>
                  </a:tblGrid>
                  <a:tr h="396240">
                    <a:tc>
                      <a:txBody>
                        <a:bodyPr/>
                        <a:lstStyle/>
                        <a:p>
                          <a:endParaRPr lang="zh-CN" altLang="en-US" sz="2000">
                            <a:latin typeface="Times New Roman" panose="02020603050405020304" pitchFamily="18" charset="0"/>
                            <a:cs typeface="Times New Roman" panose="02020603050405020304" pitchFamily="18" charset="0"/>
                          </a:endParaRPr>
                        </a:p>
                      </a:txBody>
                      <a:tcPr/>
                    </a:tc>
                    <a:tc>
                      <a:txBody>
                        <a:bodyPr/>
                        <a:lstStyle/>
                        <a:p>
                          <a:endParaRPr lang="zh-CN"/>
                        </a:p>
                      </a:txBody>
                      <a:tcPr>
                        <a:blipFill>
                          <a:blip r:embed="rId1"/>
                        </a:blipFill>
                      </a:tcPr>
                    </a:tc>
                    <a:tc>
                      <a:txBody>
                        <a:bodyPr/>
                        <a:lstStyle/>
                        <a:p>
                          <a:endParaRPr lang="zh-CN"/>
                        </a:p>
                      </a:txBody>
                      <a:tcPr>
                        <a:blipFill>
                          <a:blip r:embed="rId1"/>
                        </a:blipFill>
                      </a:tcPr>
                    </a:tc>
                  </a:tr>
                  <a:tr h="396240">
                    <a:tc>
                      <a:txBody>
                        <a:bodyPr/>
                        <a:lstStyle/>
                        <a:p>
                          <a:endParaRPr lang="zh-CN"/>
                        </a:p>
                      </a:txBody>
                      <a:tcPr>
                        <a:blipFill>
                          <a:blip r:embed="rId1"/>
                        </a:blipFill>
                      </a:tcPr>
                    </a:tc>
                    <a:tc>
                      <a:txBody>
                        <a:bodyPr/>
                        <a:lstStyle/>
                        <a:p>
                          <a:endParaRPr lang="zh-CN"/>
                        </a:p>
                      </a:txBody>
                      <a:tcPr>
                        <a:blipFill>
                          <a:blip r:embed="rId1"/>
                        </a:blipFill>
                      </a:tcPr>
                    </a:tc>
                    <a:tc>
                      <a:txBody>
                        <a:bodyPr/>
                        <a:lstStyle/>
                        <a:p>
                          <a:endParaRPr lang="zh-CN"/>
                        </a:p>
                      </a:txBody>
                      <a:tcPr>
                        <a:blipFill>
                          <a:blip r:embed="rId1"/>
                        </a:blipFill>
                      </a:tcPr>
                    </a:tc>
                  </a:tr>
                  <a:tr h="401320">
                    <a:tc>
                      <a:txBody>
                        <a:bodyPr/>
                        <a:lstStyle/>
                        <a:p>
                          <a:endParaRPr lang="zh-CN"/>
                        </a:p>
                      </a:txBody>
                      <a:tcPr>
                        <a:blipFill>
                          <a:blip r:embed="rId1"/>
                        </a:blipFill>
                      </a:tcPr>
                    </a:tc>
                    <a:tc>
                      <a:txBody>
                        <a:bodyPr/>
                        <a:lstStyle/>
                        <a:p>
                          <a:endParaRPr lang="zh-CN"/>
                        </a:p>
                      </a:txBody>
                      <a:tcPr>
                        <a:blipFill>
                          <a:blip r:embed="rId1"/>
                        </a:blipFill>
                      </a:tcPr>
                    </a:tc>
                    <a:tc>
                      <a:txBody>
                        <a:bodyPr/>
                        <a:lstStyle/>
                        <a:p>
                          <a:endParaRPr lang="zh-CN"/>
                        </a:p>
                      </a:txBody>
                      <a:tcPr>
                        <a:blipFill>
                          <a:blip r:embed="rId1"/>
                        </a:blipFill>
                      </a:tcPr>
                    </a:tc>
                  </a:tr>
                  <a:tr h="401320">
                    <a:tc>
                      <a:txBody>
                        <a:bodyPr/>
                        <a:lstStyle/>
                        <a:p>
                          <a:endParaRPr lang="zh-CN"/>
                        </a:p>
                      </a:txBody>
                      <a:tcPr>
                        <a:blipFill>
                          <a:blip r:embed="rId1"/>
                        </a:blipFill>
                      </a:tcPr>
                    </a:tc>
                    <a:tc>
                      <a:txBody>
                        <a:bodyPr/>
                        <a:lstStyle/>
                        <a:p>
                          <a:endParaRPr lang="zh-CN"/>
                        </a:p>
                      </a:txBody>
                      <a:tcPr>
                        <a:blipFill>
                          <a:blip r:embed="rId1"/>
                        </a:blipFill>
                      </a:tcPr>
                    </a:tc>
                    <a:tc>
                      <a:txBody>
                        <a:bodyPr/>
                        <a:lstStyle/>
                        <a:p>
                          <a:endParaRPr lang="zh-CN"/>
                        </a:p>
                      </a:txBody>
                      <a:tcPr>
                        <a:blipFill>
                          <a:blip r:embed="rId1"/>
                        </a:blipFill>
                      </a:tcPr>
                    </a:tc>
                  </a:tr>
                </a:tbl>
              </a:graphicData>
            </a:graphic>
          </p:graphicFrame>
        </mc:Fallback>
      </mc:AlternateContent>
      <mc:AlternateContent xmlns:mc="http://schemas.openxmlformats.org/markup-compatibility/2006">
        <mc:Choice xmlns:a14="http://schemas.microsoft.com/office/drawing/2010/main" Requires="a14">
          <p:sp>
            <p:nvSpPr>
              <p:cNvPr id="137" name="文本框 136"/>
              <p:cNvSpPr txBox="1"/>
              <p:nvPr/>
            </p:nvSpPr>
            <p:spPr>
              <a:xfrm>
                <a:off x="3163314" y="6243988"/>
                <a:ext cx="4572406" cy="3077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0</m:t>
                          </m:r>
                        </m:sub>
                      </m:sSub>
                      <m:d>
                        <m:dPr>
                          <m:ctrlPr>
                            <a:rPr lang="en-US" altLang="zh-CN" sz="2000" i="1" smtClean="0">
                              <a:latin typeface="Cambria Math" panose="02040503050406030204" pitchFamily="18" charset="0"/>
                            </a:rPr>
                          </m:ctrlPr>
                        </m:dPr>
                        <m:e>
                          <m:r>
                            <a:rPr lang="en-US" altLang="zh-CN" sz="2000" b="0" i="1" smtClean="0">
                              <a:latin typeface="Cambria Math" panose="02040503050406030204" pitchFamily="18" charset="0"/>
                            </a:rPr>
                            <m:t>𝑋</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𝑋</m:t>
                      </m:r>
                      <m:r>
                        <a:rPr lang="en-US" altLang="zh-CN" sz="2000" b="0" i="1" smtClean="0">
                          <a:latin typeface="Cambria Math" panose="02040503050406030204" pitchFamily="18" charset="0"/>
                          <a:ea typeface="Cambria Math" panose="02040503050406030204" pitchFamily="18" charset="0"/>
                        </a:rPr>
                        <m:t>⊕</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𝑋</m:t>
                          </m:r>
                          <m:r>
                            <a:rPr lang="en-US" altLang="zh-CN" sz="2000" b="0" i="1" smtClean="0">
                              <a:latin typeface="Cambria Math" panose="02040503050406030204" pitchFamily="18" charset="0"/>
                              <a:ea typeface="Cambria Math" panose="02040503050406030204" pitchFamily="18" charset="0"/>
                            </a:rPr>
                            <m:t>&lt;&lt;&lt;</m:t>
                          </m:r>
                          <m:r>
                            <a:rPr lang="en-US" altLang="zh-CN" sz="2000" b="0" i="1" smtClean="0">
                              <a:latin typeface="Cambria Math" panose="02040503050406030204" pitchFamily="18" charset="0"/>
                              <a:ea typeface="Cambria Math" panose="02040503050406030204" pitchFamily="18" charset="0"/>
                            </a:rPr>
                            <m:t>9</m:t>
                          </m:r>
                        </m:e>
                      </m:d>
                      <m:r>
                        <a:rPr lang="en-US" altLang="zh-CN" sz="2000" b="0" i="1" smtClean="0">
                          <a:latin typeface="Cambria Math" panose="02040503050406030204" pitchFamily="18" charset="0"/>
                          <a:ea typeface="Cambria Math" panose="02040503050406030204" pitchFamily="18" charset="0"/>
                        </a:rPr>
                        <m:t>⊕</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𝑋</m:t>
                          </m:r>
                          <m:r>
                            <a:rPr lang="en-US" altLang="zh-CN" sz="2000" i="1">
                              <a:latin typeface="Cambria Math" panose="02040503050406030204" pitchFamily="18" charset="0"/>
                              <a:ea typeface="Cambria Math" panose="02040503050406030204" pitchFamily="18" charset="0"/>
                            </a:rPr>
                            <m:t>&lt;&lt;&lt;</m:t>
                          </m:r>
                          <m:r>
                            <a:rPr lang="en-US" altLang="zh-CN" sz="2000" i="1">
                              <a:latin typeface="Cambria Math" panose="02040503050406030204" pitchFamily="18" charset="0"/>
                              <a:ea typeface="Cambria Math" panose="02040503050406030204" pitchFamily="18" charset="0"/>
                            </a:rPr>
                            <m:t>17</m:t>
                          </m:r>
                        </m:e>
                      </m:d>
                    </m:oMath>
                  </m:oMathPara>
                </a14:m>
                <a:endParaRPr lang="zh-CN" altLang="en-US" sz="2000" dirty="0"/>
              </a:p>
            </p:txBody>
          </p:sp>
        </mc:Choice>
        <mc:Fallback>
          <p:sp>
            <p:nvSpPr>
              <p:cNvPr id="137" name="文本框 136"/>
              <p:cNvSpPr txBox="1">
                <a:spLocks noRot="1" noChangeAspect="1" noMove="1" noResize="1" noEditPoints="1" noAdjustHandles="1" noChangeArrowheads="1" noChangeShapeType="1" noTextEdit="1"/>
              </p:cNvSpPr>
              <p:nvPr/>
            </p:nvSpPr>
            <p:spPr>
              <a:xfrm>
                <a:off x="3163314" y="6243988"/>
                <a:ext cx="4572406" cy="307777"/>
              </a:xfrm>
              <a:prstGeom prst="rect">
                <a:avLst/>
              </a:prstGeom>
              <a:blipFill rotWithShape="1">
                <a:blip r:embed="rId2"/>
                <a:stretch>
                  <a:fillRect l="-8" t="-11" r="-205" b="153"/>
                </a:stretch>
              </a:blipFill>
            </p:spPr>
            <p:txBody>
              <a:bodyPr/>
              <a:lstStyle/>
              <a:p>
                <a:r>
                  <a:rPr lang="zh-CN" altLang="en-US">
                    <a:noFill/>
                  </a:rPr>
                  <a:t> </a:t>
                </a:r>
              </a:p>
            </p:txBody>
          </p:sp>
        </mc:Fallback>
      </mc:AlternateContent>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SM3</a:t>
            </a:r>
            <a:r>
              <a:rPr lang="zh-CN" altLang="en-US" dirty="0"/>
              <a:t>消息扩展</a:t>
            </a:r>
            <a:endParaRPr lang="zh-CN" altLang="en-US" dirty="0"/>
          </a:p>
        </p:txBody>
      </p:sp>
      <p:grpSp>
        <p:nvGrpSpPr>
          <p:cNvPr id="90" name="组合 89"/>
          <p:cNvGrpSpPr/>
          <p:nvPr/>
        </p:nvGrpSpPr>
        <p:grpSpPr>
          <a:xfrm>
            <a:off x="2099639" y="1447505"/>
            <a:ext cx="8303145" cy="3053243"/>
            <a:chOff x="4595118" y="2669804"/>
            <a:chExt cx="6499815" cy="2430203"/>
          </a:xfrm>
        </p:grpSpPr>
        <p:sp>
          <p:nvSpPr>
            <p:cNvPr id="91" name="矩形 90"/>
            <p:cNvSpPr/>
            <p:nvPr/>
          </p:nvSpPr>
          <p:spPr>
            <a:xfrm>
              <a:off x="4595118"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15</a:t>
              </a:r>
              <a:endParaRPr lang="zh-CN" altLang="en-US" baseline="-25000" dirty="0">
                <a:solidFill>
                  <a:schemeClr val="tx1"/>
                </a:solidFill>
              </a:endParaRPr>
            </a:p>
          </p:txBody>
        </p:sp>
        <p:sp>
          <p:nvSpPr>
            <p:cNvPr id="92" name="矩形 91"/>
            <p:cNvSpPr/>
            <p:nvPr/>
          </p:nvSpPr>
          <p:spPr>
            <a:xfrm>
              <a:off x="4963390"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14</a:t>
              </a:r>
              <a:endParaRPr lang="zh-CN" altLang="en-US" baseline="-25000" dirty="0">
                <a:solidFill>
                  <a:schemeClr val="tx1"/>
                </a:solidFill>
              </a:endParaRPr>
            </a:p>
          </p:txBody>
        </p:sp>
        <p:sp>
          <p:nvSpPr>
            <p:cNvPr id="93" name="矩形 92"/>
            <p:cNvSpPr/>
            <p:nvPr/>
          </p:nvSpPr>
          <p:spPr>
            <a:xfrm>
              <a:off x="5331662"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13</a:t>
              </a:r>
              <a:endParaRPr lang="zh-CN" altLang="en-US" baseline="-25000" dirty="0">
                <a:solidFill>
                  <a:schemeClr val="tx1"/>
                </a:solidFill>
              </a:endParaRPr>
            </a:p>
          </p:txBody>
        </p:sp>
        <p:sp>
          <p:nvSpPr>
            <p:cNvPr id="94" name="矩形 93"/>
            <p:cNvSpPr/>
            <p:nvPr/>
          </p:nvSpPr>
          <p:spPr>
            <a:xfrm>
              <a:off x="5699934"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12</a:t>
              </a:r>
              <a:endParaRPr lang="zh-CN" altLang="en-US" baseline="-25000" dirty="0">
                <a:solidFill>
                  <a:schemeClr val="tx1"/>
                </a:solidFill>
              </a:endParaRPr>
            </a:p>
          </p:txBody>
        </p:sp>
        <p:sp>
          <p:nvSpPr>
            <p:cNvPr id="95" name="矩形 94"/>
            <p:cNvSpPr/>
            <p:nvPr/>
          </p:nvSpPr>
          <p:spPr>
            <a:xfrm>
              <a:off x="6068206"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11</a:t>
              </a:r>
              <a:endParaRPr lang="zh-CN" altLang="en-US" baseline="-25000" dirty="0">
                <a:solidFill>
                  <a:schemeClr val="tx1"/>
                </a:solidFill>
              </a:endParaRPr>
            </a:p>
          </p:txBody>
        </p:sp>
        <p:sp>
          <p:nvSpPr>
            <p:cNvPr id="96" name="矩形 95"/>
            <p:cNvSpPr/>
            <p:nvPr/>
          </p:nvSpPr>
          <p:spPr>
            <a:xfrm>
              <a:off x="6436478"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10</a:t>
              </a:r>
              <a:endParaRPr lang="zh-CN" altLang="en-US" baseline="-25000" dirty="0">
                <a:solidFill>
                  <a:schemeClr val="tx1"/>
                </a:solidFill>
              </a:endParaRPr>
            </a:p>
          </p:txBody>
        </p:sp>
        <p:sp>
          <p:nvSpPr>
            <p:cNvPr id="97" name="矩形 96"/>
            <p:cNvSpPr/>
            <p:nvPr/>
          </p:nvSpPr>
          <p:spPr>
            <a:xfrm>
              <a:off x="6804750"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9</a:t>
              </a:r>
              <a:endParaRPr lang="zh-CN" altLang="en-US" baseline="-25000" dirty="0">
                <a:solidFill>
                  <a:schemeClr val="tx1"/>
                </a:solidFill>
              </a:endParaRPr>
            </a:p>
          </p:txBody>
        </p:sp>
        <p:sp>
          <p:nvSpPr>
            <p:cNvPr id="98" name="矩形 97"/>
            <p:cNvSpPr/>
            <p:nvPr/>
          </p:nvSpPr>
          <p:spPr>
            <a:xfrm>
              <a:off x="7173022"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8</a:t>
              </a:r>
              <a:endParaRPr lang="zh-CN" altLang="en-US" baseline="-25000" dirty="0">
                <a:solidFill>
                  <a:schemeClr val="tx1"/>
                </a:solidFill>
              </a:endParaRPr>
            </a:p>
          </p:txBody>
        </p:sp>
        <p:sp>
          <p:nvSpPr>
            <p:cNvPr id="99" name="矩形 98"/>
            <p:cNvSpPr/>
            <p:nvPr/>
          </p:nvSpPr>
          <p:spPr>
            <a:xfrm>
              <a:off x="7541294"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7</a:t>
              </a:r>
              <a:endParaRPr lang="zh-CN" altLang="en-US" baseline="-25000" dirty="0">
                <a:solidFill>
                  <a:schemeClr val="tx1"/>
                </a:solidFill>
              </a:endParaRPr>
            </a:p>
          </p:txBody>
        </p:sp>
        <p:sp>
          <p:nvSpPr>
            <p:cNvPr id="100" name="矩形 99"/>
            <p:cNvSpPr/>
            <p:nvPr/>
          </p:nvSpPr>
          <p:spPr>
            <a:xfrm>
              <a:off x="7909566"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6</a:t>
              </a:r>
              <a:endParaRPr lang="zh-CN" altLang="en-US" baseline="-25000" dirty="0">
                <a:solidFill>
                  <a:schemeClr val="tx1"/>
                </a:solidFill>
              </a:endParaRPr>
            </a:p>
          </p:txBody>
        </p:sp>
        <p:sp>
          <p:nvSpPr>
            <p:cNvPr id="101" name="矩形 100"/>
            <p:cNvSpPr/>
            <p:nvPr/>
          </p:nvSpPr>
          <p:spPr>
            <a:xfrm>
              <a:off x="8277838"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5</a:t>
              </a:r>
              <a:endParaRPr lang="zh-CN" altLang="en-US" baseline="-25000" dirty="0">
                <a:solidFill>
                  <a:schemeClr val="tx1"/>
                </a:solidFill>
              </a:endParaRPr>
            </a:p>
          </p:txBody>
        </p:sp>
        <p:sp>
          <p:nvSpPr>
            <p:cNvPr id="102" name="矩形 101"/>
            <p:cNvSpPr/>
            <p:nvPr/>
          </p:nvSpPr>
          <p:spPr>
            <a:xfrm>
              <a:off x="8646110"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4</a:t>
              </a:r>
              <a:endParaRPr lang="zh-CN" altLang="en-US" baseline="-25000" dirty="0">
                <a:solidFill>
                  <a:schemeClr val="tx1"/>
                </a:solidFill>
              </a:endParaRPr>
            </a:p>
          </p:txBody>
        </p:sp>
        <p:sp>
          <p:nvSpPr>
            <p:cNvPr id="103" name="矩形 102"/>
            <p:cNvSpPr/>
            <p:nvPr/>
          </p:nvSpPr>
          <p:spPr>
            <a:xfrm>
              <a:off x="9014382"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3</a:t>
              </a:r>
              <a:endParaRPr lang="zh-CN" altLang="en-US" baseline="-25000" dirty="0">
                <a:solidFill>
                  <a:schemeClr val="tx1"/>
                </a:solidFill>
              </a:endParaRPr>
            </a:p>
          </p:txBody>
        </p:sp>
        <p:sp>
          <p:nvSpPr>
            <p:cNvPr id="104" name="矩形 103"/>
            <p:cNvSpPr/>
            <p:nvPr/>
          </p:nvSpPr>
          <p:spPr>
            <a:xfrm>
              <a:off x="9382654"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2</a:t>
              </a:r>
              <a:endParaRPr lang="zh-CN" altLang="en-US" baseline="-25000" dirty="0">
                <a:solidFill>
                  <a:schemeClr val="tx1"/>
                </a:solidFill>
              </a:endParaRPr>
            </a:p>
          </p:txBody>
        </p:sp>
        <p:sp>
          <p:nvSpPr>
            <p:cNvPr id="105" name="矩形 104"/>
            <p:cNvSpPr/>
            <p:nvPr/>
          </p:nvSpPr>
          <p:spPr>
            <a:xfrm>
              <a:off x="9750926"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1</a:t>
              </a:r>
              <a:endParaRPr lang="zh-CN" altLang="en-US" baseline="-25000" dirty="0">
                <a:solidFill>
                  <a:schemeClr val="tx1"/>
                </a:solidFill>
              </a:endParaRPr>
            </a:p>
          </p:txBody>
        </p:sp>
        <p:sp>
          <p:nvSpPr>
            <p:cNvPr id="106" name="矩形 105"/>
            <p:cNvSpPr/>
            <p:nvPr/>
          </p:nvSpPr>
          <p:spPr>
            <a:xfrm>
              <a:off x="10119198" y="4125688"/>
              <a:ext cx="360000" cy="360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a:solidFill>
                    <a:schemeClr val="tx1"/>
                  </a:solidFill>
                </a:rPr>
                <a:t>W</a:t>
              </a:r>
              <a:r>
                <a:rPr lang="en-US" altLang="zh-CN" baseline="-25000" dirty="0">
                  <a:solidFill>
                    <a:schemeClr val="tx1"/>
                  </a:solidFill>
                </a:rPr>
                <a:t>0</a:t>
              </a:r>
              <a:endParaRPr lang="zh-CN" altLang="en-US" baseline="-25000" dirty="0">
                <a:solidFill>
                  <a:schemeClr val="tx1"/>
                </a:solidFill>
              </a:endParaRPr>
            </a:p>
          </p:txBody>
        </p:sp>
        <p:sp>
          <p:nvSpPr>
            <p:cNvPr id="107" name="流程图: 或者 106"/>
            <p:cNvSpPr/>
            <p:nvPr/>
          </p:nvSpPr>
          <p:spPr>
            <a:xfrm>
              <a:off x="7631294" y="3667956"/>
              <a:ext cx="180000" cy="180000"/>
            </a:xfrm>
            <a:prstGeom prst="flowChar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8" name="直接箭头连接符 107"/>
            <p:cNvCxnSpPr>
              <a:stCxn id="99" idx="0"/>
              <a:endCxn id="107" idx="4"/>
            </p:cNvCxnSpPr>
            <p:nvPr/>
          </p:nvCxnSpPr>
          <p:spPr>
            <a:xfrm flipV="1">
              <a:off x="7721294" y="3847956"/>
              <a:ext cx="0" cy="2777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直接箭头连接符 108"/>
            <p:cNvCxnSpPr>
              <a:stCxn id="106" idx="2"/>
              <a:endCxn id="129" idx="0"/>
            </p:cNvCxnSpPr>
            <p:nvPr/>
          </p:nvCxnSpPr>
          <p:spPr>
            <a:xfrm>
              <a:off x="10299198" y="4485688"/>
              <a:ext cx="0" cy="4343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直接箭头连接符 109"/>
            <p:cNvCxnSpPr>
              <a:stCxn id="106" idx="3"/>
            </p:cNvCxnSpPr>
            <p:nvPr/>
          </p:nvCxnSpPr>
          <p:spPr>
            <a:xfrm>
              <a:off x="10479198" y="4305688"/>
              <a:ext cx="4601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1" name="矩形 110"/>
            <p:cNvSpPr/>
            <p:nvPr/>
          </p:nvSpPr>
          <p:spPr>
            <a:xfrm>
              <a:off x="10720590" y="3945688"/>
              <a:ext cx="36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err="1">
                  <a:solidFill>
                    <a:schemeClr val="tx1"/>
                  </a:solidFill>
                </a:rPr>
                <a:t>W</a:t>
              </a:r>
              <a:r>
                <a:rPr lang="en-US" altLang="zh-CN" baseline="-25000" dirty="0" err="1">
                  <a:solidFill>
                    <a:schemeClr val="tx1"/>
                  </a:solidFill>
                </a:rPr>
                <a:t>j</a:t>
              </a:r>
              <a:endParaRPr lang="zh-CN" altLang="en-US" baseline="-25000" dirty="0">
                <a:solidFill>
                  <a:schemeClr val="tx1"/>
                </a:solidFill>
              </a:endParaRPr>
            </a:p>
          </p:txBody>
        </p:sp>
        <p:cxnSp>
          <p:nvCxnSpPr>
            <p:cNvPr id="112" name="连接符: 肘形 111"/>
            <p:cNvCxnSpPr>
              <a:stCxn id="106" idx="0"/>
              <a:endCxn id="107" idx="6"/>
            </p:cNvCxnSpPr>
            <p:nvPr/>
          </p:nvCxnSpPr>
          <p:spPr>
            <a:xfrm rot="16200000" flipV="1">
              <a:off x="8871380" y="2697870"/>
              <a:ext cx="367732" cy="248790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13" name="直接箭头连接符 112"/>
            <p:cNvCxnSpPr>
              <a:stCxn id="93" idx="0"/>
              <a:endCxn id="116" idx="2"/>
            </p:cNvCxnSpPr>
            <p:nvPr/>
          </p:nvCxnSpPr>
          <p:spPr>
            <a:xfrm flipV="1">
              <a:off x="5511662" y="3910958"/>
              <a:ext cx="368" cy="2147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4" name="流程图: 或者 113"/>
            <p:cNvSpPr/>
            <p:nvPr/>
          </p:nvSpPr>
          <p:spPr>
            <a:xfrm>
              <a:off x="6525598" y="2669804"/>
              <a:ext cx="180000" cy="180000"/>
            </a:xfrm>
            <a:prstGeom prst="flowChar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 name="直接箭头连接符 114"/>
            <p:cNvCxnSpPr>
              <a:stCxn id="116" idx="3"/>
              <a:endCxn id="123" idx="2"/>
            </p:cNvCxnSpPr>
            <p:nvPr/>
          </p:nvCxnSpPr>
          <p:spPr>
            <a:xfrm flipV="1">
              <a:off x="5827402" y="3757956"/>
              <a:ext cx="214098" cy="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6" name="流程图: 终止 115"/>
            <p:cNvSpPr/>
            <p:nvPr/>
          </p:nvSpPr>
          <p:spPr>
            <a:xfrm>
              <a:off x="5196658" y="3605344"/>
              <a:ext cx="630744" cy="305614"/>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solidFill>
                    <a:schemeClr val="tx1"/>
                  </a:solidFill>
                </a:rPr>
                <a:t>CLS</a:t>
              </a:r>
              <a:r>
                <a:rPr lang="en-US" altLang="zh-CN" baseline="-25000" dirty="0">
                  <a:solidFill>
                    <a:schemeClr val="tx1"/>
                  </a:solidFill>
                </a:rPr>
                <a:t>15</a:t>
              </a:r>
              <a:endParaRPr lang="zh-CN" altLang="en-US" baseline="-25000" dirty="0">
                <a:solidFill>
                  <a:schemeClr val="tx1"/>
                </a:solidFill>
              </a:endParaRPr>
            </a:p>
          </p:txBody>
        </p:sp>
        <p:sp>
          <p:nvSpPr>
            <p:cNvPr id="117" name="流程图: 终止 116"/>
            <p:cNvSpPr/>
            <p:nvPr/>
          </p:nvSpPr>
          <p:spPr>
            <a:xfrm>
              <a:off x="5817490" y="3138841"/>
              <a:ext cx="630744" cy="305614"/>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solidFill>
                    <a:schemeClr val="tx1"/>
                  </a:solidFill>
                </a:rPr>
                <a:t>P</a:t>
              </a:r>
              <a:r>
                <a:rPr lang="en-US" altLang="zh-CN" baseline="-25000" dirty="0">
                  <a:solidFill>
                    <a:schemeClr val="tx1"/>
                  </a:solidFill>
                </a:rPr>
                <a:t>1</a:t>
              </a:r>
              <a:endParaRPr lang="zh-CN" altLang="en-US" baseline="-25000" dirty="0">
                <a:solidFill>
                  <a:schemeClr val="tx1"/>
                </a:solidFill>
              </a:endParaRPr>
            </a:p>
          </p:txBody>
        </p:sp>
        <p:cxnSp>
          <p:nvCxnSpPr>
            <p:cNvPr id="118" name="直接箭头连接符 117"/>
            <p:cNvCxnSpPr>
              <a:stCxn id="123" idx="0"/>
              <a:endCxn id="117" idx="2"/>
            </p:cNvCxnSpPr>
            <p:nvPr/>
          </p:nvCxnSpPr>
          <p:spPr>
            <a:xfrm flipV="1">
              <a:off x="6131500" y="3444455"/>
              <a:ext cx="1362" cy="2235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直接箭头连接符 118"/>
            <p:cNvCxnSpPr>
              <a:stCxn id="103" idx="0"/>
              <a:endCxn id="120" idx="2"/>
            </p:cNvCxnSpPr>
            <p:nvPr/>
          </p:nvCxnSpPr>
          <p:spPr>
            <a:xfrm flipV="1">
              <a:off x="9194382" y="3444455"/>
              <a:ext cx="0" cy="6812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流程图: 终止 119"/>
            <p:cNvSpPr/>
            <p:nvPr/>
          </p:nvSpPr>
          <p:spPr>
            <a:xfrm>
              <a:off x="8879010" y="3138841"/>
              <a:ext cx="630744" cy="305614"/>
            </a:xfrm>
            <a:prstGeom prst="flowChartTermina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solidFill>
                    <a:schemeClr val="tx1"/>
                  </a:solidFill>
                </a:rPr>
                <a:t>CLS</a:t>
              </a:r>
              <a:r>
                <a:rPr lang="en-US" altLang="zh-CN" baseline="-25000" dirty="0">
                  <a:solidFill>
                    <a:schemeClr val="tx1"/>
                  </a:solidFill>
                </a:rPr>
                <a:t>7</a:t>
              </a:r>
              <a:endParaRPr lang="zh-CN" altLang="en-US" baseline="-25000" dirty="0">
                <a:solidFill>
                  <a:schemeClr val="tx1"/>
                </a:solidFill>
              </a:endParaRPr>
            </a:p>
          </p:txBody>
        </p:sp>
        <p:cxnSp>
          <p:nvCxnSpPr>
            <p:cNvPr id="121" name="直接箭头连接符 120"/>
            <p:cNvCxnSpPr>
              <a:stCxn id="96" idx="0"/>
              <a:endCxn id="114" idx="4"/>
            </p:cNvCxnSpPr>
            <p:nvPr/>
          </p:nvCxnSpPr>
          <p:spPr>
            <a:xfrm flipH="1" flipV="1">
              <a:off x="6615598" y="2849804"/>
              <a:ext cx="880" cy="12758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2" name="流程图: 或者 121"/>
            <p:cNvSpPr/>
            <p:nvPr/>
          </p:nvSpPr>
          <p:spPr>
            <a:xfrm>
              <a:off x="6042862" y="2669804"/>
              <a:ext cx="180000" cy="180000"/>
            </a:xfrm>
            <a:prstGeom prst="flowChar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流程图: 或者 122"/>
            <p:cNvSpPr/>
            <p:nvPr/>
          </p:nvSpPr>
          <p:spPr>
            <a:xfrm>
              <a:off x="6041500" y="3667956"/>
              <a:ext cx="180000" cy="180000"/>
            </a:xfrm>
            <a:prstGeom prst="flowChar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4" name="直接箭头连接符 123"/>
            <p:cNvCxnSpPr>
              <a:stCxn id="107" idx="2"/>
              <a:endCxn id="123" idx="6"/>
            </p:cNvCxnSpPr>
            <p:nvPr/>
          </p:nvCxnSpPr>
          <p:spPr>
            <a:xfrm flipH="1">
              <a:off x="6221500" y="3757956"/>
              <a:ext cx="14097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连接符: 肘形 124"/>
            <p:cNvCxnSpPr>
              <a:stCxn id="120" idx="0"/>
              <a:endCxn id="114" idx="6"/>
            </p:cNvCxnSpPr>
            <p:nvPr/>
          </p:nvCxnSpPr>
          <p:spPr>
            <a:xfrm rot="16200000" flipV="1">
              <a:off x="7760472" y="1704931"/>
              <a:ext cx="379037" cy="248878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26" name="直接箭头连接符 125"/>
            <p:cNvCxnSpPr>
              <a:stCxn id="114" idx="2"/>
              <a:endCxn id="122" idx="6"/>
            </p:cNvCxnSpPr>
            <p:nvPr/>
          </p:nvCxnSpPr>
          <p:spPr>
            <a:xfrm flipH="1">
              <a:off x="6222862" y="2759804"/>
              <a:ext cx="3027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7" name="直接箭头连接符 126"/>
            <p:cNvCxnSpPr>
              <a:stCxn id="117" idx="0"/>
              <a:endCxn id="122" idx="4"/>
            </p:cNvCxnSpPr>
            <p:nvPr/>
          </p:nvCxnSpPr>
          <p:spPr>
            <a:xfrm flipV="1">
              <a:off x="6132862" y="2849804"/>
              <a:ext cx="0" cy="2890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连接符: 肘形 127"/>
            <p:cNvCxnSpPr>
              <a:stCxn id="122" idx="2"/>
              <a:endCxn id="91" idx="0"/>
            </p:cNvCxnSpPr>
            <p:nvPr/>
          </p:nvCxnSpPr>
          <p:spPr>
            <a:xfrm rot="10800000" flipV="1">
              <a:off x="4775118" y="2759804"/>
              <a:ext cx="1267744" cy="136588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29" name="流程图: 或者 128"/>
            <p:cNvSpPr/>
            <p:nvPr/>
          </p:nvSpPr>
          <p:spPr>
            <a:xfrm>
              <a:off x="10209198" y="4920007"/>
              <a:ext cx="180000" cy="180000"/>
            </a:xfrm>
            <a:prstGeom prst="flowChartO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0" name="直接箭头连接符 129"/>
            <p:cNvCxnSpPr>
              <a:stCxn id="129" idx="6"/>
            </p:cNvCxnSpPr>
            <p:nvPr/>
          </p:nvCxnSpPr>
          <p:spPr>
            <a:xfrm flipV="1">
              <a:off x="10389198" y="5010006"/>
              <a:ext cx="550109"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1" name="矩形 130"/>
            <p:cNvSpPr/>
            <p:nvPr/>
          </p:nvSpPr>
          <p:spPr>
            <a:xfrm>
              <a:off x="10734933" y="4649219"/>
              <a:ext cx="36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dirty="0" err="1">
                  <a:solidFill>
                    <a:schemeClr val="tx1"/>
                  </a:solidFill>
                </a:rPr>
                <a:t>W</a:t>
              </a:r>
              <a:r>
                <a:rPr lang="en-US" altLang="zh-CN" baseline="-25000" dirty="0" err="1">
                  <a:solidFill>
                    <a:schemeClr val="tx1"/>
                  </a:solidFill>
                </a:rPr>
                <a:t>j</a:t>
              </a:r>
              <a:r>
                <a:rPr lang="en-US" altLang="zh-CN" dirty="0">
                  <a:solidFill>
                    <a:schemeClr val="tx1"/>
                  </a:solidFill>
                </a:rPr>
                <a:t>'</a:t>
              </a:r>
              <a:endParaRPr lang="zh-CN" altLang="en-US" dirty="0">
                <a:solidFill>
                  <a:schemeClr val="tx1"/>
                </a:solidFill>
              </a:endParaRPr>
            </a:p>
          </p:txBody>
        </p:sp>
        <p:cxnSp>
          <p:nvCxnSpPr>
            <p:cNvPr id="132" name="连接符: 肘形 131"/>
            <p:cNvCxnSpPr>
              <a:stCxn id="102" idx="2"/>
              <a:endCxn id="129" idx="2"/>
            </p:cNvCxnSpPr>
            <p:nvPr/>
          </p:nvCxnSpPr>
          <p:spPr>
            <a:xfrm rot="16200000" flipH="1">
              <a:off x="9255495" y="4056303"/>
              <a:ext cx="524319" cy="138308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mc:Choice xmlns:a14="http://schemas.microsoft.com/office/drawing/2010/main" Requires="a14">
          <p:sp>
            <p:nvSpPr>
              <p:cNvPr id="176" name="文本框 175"/>
              <p:cNvSpPr txBox="1"/>
              <p:nvPr/>
            </p:nvSpPr>
            <p:spPr>
              <a:xfrm>
                <a:off x="2211163" y="4752803"/>
                <a:ext cx="4709110" cy="3077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1</m:t>
                          </m:r>
                        </m:sub>
                      </m:sSub>
                      <m:d>
                        <m:dPr>
                          <m:ctrlPr>
                            <a:rPr lang="en-US" altLang="zh-CN" sz="2000" i="1" smtClean="0">
                              <a:latin typeface="Cambria Math" panose="02040503050406030204" pitchFamily="18" charset="0"/>
                            </a:rPr>
                          </m:ctrlPr>
                        </m:dPr>
                        <m:e>
                          <m:r>
                            <a:rPr lang="en-US" altLang="zh-CN" sz="2000" b="0" i="1" smtClean="0">
                              <a:latin typeface="Cambria Math" panose="02040503050406030204" pitchFamily="18" charset="0"/>
                            </a:rPr>
                            <m:t>𝑋</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𝑋</m:t>
                      </m:r>
                      <m:r>
                        <a:rPr lang="en-US" altLang="zh-CN" sz="2000" b="0" i="1" smtClean="0">
                          <a:latin typeface="Cambria Math" panose="02040503050406030204" pitchFamily="18" charset="0"/>
                          <a:ea typeface="Cambria Math" panose="02040503050406030204" pitchFamily="18" charset="0"/>
                        </a:rPr>
                        <m:t>⊕</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𝑋</m:t>
                          </m:r>
                          <m:r>
                            <a:rPr lang="en-US" altLang="zh-CN" sz="2000" b="0" i="1" smtClean="0">
                              <a:latin typeface="Cambria Math" panose="02040503050406030204" pitchFamily="18" charset="0"/>
                              <a:ea typeface="Cambria Math" panose="02040503050406030204" pitchFamily="18" charset="0"/>
                            </a:rPr>
                            <m:t>&lt;&lt;&lt;</m:t>
                          </m:r>
                          <m:r>
                            <a:rPr lang="en-US" altLang="zh-CN" sz="2000" b="0" i="1" smtClean="0">
                              <a:latin typeface="Cambria Math" panose="02040503050406030204" pitchFamily="18" charset="0"/>
                              <a:ea typeface="Cambria Math" panose="02040503050406030204" pitchFamily="18" charset="0"/>
                            </a:rPr>
                            <m:t>15</m:t>
                          </m:r>
                        </m:e>
                      </m:d>
                      <m:r>
                        <a:rPr lang="en-US" altLang="zh-CN" sz="2000" b="0" i="1" smtClean="0">
                          <a:latin typeface="Cambria Math" panose="02040503050406030204" pitchFamily="18" charset="0"/>
                          <a:ea typeface="Cambria Math" panose="02040503050406030204" pitchFamily="18" charset="0"/>
                        </a:rPr>
                        <m:t>⊕</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𝑋</m:t>
                          </m:r>
                          <m:r>
                            <a:rPr lang="en-US" altLang="zh-CN" sz="2000" i="1">
                              <a:latin typeface="Cambria Math" panose="02040503050406030204" pitchFamily="18" charset="0"/>
                              <a:ea typeface="Cambria Math" panose="02040503050406030204" pitchFamily="18" charset="0"/>
                            </a:rPr>
                            <m:t>&lt;&lt;&lt;</m:t>
                          </m:r>
                          <m:r>
                            <a:rPr lang="en-US" altLang="zh-CN" sz="2000" i="1">
                              <a:latin typeface="Cambria Math" panose="02040503050406030204" pitchFamily="18" charset="0"/>
                              <a:ea typeface="Cambria Math" panose="02040503050406030204" pitchFamily="18" charset="0"/>
                            </a:rPr>
                            <m:t>23</m:t>
                          </m:r>
                        </m:e>
                      </m:d>
                    </m:oMath>
                  </m:oMathPara>
                </a14:m>
                <a:endParaRPr lang="zh-CN" altLang="en-US" sz="2000" dirty="0"/>
              </a:p>
            </p:txBody>
          </p:sp>
        </mc:Choice>
        <mc:Fallback>
          <p:sp>
            <p:nvSpPr>
              <p:cNvPr id="176" name="文本框 175"/>
              <p:cNvSpPr txBox="1">
                <a:spLocks noRot="1" noChangeAspect="1" noMove="1" noResize="1" noEditPoints="1" noAdjustHandles="1" noChangeArrowheads="1" noChangeShapeType="1" noTextEdit="1"/>
              </p:cNvSpPr>
              <p:nvPr/>
            </p:nvSpPr>
            <p:spPr>
              <a:xfrm>
                <a:off x="2211163" y="4752803"/>
                <a:ext cx="4709110" cy="307777"/>
              </a:xfrm>
              <a:prstGeom prst="rect">
                <a:avLst/>
              </a:prstGeom>
              <a:blipFill rotWithShape="1">
                <a:blip r:embed="rId1"/>
                <a:stretch>
                  <a:fillRect l="-2" t="-150" r="-242" b="86"/>
                </a:stretch>
              </a:blipFill>
            </p:spPr>
            <p:txBody>
              <a:bodyPr/>
              <a:lstStyle/>
              <a:p>
                <a:r>
                  <a:rPr lang="zh-CN" altLang="en-US">
                    <a:noFill/>
                  </a:rPr>
                  <a:t> </a:t>
                </a:r>
              </a:p>
            </p:txBody>
          </p:sp>
        </mc:Fallback>
      </mc:AlternateContent>
      <p:sp>
        <p:nvSpPr>
          <p:cNvPr id="178" name="文本框 177"/>
          <p:cNvSpPr txBox="1"/>
          <p:nvPr/>
        </p:nvSpPr>
        <p:spPr>
          <a:xfrm>
            <a:off x="2205365" y="5297421"/>
            <a:ext cx="7410852" cy="400110"/>
          </a:xfrm>
          <a:prstGeom prst="rect">
            <a:avLst/>
          </a:prstGeom>
          <a:noFill/>
        </p:spPr>
        <p:txBody>
          <a:bodyPr wrap="square">
            <a:spAutoFit/>
          </a:bodyPr>
          <a:lstStyle/>
          <a:p>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baseline="-25000" dirty="0" err="1">
                <a:latin typeface="Times New Roman" panose="02020603050405020304" pitchFamily="18" charset="0"/>
                <a:ea typeface="楷体" panose="02010609060101010101" pitchFamily="49" charset="-122"/>
                <a:cs typeface="Times New Roman" panose="02020603050405020304" pitchFamily="18" charset="0"/>
              </a:rPr>
              <a:t>j</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的产生类似于</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FSR</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输出；</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baseline="-25000" dirty="0" err="1">
                <a:latin typeface="Times New Roman" panose="02020603050405020304" pitchFamily="18" charset="0"/>
                <a:ea typeface="楷体" panose="02010609060101010101" pitchFamily="49" charset="-122"/>
                <a:cs typeface="Times New Roman" panose="02020603050405020304" pitchFamily="18" charset="0"/>
              </a:rPr>
              <a:t>j</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的产生是对</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FSR</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的滤波输出</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消息验证码算法</a:t>
            </a:r>
            <a:endParaRPr lang="zh-CN" altLang="en-US" dirty="0"/>
          </a:p>
        </p:txBody>
      </p:sp>
      <p:sp>
        <p:nvSpPr>
          <p:cNvPr id="3" name="文本占位符 2"/>
          <p:cNvSpPr>
            <a:spLocks noGrp="1"/>
          </p:cNvSpPr>
          <p:nvPr>
            <p:ph type="body" sz="quarter" idx="10"/>
          </p:nvPr>
        </p:nvSpPr>
        <p:spPr/>
        <p:txBody>
          <a:bodyPr/>
          <a:lstStyle/>
          <a:p>
            <a:r>
              <a:rPr lang="zh-CN" altLang="en-US" dirty="0">
                <a:cs typeface="Times New Roman" panose="02020603050405020304" pitchFamily="18" charset="0"/>
              </a:rPr>
              <a:t>可以用分组密码或带密钥的</a:t>
            </a:r>
            <a:r>
              <a:rPr lang="zh-CN" altLang="en-US" dirty="0">
                <a:cs typeface="Times New Roman" panose="02020603050405020304" pitchFamily="18" charset="0"/>
              </a:rPr>
              <a:t>杂凑函数来设计</a:t>
            </a:r>
            <a:r>
              <a:rPr lang="en-US" altLang="zh-CN" dirty="0">
                <a:cs typeface="Times New Roman" panose="02020603050405020304" pitchFamily="18" charset="0"/>
              </a:rPr>
              <a:t>MAC</a:t>
            </a:r>
            <a:endParaRPr lang="en-US" altLang="zh-CN" dirty="0">
              <a:cs typeface="Times New Roman" panose="02020603050405020304" pitchFamily="18" charset="0"/>
            </a:endParaRPr>
          </a:p>
          <a:p>
            <a:r>
              <a:rPr lang="zh-CN" altLang="en-US" dirty="0">
                <a:cs typeface="Times New Roman" panose="02020603050405020304" pitchFamily="18" charset="0"/>
              </a:rPr>
              <a:t>更倾向于使用带密钥的杂凑函数</a:t>
            </a:r>
            <a:endParaRPr lang="en-US" altLang="zh-CN" dirty="0">
              <a:cs typeface="Times New Roman" panose="02020603050405020304" pitchFamily="18" charset="0"/>
            </a:endParaRPr>
          </a:p>
          <a:p>
            <a:pPr lvl="1"/>
            <a:r>
              <a:rPr lang="zh-CN" altLang="en-US" dirty="0">
                <a:cs typeface="Times New Roman" panose="02020603050405020304" pitchFamily="18" charset="0"/>
              </a:rPr>
              <a:t>一般而言杂凑函数执行速度快</a:t>
            </a:r>
            <a:endParaRPr lang="en-US" altLang="zh-CN" dirty="0">
              <a:cs typeface="Times New Roman" panose="02020603050405020304" pitchFamily="18" charset="0"/>
            </a:endParaRPr>
          </a:p>
          <a:p>
            <a:pPr lvl="1"/>
            <a:r>
              <a:rPr lang="zh-CN" altLang="en-US" dirty="0">
                <a:cs typeface="Times New Roman" panose="02020603050405020304" pitchFamily="18" charset="0"/>
              </a:rPr>
              <a:t>杂凑函数不象分组密码那样受出口限制</a:t>
            </a:r>
            <a:endParaRPr lang="en-US" altLang="zh-CN" dirty="0">
              <a:cs typeface="Times New Roman" panose="02020603050405020304" pitchFamily="18" charset="0"/>
            </a:endParaRPr>
          </a:p>
          <a:p>
            <a:pPr lvl="1"/>
            <a:r>
              <a:rPr lang="en-US" altLang="zh-CN" dirty="0">
                <a:cs typeface="Times New Roman" panose="02020603050405020304" pitchFamily="18" charset="0"/>
              </a:rPr>
              <a:t>AES</a:t>
            </a:r>
            <a:r>
              <a:rPr lang="zh-CN" altLang="en-US" dirty="0">
                <a:cs typeface="Times New Roman" panose="02020603050405020304" pitchFamily="18" charset="0"/>
              </a:rPr>
              <a:t>的广泛使用，使得上述意义消弱</a:t>
            </a:r>
            <a:endParaRPr lang="en-AU" altLang="zh-CN" dirty="0">
              <a:cs typeface="Times New Roman" panose="02020603050405020304" pitchFamily="18" charset="0"/>
            </a:endParaRPr>
          </a:p>
          <a:p>
            <a:endParaRPr lang="en-US" altLang="zh-CN" dirty="0">
              <a:cs typeface="Times New Roman" panose="02020603050405020304" pitchFamily="18" charset="0"/>
            </a:endParaRPr>
          </a:p>
          <a:p>
            <a:r>
              <a:rPr lang="zh-CN" altLang="en-US" dirty="0">
                <a:cs typeface="Times New Roman" panose="02020603050405020304" pitchFamily="18" charset="0"/>
              </a:rPr>
              <a:t>最初的方案：</a:t>
            </a:r>
            <a:r>
              <a:rPr lang="en-AU" altLang="zh-CN" dirty="0" err="1">
                <a:cs typeface="Times New Roman" panose="02020603050405020304" pitchFamily="18" charset="0"/>
              </a:rPr>
              <a:t>KeyedHash</a:t>
            </a:r>
            <a:r>
              <a:rPr lang="en-AU" altLang="zh-CN" dirty="0">
                <a:cs typeface="Times New Roman" panose="02020603050405020304" pitchFamily="18" charset="0"/>
              </a:rPr>
              <a:t> = Hash(</a:t>
            </a:r>
            <a:r>
              <a:rPr lang="en-AU" altLang="zh-CN" dirty="0" err="1">
                <a:cs typeface="Times New Roman" panose="02020603050405020304" pitchFamily="18" charset="0"/>
              </a:rPr>
              <a:t>Key|Message</a:t>
            </a:r>
            <a:r>
              <a:rPr lang="en-AU" altLang="zh-CN" dirty="0">
                <a:cs typeface="Times New Roman" panose="02020603050405020304" pitchFamily="18" charset="0"/>
              </a:rPr>
              <a:t>) </a:t>
            </a:r>
            <a:endParaRPr lang="en-AU" altLang="zh-CN" dirty="0">
              <a:cs typeface="Times New Roman" panose="02020603050405020304" pitchFamily="18" charset="0"/>
            </a:endParaRPr>
          </a:p>
          <a:p>
            <a:pPr lvl="1"/>
            <a:r>
              <a:rPr lang="zh-CN" altLang="en-US" dirty="0">
                <a:cs typeface="Times New Roman" panose="02020603050405020304" pitchFamily="18" charset="0"/>
              </a:rPr>
              <a:t>存在缺陷</a:t>
            </a:r>
            <a:endParaRPr lang="en-AU" altLang="zh-CN" dirty="0">
              <a:cs typeface="Times New Roman" panose="02020603050405020304" pitchFamily="18" charset="0"/>
            </a:endParaRPr>
          </a:p>
          <a:p>
            <a:endParaRPr lang="en-US" altLang="zh-CN" dirty="0">
              <a:cs typeface="Times New Roman" panose="02020603050405020304" pitchFamily="18" charset="0"/>
            </a:endParaRPr>
          </a:p>
          <a:p>
            <a:r>
              <a:rPr lang="zh-CN" altLang="en-US" dirty="0">
                <a:cs typeface="Times New Roman" panose="02020603050405020304" pitchFamily="18" charset="0"/>
              </a:rPr>
              <a:t>最终导致了</a:t>
            </a:r>
            <a:r>
              <a:rPr lang="en-AU" altLang="zh-CN" dirty="0">
                <a:cs typeface="Times New Roman" panose="02020603050405020304" pitchFamily="18" charset="0"/>
              </a:rPr>
              <a:t>HMAC</a:t>
            </a:r>
            <a:r>
              <a:rPr lang="zh-CN" altLang="en-US" dirty="0">
                <a:cs typeface="Times New Roman" panose="02020603050405020304" pitchFamily="18" charset="0"/>
              </a:rPr>
              <a:t>的出现</a:t>
            </a:r>
            <a:endParaRPr lang="en-AU" altLang="zh-CN" dirty="0">
              <a:cs typeface="Times New Roman" panose="02020603050405020304" pitchFamily="18" charset="0"/>
            </a:endParaRPr>
          </a:p>
          <a:p>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HMAC</a:t>
            </a:r>
            <a:endParaRPr lang="zh-CN" altLang="en-US" dirty="0"/>
          </a:p>
        </p:txBody>
      </p:sp>
      <p:sp>
        <p:nvSpPr>
          <p:cNvPr id="3" name="文本占位符 2"/>
          <p:cNvSpPr>
            <a:spLocks noGrp="1"/>
          </p:cNvSpPr>
          <p:nvPr>
            <p:ph type="body" sz="quarter" idx="10"/>
          </p:nvPr>
        </p:nvSpPr>
        <p:spPr/>
        <p:txBody>
          <a:bodyPr/>
          <a:lstStyle/>
          <a:p>
            <a:r>
              <a:rPr lang="en-US" altLang="zh-CN" dirty="0">
                <a:cs typeface="Times New Roman" panose="02020603050405020304" pitchFamily="18" charset="0"/>
              </a:rPr>
              <a:t>HMAC</a:t>
            </a:r>
            <a:r>
              <a:rPr lang="zh-CN" altLang="en-US" dirty="0">
                <a:cs typeface="Times New Roman" panose="02020603050405020304" pitchFamily="18" charset="0"/>
              </a:rPr>
              <a:t>的设计目标</a:t>
            </a:r>
            <a:endParaRPr lang="en-US" altLang="zh-CN" dirty="0">
              <a:cs typeface="Times New Roman" panose="02020603050405020304" pitchFamily="18" charset="0"/>
            </a:endParaRPr>
          </a:p>
          <a:p>
            <a:pPr lvl="1"/>
            <a:r>
              <a:rPr lang="zh-CN" altLang="en-US" dirty="0">
                <a:cs typeface="Times New Roman" panose="02020603050405020304" pitchFamily="18" charset="0"/>
              </a:rPr>
              <a:t>不修改现有的杂凑函数，直接使用它们</a:t>
            </a:r>
            <a:endParaRPr lang="en-US" altLang="zh-CN" dirty="0">
              <a:cs typeface="Times New Roman" panose="02020603050405020304" pitchFamily="18" charset="0"/>
            </a:endParaRPr>
          </a:p>
          <a:p>
            <a:pPr lvl="1"/>
            <a:r>
              <a:rPr lang="zh-CN" altLang="en-US" dirty="0">
                <a:cs typeface="Times New Roman" panose="02020603050405020304" pitchFamily="18" charset="0"/>
              </a:rPr>
              <a:t>可以很容易地更换新的杂凑函数</a:t>
            </a:r>
            <a:endParaRPr lang="en-US" altLang="zh-CN" dirty="0">
              <a:cs typeface="Times New Roman" panose="02020603050405020304" pitchFamily="18" charset="0"/>
            </a:endParaRPr>
          </a:p>
          <a:p>
            <a:pPr lvl="1"/>
            <a:r>
              <a:rPr lang="zh-CN" altLang="en-US" dirty="0">
                <a:cs typeface="Times New Roman" panose="02020603050405020304" pitchFamily="18" charset="0"/>
              </a:rPr>
              <a:t>保持杂凑函数的原有性能，不能过分降低其性能</a:t>
            </a:r>
            <a:endParaRPr lang="en-US" altLang="zh-CN" dirty="0">
              <a:cs typeface="Times New Roman" panose="02020603050405020304" pitchFamily="18" charset="0"/>
            </a:endParaRPr>
          </a:p>
          <a:p>
            <a:pPr lvl="1"/>
            <a:r>
              <a:rPr lang="zh-CN" altLang="en-US" dirty="0">
                <a:cs typeface="Times New Roman" panose="02020603050405020304" pitchFamily="18" charset="0"/>
              </a:rPr>
              <a:t>对密钥的使用和处理应较简单</a:t>
            </a:r>
            <a:endParaRPr lang="en-US" altLang="zh-CN" dirty="0">
              <a:cs typeface="Times New Roman" panose="02020603050405020304" pitchFamily="18" charset="0"/>
            </a:endParaRPr>
          </a:p>
          <a:p>
            <a:pPr lvl="1"/>
            <a:r>
              <a:rPr lang="zh-CN" altLang="en-US" dirty="0">
                <a:cs typeface="Times New Roman" panose="02020603050405020304" pitchFamily="18" charset="0"/>
              </a:rPr>
              <a:t>根据嵌入杂凑列函数的强度，进而分析抗密码分析的强度</a:t>
            </a:r>
            <a:endParaRPr lang="en-US" altLang="zh-CN" dirty="0">
              <a:cs typeface="Times New Roman" panose="02020603050405020304" pitchFamily="18" charset="0"/>
            </a:endParaRPr>
          </a:p>
          <a:p>
            <a:endParaRPr lang="en-AU" altLang="zh-CN" dirty="0">
              <a:cs typeface="Times New Roman" panose="02020603050405020304" pitchFamily="18" charset="0"/>
            </a:endParaRPr>
          </a:p>
          <a:p>
            <a:r>
              <a:rPr lang="en-AU" altLang="zh-CN" dirty="0">
                <a:cs typeface="Times New Roman" panose="02020603050405020304" pitchFamily="18" charset="0"/>
              </a:rPr>
              <a:t>RFC</a:t>
            </a:r>
            <a:r>
              <a:rPr lang="en-US" altLang="zh-CN" dirty="0">
                <a:cs typeface="Times New Roman" panose="02020603050405020304" pitchFamily="18" charset="0"/>
              </a:rPr>
              <a:t> </a:t>
            </a:r>
            <a:r>
              <a:rPr lang="en-AU" altLang="zh-CN" dirty="0">
                <a:cs typeface="Times New Roman" panose="02020603050405020304" pitchFamily="18" charset="0"/>
              </a:rPr>
              <a:t>2104</a:t>
            </a:r>
            <a:r>
              <a:rPr lang="zh-CN" altLang="en-US" dirty="0">
                <a:cs typeface="Times New Roman" panose="02020603050405020304" pitchFamily="18" charset="0"/>
              </a:rPr>
              <a:t>、</a:t>
            </a:r>
            <a:r>
              <a:rPr lang="en-US" altLang="zh-CN" dirty="0">
                <a:cs typeface="Times New Roman" panose="02020603050405020304" pitchFamily="18" charset="0"/>
              </a:rPr>
              <a:t>FIPS</a:t>
            </a:r>
            <a:r>
              <a:rPr lang="zh-CN" altLang="en-US" dirty="0">
                <a:cs typeface="Times New Roman" panose="02020603050405020304" pitchFamily="18" charset="0"/>
              </a:rPr>
              <a:t> </a:t>
            </a:r>
            <a:r>
              <a:rPr lang="en-US" altLang="zh-CN" dirty="0">
                <a:cs typeface="Times New Roman" panose="02020603050405020304" pitchFamily="18" charset="0"/>
              </a:rPr>
              <a:t>198</a:t>
            </a:r>
            <a:endParaRPr lang="en-AU" altLang="zh-CN" dirty="0">
              <a:cs typeface="Times New Roman" panose="02020603050405020304" pitchFamily="18" charset="0"/>
            </a:endParaRPr>
          </a:p>
          <a:p>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HMAC</a:t>
            </a:r>
            <a:endParaRPr lang="zh-CN" altLang="en-US" dirty="0"/>
          </a:p>
        </p:txBody>
      </p:sp>
      <p:sp>
        <p:nvSpPr>
          <p:cNvPr id="3" name="文本占位符 2"/>
          <p:cNvSpPr>
            <a:spLocks noGrp="1"/>
          </p:cNvSpPr>
          <p:nvPr>
            <p:ph type="body" sz="quarter" idx="10"/>
          </p:nvPr>
        </p:nvSpPr>
        <p:spPr/>
        <p:txBody>
          <a:bodyPr/>
          <a:lstStyle/>
          <a:p>
            <a:pPr marL="0" indent="0">
              <a:buNone/>
            </a:pPr>
            <a:r>
              <a:rPr lang="en-AU" altLang="zh-CN" dirty="0">
                <a:solidFill>
                  <a:srgbClr val="0070C0"/>
                </a:solidFill>
                <a:cs typeface="Times New Roman" panose="02020603050405020304" pitchFamily="18" charset="0"/>
              </a:rPr>
              <a:t>HMAC</a:t>
            </a:r>
            <a:r>
              <a:rPr lang="en-AU" altLang="zh-CN" baseline="-25000" dirty="0">
                <a:solidFill>
                  <a:srgbClr val="0070C0"/>
                </a:solidFill>
                <a:cs typeface="Times New Roman" panose="02020603050405020304" pitchFamily="18" charset="0"/>
              </a:rPr>
              <a:t>K</a:t>
            </a:r>
            <a:r>
              <a:rPr lang="en-AU" altLang="zh-CN" dirty="0">
                <a:solidFill>
                  <a:srgbClr val="0070C0"/>
                </a:solidFill>
                <a:cs typeface="Times New Roman" panose="02020603050405020304" pitchFamily="18" charset="0"/>
              </a:rPr>
              <a:t>=Hash[(K</a:t>
            </a:r>
            <a:r>
              <a:rPr lang="en-AU" altLang="zh-CN" baseline="30000" dirty="0">
                <a:solidFill>
                  <a:srgbClr val="0070C0"/>
                </a:solidFill>
                <a:cs typeface="Times New Roman" panose="02020603050405020304" pitchFamily="18" charset="0"/>
              </a:rPr>
              <a:t>+</a:t>
            </a:r>
            <a:r>
              <a:rPr lang="en-AU" altLang="zh-CN" dirty="0">
                <a:solidFill>
                  <a:srgbClr val="0070C0"/>
                </a:solidFill>
                <a:cs typeface="Times New Roman" panose="02020603050405020304" pitchFamily="18" charset="0"/>
                <a:sym typeface="Symbol" panose="05050102010706020507"/>
              </a:rPr>
              <a:t></a:t>
            </a:r>
            <a:r>
              <a:rPr lang="en-AU" altLang="zh-CN" dirty="0" err="1">
                <a:solidFill>
                  <a:srgbClr val="0070C0"/>
                </a:solidFill>
                <a:cs typeface="Times New Roman" panose="02020603050405020304" pitchFamily="18" charset="0"/>
              </a:rPr>
              <a:t>opad</a:t>
            </a:r>
            <a:r>
              <a:rPr lang="en-AU" altLang="zh-CN" dirty="0">
                <a:solidFill>
                  <a:srgbClr val="0070C0"/>
                </a:solidFill>
                <a:cs typeface="Times New Roman" panose="02020603050405020304" pitchFamily="18" charset="0"/>
              </a:rPr>
              <a:t>)||Hash[(K</a:t>
            </a:r>
            <a:r>
              <a:rPr lang="en-AU" altLang="zh-CN" baseline="30000" dirty="0">
                <a:solidFill>
                  <a:srgbClr val="0070C0"/>
                </a:solidFill>
                <a:cs typeface="Times New Roman" panose="02020603050405020304" pitchFamily="18" charset="0"/>
              </a:rPr>
              <a:t>+</a:t>
            </a:r>
            <a:r>
              <a:rPr lang="en-AU" altLang="zh-CN" dirty="0">
                <a:solidFill>
                  <a:srgbClr val="0070C0"/>
                </a:solidFill>
                <a:cs typeface="Times New Roman" panose="02020603050405020304" pitchFamily="18" charset="0"/>
                <a:sym typeface="Symbol" panose="05050102010706020507"/>
              </a:rPr>
              <a:t></a:t>
            </a:r>
            <a:r>
              <a:rPr lang="en-AU" altLang="zh-CN" dirty="0" err="1">
                <a:solidFill>
                  <a:srgbClr val="0070C0"/>
                </a:solidFill>
                <a:cs typeface="Times New Roman" panose="02020603050405020304" pitchFamily="18" charset="0"/>
              </a:rPr>
              <a:t>ipad</a:t>
            </a:r>
            <a:r>
              <a:rPr lang="en-AU" altLang="zh-CN" dirty="0">
                <a:solidFill>
                  <a:srgbClr val="0070C0"/>
                </a:solidFill>
                <a:cs typeface="Times New Roman" panose="02020603050405020304" pitchFamily="18" charset="0"/>
              </a:rPr>
              <a:t>)||M)]]</a:t>
            </a:r>
            <a:endParaRPr lang="en-AU" altLang="zh-CN" dirty="0">
              <a:solidFill>
                <a:srgbClr val="0070C0"/>
              </a:solidFill>
              <a:cs typeface="Times New Roman" panose="02020603050405020304" pitchFamily="18" charset="0"/>
            </a:endParaRPr>
          </a:p>
          <a:p>
            <a:pPr lvl="1"/>
            <a:r>
              <a:rPr lang="en-US" altLang="zh-CN" dirty="0"/>
              <a:t>Hash</a:t>
            </a:r>
            <a:r>
              <a:rPr lang="zh-CN" altLang="en-US" dirty="0"/>
              <a:t>：</a:t>
            </a:r>
            <a:r>
              <a:rPr lang="zh-CN" altLang="en-US" dirty="0">
                <a:cs typeface="Times New Roman" panose="02020603050405020304" pitchFamily="18" charset="0"/>
              </a:rPr>
              <a:t>可选</a:t>
            </a:r>
            <a:r>
              <a:rPr lang="en-AU" altLang="zh-CN" dirty="0">
                <a:cs typeface="Times New Roman" panose="02020603050405020304" pitchFamily="18" charset="0"/>
              </a:rPr>
              <a:t>SHA256, SHA-3</a:t>
            </a:r>
            <a:r>
              <a:rPr lang="zh-CN" altLang="en-US" dirty="0">
                <a:cs typeface="Times New Roman" panose="02020603050405020304" pitchFamily="18" charset="0"/>
              </a:rPr>
              <a:t>等</a:t>
            </a:r>
            <a:endParaRPr lang="en-US" altLang="zh-CN" dirty="0"/>
          </a:p>
          <a:p>
            <a:pPr lvl="1"/>
            <a:r>
              <a:rPr lang="en-US" altLang="zh-CN" dirty="0"/>
              <a:t>IV</a:t>
            </a:r>
            <a:r>
              <a:rPr lang="zh-CN" altLang="en-US" dirty="0"/>
              <a:t>：初始向量</a:t>
            </a:r>
            <a:endParaRPr lang="en-US" altLang="zh-CN" dirty="0"/>
          </a:p>
          <a:p>
            <a:pPr lvl="1"/>
            <a:r>
              <a:rPr lang="en-US" altLang="zh-CN" dirty="0"/>
              <a:t>Y</a:t>
            </a:r>
            <a:r>
              <a:rPr lang="en-US" altLang="zh-CN" baseline="-25000" dirty="0"/>
              <a:t>i</a:t>
            </a:r>
            <a:r>
              <a:rPr lang="zh-CN" altLang="en-US" dirty="0"/>
              <a:t>：</a:t>
            </a:r>
            <a:r>
              <a:rPr lang="en-US" altLang="zh-CN" dirty="0"/>
              <a:t>M</a:t>
            </a:r>
            <a:r>
              <a:rPr lang="zh-CN" altLang="en-US" dirty="0"/>
              <a:t>的第</a:t>
            </a:r>
            <a:r>
              <a:rPr lang="en-US" altLang="zh-CN" dirty="0" err="1"/>
              <a:t>i</a:t>
            </a:r>
            <a:r>
              <a:rPr lang="zh-CN" altLang="en-US" dirty="0"/>
              <a:t>个分组</a:t>
            </a:r>
            <a:endParaRPr lang="en-US" altLang="zh-CN" dirty="0"/>
          </a:p>
          <a:p>
            <a:pPr lvl="1"/>
            <a:r>
              <a:rPr lang="en-US" altLang="zh-CN" dirty="0"/>
              <a:t>L</a:t>
            </a:r>
            <a:r>
              <a:rPr lang="zh-CN" altLang="en-US" dirty="0"/>
              <a:t>：</a:t>
            </a:r>
            <a:r>
              <a:rPr lang="en-US" altLang="zh-CN" dirty="0"/>
              <a:t>M</a:t>
            </a:r>
            <a:r>
              <a:rPr lang="zh-CN" altLang="en-US" dirty="0"/>
              <a:t>中的分组数</a:t>
            </a:r>
            <a:endParaRPr lang="en-US" altLang="zh-CN" dirty="0"/>
          </a:p>
          <a:p>
            <a:pPr lvl="1"/>
            <a:r>
              <a:rPr lang="en-US" altLang="zh-CN" dirty="0"/>
              <a:t>b</a:t>
            </a:r>
            <a:r>
              <a:rPr lang="zh-CN" altLang="en-US" dirty="0"/>
              <a:t>：每分组的比特数</a:t>
            </a:r>
            <a:endParaRPr lang="en-US" altLang="zh-CN" dirty="0"/>
          </a:p>
          <a:p>
            <a:pPr lvl="1"/>
            <a:r>
              <a:rPr lang="en-US" altLang="zh-CN" dirty="0"/>
              <a:t>n</a:t>
            </a:r>
            <a:r>
              <a:rPr lang="zh-CN" altLang="en-US" dirty="0"/>
              <a:t>：杂凑</a:t>
            </a:r>
            <a:r>
              <a:rPr lang="zh-CN" altLang="en-US" dirty="0"/>
              <a:t>值长</a:t>
            </a:r>
            <a:endParaRPr lang="en-US" altLang="zh-CN" dirty="0"/>
          </a:p>
          <a:p>
            <a:pPr lvl="1"/>
            <a:r>
              <a:rPr lang="en-US" altLang="zh-CN" dirty="0"/>
              <a:t>K</a:t>
            </a:r>
            <a:r>
              <a:rPr lang="zh-CN" altLang="en-US" dirty="0"/>
              <a:t>：密钥，建议长度</a:t>
            </a:r>
            <a:r>
              <a:rPr lang="en-US" altLang="zh-CN" dirty="0"/>
              <a:t>≥n</a:t>
            </a:r>
            <a:endParaRPr lang="en-US" altLang="zh-CN" dirty="0"/>
          </a:p>
          <a:p>
            <a:pPr lvl="1"/>
            <a:r>
              <a:rPr lang="en-US" altLang="zh-CN" dirty="0"/>
              <a:t>K</a:t>
            </a:r>
            <a:r>
              <a:rPr lang="en-US" altLang="zh-CN" baseline="30000" dirty="0"/>
              <a:t>+</a:t>
            </a:r>
            <a:r>
              <a:rPr lang="zh-CN" altLang="en-US" dirty="0"/>
              <a:t>：用</a:t>
            </a:r>
            <a:r>
              <a:rPr lang="en-US" altLang="zh-CN" dirty="0"/>
              <a:t>0</a:t>
            </a:r>
            <a:r>
              <a:rPr lang="zh-CN" altLang="en-US" dirty="0"/>
              <a:t>填充</a:t>
            </a:r>
            <a:r>
              <a:rPr lang="en-US" altLang="zh-CN" dirty="0"/>
              <a:t>K</a:t>
            </a:r>
            <a:r>
              <a:rPr lang="zh-CN" altLang="en-US" dirty="0"/>
              <a:t>左侧</a:t>
            </a:r>
            <a:r>
              <a:rPr lang="zh-CN" altLang="en-US" dirty="0">
                <a:cs typeface="Times New Roman" panose="02020603050405020304" pitchFamily="18" charset="0"/>
              </a:rPr>
              <a:t>，使长度与分组一致</a:t>
            </a:r>
            <a:endParaRPr lang="en-US" altLang="zh-CN" dirty="0"/>
          </a:p>
          <a:p>
            <a:pPr lvl="1"/>
            <a:r>
              <a:rPr lang="en-US" altLang="zh-CN" dirty="0" err="1"/>
              <a:t>ipad</a:t>
            </a:r>
            <a:r>
              <a:rPr lang="zh-CN" altLang="en-US" dirty="0"/>
              <a:t>：</a:t>
            </a:r>
            <a:r>
              <a:rPr lang="zh-CN" altLang="en-US" dirty="0">
                <a:cs typeface="Times New Roman" panose="02020603050405020304" pitchFamily="18" charset="0"/>
              </a:rPr>
              <a:t>填充常数，</a:t>
            </a:r>
            <a:r>
              <a:rPr lang="en-US" altLang="zh-CN" dirty="0"/>
              <a:t>00110110</a:t>
            </a:r>
            <a:r>
              <a:rPr lang="zh-CN" altLang="en-US" dirty="0"/>
              <a:t>重复</a:t>
            </a:r>
            <a:r>
              <a:rPr lang="en-US" altLang="zh-CN" dirty="0"/>
              <a:t>b/8</a:t>
            </a:r>
            <a:r>
              <a:rPr lang="zh-CN" altLang="en-US" dirty="0"/>
              <a:t>次</a:t>
            </a:r>
            <a:r>
              <a:rPr lang="zh-CN" altLang="en-US" dirty="0">
                <a:cs typeface="Times New Roman" panose="02020603050405020304" pitchFamily="18" charset="0"/>
              </a:rPr>
              <a:t>，使得</a:t>
            </a:r>
            <a:br>
              <a:rPr lang="en-US" altLang="zh-CN" dirty="0">
                <a:cs typeface="Times New Roman" panose="02020603050405020304" pitchFamily="18" charset="0"/>
              </a:rPr>
            </a:br>
            <a:r>
              <a:rPr lang="en-US" altLang="zh-CN" dirty="0">
                <a:cs typeface="Times New Roman" panose="02020603050405020304" pitchFamily="18" charset="0"/>
              </a:rPr>
              <a:t>K</a:t>
            </a:r>
            <a:r>
              <a:rPr lang="en-US" altLang="zh-CN" baseline="30000" dirty="0">
                <a:cs typeface="Times New Roman" panose="02020603050405020304" pitchFamily="18" charset="0"/>
              </a:rPr>
              <a:t>+</a:t>
            </a:r>
            <a:r>
              <a:rPr lang="zh-CN" altLang="en-US" dirty="0">
                <a:cs typeface="Times New Roman" panose="02020603050405020304" pitchFamily="18" charset="0"/>
              </a:rPr>
              <a:t>的一半</a:t>
            </a:r>
            <a:r>
              <a:rPr lang="zh-CN" altLang="en-US" dirty="0">
                <a:cs typeface="Times New Roman" panose="02020603050405020304" pitchFamily="18" charset="0"/>
              </a:rPr>
              <a:t>比特发生变化</a:t>
            </a:r>
            <a:endParaRPr lang="en-US" altLang="zh-CN" dirty="0"/>
          </a:p>
          <a:p>
            <a:pPr lvl="1"/>
            <a:r>
              <a:rPr lang="en-US" altLang="zh-CN" dirty="0" err="1"/>
              <a:t>opad</a:t>
            </a:r>
            <a:r>
              <a:rPr lang="zh-CN" altLang="en-US" dirty="0"/>
              <a:t>：</a:t>
            </a:r>
            <a:r>
              <a:rPr lang="zh-CN" altLang="en-US" dirty="0">
                <a:cs typeface="Times New Roman" panose="02020603050405020304" pitchFamily="18" charset="0"/>
              </a:rPr>
              <a:t>填充常数，</a:t>
            </a:r>
            <a:r>
              <a:rPr lang="en-US" altLang="zh-CN" dirty="0"/>
              <a:t>01011100</a:t>
            </a:r>
            <a:r>
              <a:rPr lang="zh-CN" altLang="en-US" dirty="0"/>
              <a:t>重复</a:t>
            </a:r>
            <a:r>
              <a:rPr lang="en-US" altLang="zh-CN" dirty="0"/>
              <a:t>b/8</a:t>
            </a:r>
            <a:r>
              <a:rPr lang="zh-CN" altLang="en-US" dirty="0"/>
              <a:t>次，</a:t>
            </a:r>
            <a:r>
              <a:rPr lang="zh-CN" altLang="en-US" dirty="0">
                <a:cs typeface="Times New Roman" panose="02020603050405020304" pitchFamily="18" charset="0"/>
              </a:rPr>
              <a:t>使得</a:t>
            </a:r>
            <a:br>
              <a:rPr lang="en-US" altLang="zh-CN" dirty="0">
                <a:cs typeface="Times New Roman" panose="02020603050405020304" pitchFamily="18" charset="0"/>
              </a:rPr>
            </a:br>
            <a:r>
              <a:rPr lang="en-US" altLang="zh-CN" dirty="0">
                <a:cs typeface="Times New Roman" panose="02020603050405020304" pitchFamily="18" charset="0"/>
              </a:rPr>
              <a:t>K</a:t>
            </a:r>
            <a:r>
              <a:rPr lang="en-US" altLang="zh-CN" baseline="30000" dirty="0">
                <a:cs typeface="Times New Roman" panose="02020603050405020304" pitchFamily="18" charset="0"/>
              </a:rPr>
              <a:t>+</a:t>
            </a:r>
            <a:r>
              <a:rPr lang="zh-CN" altLang="en-US" dirty="0">
                <a:cs typeface="Times New Roman" panose="02020603050405020304" pitchFamily="18" charset="0"/>
              </a:rPr>
              <a:t>的一半</a:t>
            </a:r>
            <a:r>
              <a:rPr lang="zh-CN" altLang="en-US" dirty="0">
                <a:cs typeface="Times New Roman" panose="02020603050405020304" pitchFamily="18" charset="0"/>
              </a:rPr>
              <a:t>比特发生变化</a:t>
            </a:r>
            <a:endParaRPr lang="zh-CN" altLang="en-US" dirty="0"/>
          </a:p>
          <a:p>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7261412" y="787904"/>
            <a:ext cx="4164552" cy="4838900"/>
          </a:xfrm>
          <a:prstGeom prst="rect">
            <a:avLst/>
          </a:prstGeom>
          <a:noFill/>
          <a:ln w="9525">
            <a:noFill/>
            <a:miter lim="800000"/>
            <a:headEnd/>
            <a:tailEnd/>
          </a:ln>
          <a:effectLst/>
        </p:spPr>
      </p:pic>
      <p:sp>
        <p:nvSpPr>
          <p:cNvPr id="7" name="矩形 6"/>
          <p:cNvSpPr/>
          <p:nvPr/>
        </p:nvSpPr>
        <p:spPr>
          <a:xfrm>
            <a:off x="7771086" y="5626804"/>
            <a:ext cx="3240360" cy="706755"/>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杂凑压缩函数的计算次数仅比消息分组数多</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次</a:t>
            </a:r>
            <a:endParaRPr lang="en-AU"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HMAC</a:t>
            </a:r>
            <a:r>
              <a:rPr lang="zh-CN" altLang="en-US" dirty="0"/>
              <a:t>预运算</a:t>
            </a:r>
            <a:endParaRPr lang="zh-CN" altLang="en-US" dirty="0"/>
          </a:p>
        </p:txBody>
      </p:sp>
      <p:sp>
        <p:nvSpPr>
          <p:cNvPr id="3" name="文本占位符 2"/>
          <p:cNvSpPr>
            <a:spLocks noGrp="1"/>
          </p:cNvSpPr>
          <p:nvPr>
            <p:ph type="body" sz="quarter" idx="10"/>
          </p:nvPr>
        </p:nvSpPr>
        <p:spPr/>
        <p:txBody>
          <a:bodyPr/>
          <a:lstStyle/>
          <a:p>
            <a:r>
              <a:rPr lang="zh-CN" altLang="en-US" dirty="0"/>
              <a:t>等价于产生两个密钥相关的初始向量</a:t>
            </a:r>
            <a:endParaRPr lang="en-US" altLang="zh-CN" dirty="0"/>
          </a:p>
          <a:p>
            <a:endParaRPr lang="en-US" altLang="zh-CN" dirty="0"/>
          </a:p>
          <a:p>
            <a:r>
              <a:rPr lang="en-US" altLang="zh-CN" dirty="0"/>
              <a:t>f</a:t>
            </a:r>
            <a:r>
              <a:rPr lang="zh-CN" altLang="en-US" dirty="0"/>
              <a:t>即是</a:t>
            </a:r>
            <a:r>
              <a:rPr lang="en-US" altLang="zh-CN" dirty="0"/>
              <a:t>Hash</a:t>
            </a:r>
            <a:r>
              <a:rPr lang="zh-CN" altLang="en-US" dirty="0"/>
              <a:t>函数中的杂凑压缩函数</a:t>
            </a:r>
            <a:endParaRPr lang="en-US" altLang="zh-CN" dirty="0"/>
          </a:p>
          <a:p>
            <a:endParaRPr lang="en-US" altLang="zh-CN" dirty="0"/>
          </a:p>
          <a:p>
            <a:r>
              <a:rPr lang="zh-CN" altLang="en-US" dirty="0"/>
              <a:t>经过预运算后，实际操作仅多执行一次</a:t>
            </a:r>
            <a:br>
              <a:rPr lang="en-US" altLang="zh-CN" dirty="0"/>
            </a:br>
            <a:r>
              <a:rPr lang="zh-CN" altLang="en-US" dirty="0"/>
              <a:t>杂凑</a:t>
            </a:r>
            <a:r>
              <a:rPr lang="zh-CN" altLang="en-US" dirty="0"/>
              <a:t>压缩函数</a:t>
            </a:r>
            <a:endParaRPr lang="zh-CN" altLang="en-US" dirty="0"/>
          </a:p>
          <a:p>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6893859" y="773803"/>
            <a:ext cx="4825189" cy="5271966"/>
          </a:xfrm>
          <a:prstGeom prst="rect">
            <a:avLst/>
          </a:prstGeom>
          <a:noFill/>
          <a:ln w="9525">
            <a:noFill/>
            <a:miter lim="800000"/>
            <a:headEnd/>
            <a:tailEnd/>
          </a:ln>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HMAC</a:t>
            </a:r>
            <a:r>
              <a:rPr lang="zh-CN" altLang="en-US" dirty="0"/>
              <a:t>安全性</a:t>
            </a:r>
            <a:endParaRPr lang="zh-CN" altLang="en-US" dirty="0"/>
          </a:p>
        </p:txBody>
      </p:sp>
      <p:sp>
        <p:nvSpPr>
          <p:cNvPr id="3" name="文本占位符 2"/>
          <p:cNvSpPr>
            <a:spLocks noGrp="1"/>
          </p:cNvSpPr>
          <p:nvPr>
            <p:ph type="body" sz="quarter" idx="10"/>
          </p:nvPr>
        </p:nvSpPr>
        <p:spPr/>
        <p:txBody>
          <a:bodyPr/>
          <a:lstStyle/>
          <a:p>
            <a:r>
              <a:rPr lang="en-AU" altLang="zh-CN" dirty="0">
                <a:cs typeface="Times New Roman" panose="02020603050405020304" pitchFamily="18" charset="0"/>
              </a:rPr>
              <a:t>HMAC</a:t>
            </a:r>
            <a:r>
              <a:rPr lang="zh-CN" altLang="en-US" dirty="0">
                <a:cs typeface="Times New Roman" panose="02020603050405020304" pitchFamily="18" charset="0"/>
              </a:rPr>
              <a:t>的安全性取决于嵌入的杂凑算法的强度</a:t>
            </a:r>
            <a:endParaRPr lang="en-AU" altLang="zh-CN" dirty="0">
              <a:cs typeface="Times New Roman" panose="02020603050405020304" pitchFamily="18" charset="0"/>
            </a:endParaRPr>
          </a:p>
          <a:p>
            <a:endParaRPr lang="en-US" altLang="zh-CN" dirty="0">
              <a:cs typeface="Times New Roman" panose="02020603050405020304" pitchFamily="18" charset="0"/>
            </a:endParaRPr>
          </a:p>
          <a:p>
            <a:r>
              <a:rPr lang="zh-CN" altLang="en-US" dirty="0">
                <a:cs typeface="Times New Roman" panose="02020603050405020304" pitchFamily="18" charset="0"/>
              </a:rPr>
              <a:t>对</a:t>
            </a:r>
            <a:r>
              <a:rPr lang="en-US" altLang="zh-CN" dirty="0">
                <a:cs typeface="Times New Roman" panose="02020603050405020304" pitchFamily="18" charset="0"/>
              </a:rPr>
              <a:t>HMAC</a:t>
            </a:r>
            <a:r>
              <a:rPr lang="zh-CN" altLang="en-US" dirty="0">
                <a:cs typeface="Times New Roman" panose="02020603050405020304" pitchFamily="18" charset="0"/>
              </a:rPr>
              <a:t>的攻击方式可等价为：</a:t>
            </a:r>
            <a:endParaRPr lang="en-US" altLang="zh-CN" dirty="0">
              <a:cs typeface="Times New Roman" panose="02020603050405020304" pitchFamily="18" charset="0"/>
            </a:endParaRPr>
          </a:p>
          <a:p>
            <a:pPr lvl="1"/>
            <a:r>
              <a:rPr lang="zh-CN" altLang="en-US" dirty="0">
                <a:cs typeface="Times New Roman" panose="02020603050405020304" pitchFamily="18" charset="0"/>
              </a:rPr>
              <a:t>对密钥的穷举攻击</a:t>
            </a:r>
            <a:endParaRPr lang="en-US" altLang="zh-CN" dirty="0">
              <a:cs typeface="Times New Roman" panose="02020603050405020304" pitchFamily="18" charset="0"/>
            </a:endParaRPr>
          </a:p>
          <a:p>
            <a:pPr lvl="1"/>
            <a:r>
              <a:rPr lang="zh-CN" altLang="en-US" dirty="0">
                <a:cs typeface="Times New Roman" panose="02020603050405020304" pitchFamily="18" charset="0"/>
              </a:rPr>
              <a:t>生日攻击</a:t>
            </a:r>
            <a:endParaRPr lang="en-US" altLang="zh-CN" dirty="0">
              <a:cs typeface="Times New Roman" panose="02020603050405020304" pitchFamily="18" charset="0"/>
            </a:endParaRPr>
          </a:p>
          <a:p>
            <a:pPr lvl="2"/>
            <a:r>
              <a:rPr lang="zh-CN" altLang="en-US" dirty="0">
                <a:cs typeface="Times New Roman" panose="02020603050405020304" pitchFamily="18" charset="0"/>
              </a:rPr>
              <a:t>由于密钥的存在，攻击者不易反复地、独自地任选一对明文进行杂凑运算，只能大量观察用同一密钥产生的</a:t>
            </a:r>
            <a:r>
              <a:rPr lang="en-US" altLang="zh-CN" dirty="0">
                <a:cs typeface="Times New Roman" panose="02020603050405020304" pitchFamily="18" charset="0"/>
              </a:rPr>
              <a:t>MAC</a:t>
            </a:r>
            <a:r>
              <a:rPr lang="zh-CN" altLang="en-US" dirty="0">
                <a:cs typeface="Times New Roman" panose="02020603050405020304" pitchFamily="18" charset="0"/>
              </a:rPr>
              <a:t>来进行攻击</a:t>
            </a:r>
            <a:endParaRPr lang="en-US" altLang="zh-CN" dirty="0">
              <a:cs typeface="Times New Roman" panose="02020603050405020304" pitchFamily="18" charset="0"/>
            </a:endParaRPr>
          </a:p>
          <a:p>
            <a:pPr lvl="2"/>
            <a:r>
              <a:rPr lang="en-US" altLang="zh-CN" dirty="0">
                <a:cs typeface="Times New Roman" panose="02020603050405020304" pitchFamily="18" charset="0"/>
              </a:rPr>
              <a:t>SHA256</a:t>
            </a:r>
            <a:r>
              <a:rPr lang="zh-CN" altLang="en-US" dirty="0">
                <a:cs typeface="Times New Roman" panose="02020603050405020304" pitchFamily="18" charset="0"/>
              </a:rPr>
              <a:t>，</a:t>
            </a:r>
            <a:r>
              <a:rPr lang="en-US" altLang="zh-CN" dirty="0">
                <a:cs typeface="Times New Roman" panose="02020603050405020304" pitchFamily="18" charset="0"/>
              </a:rPr>
              <a:t>SHA-3</a:t>
            </a:r>
            <a:r>
              <a:rPr lang="zh-CN" altLang="en-US" dirty="0">
                <a:cs typeface="Times New Roman" panose="02020603050405020304" pitchFamily="18" charset="0"/>
              </a:rPr>
              <a:t>可以用在这里，密钥要经常更换</a:t>
            </a:r>
            <a:endParaRPr lang="en-US" altLang="zh-CN" dirty="0">
              <a:cs typeface="Times New Roman" panose="02020603050405020304" pitchFamily="18" charset="0"/>
            </a:endParaRPr>
          </a:p>
          <a:p>
            <a:endParaRPr lang="en-US" altLang="zh-CN" dirty="0">
              <a:cs typeface="Times New Roman" panose="02020603050405020304" pitchFamily="18" charset="0"/>
            </a:endParaRPr>
          </a:p>
          <a:p>
            <a:r>
              <a:rPr lang="en-US" altLang="zh-CN" dirty="0">
                <a:cs typeface="Times New Roman" panose="02020603050405020304" pitchFamily="18" charset="0"/>
              </a:rPr>
              <a:t>Hash</a:t>
            </a:r>
            <a:r>
              <a:rPr lang="zh-CN" altLang="en-US" dirty="0">
                <a:cs typeface="Times New Roman" panose="02020603050405020304" pitchFamily="18" charset="0"/>
              </a:rPr>
              <a:t>函数的选择应在安全性和速度上做一个折中</a:t>
            </a:r>
            <a:endParaRPr lang="zh-CN" altLang="en-US" dirty="0">
              <a:cs typeface="Times New Roman" panose="02020603050405020304" pitchFamily="18" charset="0"/>
            </a:endParaRPr>
          </a:p>
          <a:p>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CMAC</a:t>
            </a:r>
            <a:endParaRPr lang="zh-CN" altLang="en-US" dirty="0"/>
          </a:p>
        </p:txBody>
      </p:sp>
      <p:sp>
        <p:nvSpPr>
          <p:cNvPr id="3" name="文本占位符 2"/>
          <p:cNvSpPr>
            <a:spLocks noGrp="1"/>
          </p:cNvSpPr>
          <p:nvPr>
            <p:ph type="body" sz="quarter" idx="10"/>
          </p:nvPr>
        </p:nvSpPr>
        <p:spPr/>
        <p:txBody>
          <a:bodyPr/>
          <a:lstStyle/>
          <a:p>
            <a:r>
              <a:rPr lang="en-US" altLang="zh-CN" dirty="0"/>
              <a:t>CBC-MAC</a:t>
            </a:r>
            <a:r>
              <a:rPr lang="zh-CN" altLang="en-US" dirty="0"/>
              <a:t>曾被政府和工业界广泛使用</a:t>
            </a:r>
            <a:endParaRPr lang="en-US" altLang="zh-CN" dirty="0"/>
          </a:p>
          <a:p>
            <a:pPr lvl="1"/>
            <a:r>
              <a:rPr lang="zh-CN" altLang="en-US" dirty="0"/>
              <a:t>初始向量为</a:t>
            </a:r>
            <a:r>
              <a:rPr lang="en-US" altLang="zh-CN" dirty="0"/>
              <a:t>0</a:t>
            </a:r>
            <a:endParaRPr lang="en-US" altLang="zh-CN" dirty="0"/>
          </a:p>
          <a:p>
            <a:pPr lvl="1"/>
            <a:r>
              <a:rPr lang="zh-CN" altLang="en-US" dirty="0"/>
              <a:t>但仅在消息长度固定时才是安全的</a:t>
            </a:r>
            <a:endParaRPr lang="en-US" altLang="zh-CN" dirty="0"/>
          </a:p>
          <a:p>
            <a:pPr lvl="1"/>
            <a:r>
              <a:rPr lang="zh-CN" altLang="en-US" dirty="0"/>
              <a:t>例：</a:t>
            </a:r>
            <a:endParaRPr lang="en-US" altLang="zh-CN" dirty="0"/>
          </a:p>
          <a:p>
            <a:pPr lvl="2"/>
            <a:r>
              <a:rPr lang="zh-CN" altLang="en-US" dirty="0"/>
              <a:t>设攻击者知道两个消息的验证码 </a:t>
            </a:r>
            <a:r>
              <a:rPr lang="en-US" altLang="zh-CN" dirty="0"/>
              <a:t>t=MAC(m) </a:t>
            </a:r>
            <a:r>
              <a:rPr lang="zh-CN" altLang="en-US" dirty="0"/>
              <a:t>和 </a:t>
            </a:r>
            <a:r>
              <a:rPr lang="en-US" altLang="zh-CN" dirty="0"/>
              <a:t>t'=MAC(m')</a:t>
            </a:r>
            <a:endParaRPr lang="en-US" altLang="zh-CN" dirty="0"/>
          </a:p>
          <a:p>
            <a:pPr lvl="2"/>
            <a:r>
              <a:rPr lang="zh-CN" altLang="en-US" dirty="0"/>
              <a:t>构造一个新消息</a:t>
            </a:r>
            <a:r>
              <a:rPr lang="en-US" altLang="zh-CN" dirty="0"/>
              <a:t>m"</a:t>
            </a:r>
            <a:r>
              <a:rPr lang="zh-CN" altLang="en-US" dirty="0"/>
              <a:t>，将 </a:t>
            </a:r>
            <a:r>
              <a:rPr lang="en-US" altLang="zh-CN" dirty="0"/>
              <a:t>m' </a:t>
            </a:r>
            <a:r>
              <a:rPr lang="zh-CN" altLang="en-US" dirty="0"/>
              <a:t>的第一个分组与</a:t>
            </a:r>
            <a:r>
              <a:rPr lang="en-US" altLang="zh-CN" dirty="0"/>
              <a:t>t</a:t>
            </a:r>
            <a:r>
              <a:rPr lang="zh-CN" altLang="en-US" dirty="0"/>
              <a:t>异或</a:t>
            </a:r>
            <a:endParaRPr lang="en-US" altLang="zh-CN" dirty="0"/>
          </a:p>
          <a:p>
            <a:pPr marL="914400" lvl="2" indent="0">
              <a:buNone/>
            </a:pPr>
            <a:r>
              <a:rPr lang="en-US" altLang="zh-CN" dirty="0"/>
              <a:t>	m" = </a:t>
            </a:r>
            <a:r>
              <a:rPr lang="en-US" altLang="zh-CN" dirty="0">
                <a:cs typeface="Times New Roman" panose="02020603050405020304" pitchFamily="18" charset="0"/>
              </a:rPr>
              <a:t>m || m</a:t>
            </a:r>
            <a:r>
              <a:rPr lang="en-US" altLang="zh-CN" baseline="-25000" dirty="0">
                <a:cs typeface="Times New Roman" panose="02020603050405020304" pitchFamily="18" charset="0"/>
              </a:rPr>
              <a:t>1</a:t>
            </a:r>
            <a:r>
              <a:rPr lang="en-US" altLang="zh-CN" dirty="0">
                <a:cs typeface="Times New Roman" panose="02020603050405020304" pitchFamily="18" charset="0"/>
              </a:rPr>
              <a:t>'</a:t>
            </a:r>
            <a:r>
              <a:rPr lang="en-US" altLang="zh-CN" dirty="0">
                <a:ea typeface="微软雅黑" panose="020B0503020204020204" pitchFamily="34" charset="-122"/>
                <a:cs typeface="Times New Roman" panose="02020603050405020304" pitchFamily="18" charset="0"/>
              </a:rPr>
              <a:t>⊕t || m</a:t>
            </a:r>
            <a:r>
              <a:rPr lang="en-US" altLang="zh-CN" baseline="-25000" dirty="0">
                <a:ea typeface="微软雅黑" panose="020B0503020204020204" pitchFamily="34" charset="-122"/>
                <a:cs typeface="Times New Roman" panose="02020603050405020304" pitchFamily="18" charset="0"/>
              </a:rPr>
              <a:t>2</a:t>
            </a:r>
            <a:r>
              <a:rPr lang="en-US" altLang="zh-CN" dirty="0">
                <a:ea typeface="微软雅黑" panose="020B0503020204020204" pitchFamily="34" charset="-122"/>
                <a:cs typeface="Times New Roman" panose="02020603050405020304" pitchFamily="18" charset="0"/>
              </a:rPr>
              <a:t>' || ... || </a:t>
            </a:r>
            <a:r>
              <a:rPr lang="en-US" altLang="zh-CN" dirty="0" err="1">
                <a:ea typeface="微软雅黑" panose="020B0503020204020204" pitchFamily="34" charset="-122"/>
                <a:cs typeface="Times New Roman" panose="02020603050405020304" pitchFamily="18" charset="0"/>
              </a:rPr>
              <a:t>m</a:t>
            </a:r>
            <a:r>
              <a:rPr lang="en-US" altLang="zh-CN" baseline="-25000" dirty="0" err="1">
                <a:ea typeface="微软雅黑" panose="020B0503020204020204" pitchFamily="34" charset="-122"/>
                <a:cs typeface="Times New Roman" panose="02020603050405020304" pitchFamily="18" charset="0"/>
              </a:rPr>
              <a:t>n</a:t>
            </a:r>
            <a:r>
              <a:rPr lang="en-US" altLang="zh-CN" dirty="0">
                <a:ea typeface="微软雅黑" panose="020B0503020204020204" pitchFamily="34" charset="-122"/>
                <a:cs typeface="Times New Roman" panose="02020603050405020304" pitchFamily="18" charset="0"/>
              </a:rPr>
              <a:t>' </a:t>
            </a:r>
            <a:endParaRPr lang="en-US" altLang="zh-CN" dirty="0">
              <a:cs typeface="Times New Roman" panose="02020603050405020304" pitchFamily="18" charset="0"/>
            </a:endParaRPr>
          </a:p>
          <a:p>
            <a:pPr lvl="2"/>
            <a:r>
              <a:rPr lang="zh-CN" altLang="en-US" dirty="0"/>
              <a:t>则新消息</a:t>
            </a:r>
            <a:r>
              <a:rPr lang="en-US" altLang="zh-CN" dirty="0"/>
              <a:t>m</a:t>
            </a:r>
            <a:r>
              <a:rPr lang="zh-CN" altLang="en-US" dirty="0"/>
              <a:t>的验证码为 </a:t>
            </a:r>
            <a:r>
              <a:rPr lang="en-US" altLang="zh-CN" dirty="0"/>
              <a:t>MAC(m")=t'</a:t>
            </a:r>
            <a:endParaRPr lang="en-US" altLang="zh-CN" dirty="0"/>
          </a:p>
          <a:p>
            <a:pPr lvl="2"/>
            <a:endParaRPr lang="en-US" altLang="zh-CN" dirty="0"/>
          </a:p>
          <a:p>
            <a:pPr lvl="1"/>
            <a:endParaRPr lang="en-US" altLang="zh-CN" dirty="0"/>
          </a:p>
          <a:p>
            <a:pPr lvl="1"/>
            <a:endParaRPr lang="en-US" altLang="zh-CN" dirty="0"/>
          </a:p>
          <a:p>
            <a:r>
              <a:rPr lang="zh-CN" altLang="en-US" dirty="0"/>
              <a:t>为解除限制，提出了基于密文的消息认证码</a:t>
            </a:r>
            <a:r>
              <a:rPr lang="en-US" altLang="zh-CN" dirty="0"/>
              <a:t>CMAC</a:t>
            </a:r>
            <a:endParaRPr lang="en-US" altLang="zh-CN" dirty="0"/>
          </a:p>
          <a:p>
            <a:pPr lvl="1"/>
            <a:r>
              <a:rPr lang="zh-CN" altLang="en-US" dirty="0"/>
              <a:t>在</a:t>
            </a:r>
            <a:r>
              <a:rPr lang="en-US" altLang="zh-CN" dirty="0"/>
              <a:t>NIST SP800-38B</a:t>
            </a:r>
            <a:r>
              <a:rPr lang="zh-CN" altLang="en-US" dirty="0"/>
              <a:t>中有此规范</a:t>
            </a:r>
            <a:endParaRPr lang="en-US" altLang="zh-CN" dirty="0"/>
          </a:p>
          <a:p>
            <a:pPr lvl="1"/>
            <a:r>
              <a:rPr lang="zh-CN" altLang="en-US" dirty="0"/>
              <a:t>使用一个加密密钥，及两个由加密密钥导出的常数</a:t>
            </a:r>
            <a:endParaRPr lang="zh-CN" altLang="en-US" dirty="0"/>
          </a:p>
        </p:txBody>
      </p:sp>
      <p:sp>
        <p:nvSpPr>
          <p:cNvPr id="5" name="TextBox 5"/>
          <p:cNvSpPr txBox="1"/>
          <p:nvPr/>
        </p:nvSpPr>
        <p:spPr>
          <a:xfrm>
            <a:off x="8386066" y="1961656"/>
            <a:ext cx="928694" cy="369332"/>
          </a:xfrm>
          <a:prstGeom prst="rect">
            <a:avLst/>
          </a:prstGeom>
          <a:noFill/>
          <a:ln w="25400">
            <a:solidFill>
              <a:schemeClr val="tx1"/>
            </a:solidFill>
          </a:ln>
        </p:spPr>
        <p:txBody>
          <a:bodyPr wrap="square" lIns="36000" rIns="36000" rtlCol="0">
            <a:spAutoFit/>
          </a:bodyPr>
          <a:lstStyle/>
          <a:p>
            <a:pPr algn="ctr"/>
            <a:r>
              <a:rPr lang="en-US" altLang="zh-CN" dirty="0">
                <a:latin typeface="Times New Roman" panose="02020603050405020304" pitchFamily="18" charset="0"/>
                <a:cs typeface="Times New Roman" panose="02020603050405020304" pitchFamily="18" charset="0"/>
              </a:rPr>
              <a:t>m</a:t>
            </a:r>
            <a:endParaRPr lang="zh-CN" altLang="en-US" dirty="0">
              <a:latin typeface="Times New Roman" panose="02020603050405020304" pitchFamily="18" charset="0"/>
              <a:cs typeface="Times New Roman" panose="02020603050405020304" pitchFamily="18" charset="0"/>
            </a:endParaRPr>
          </a:p>
        </p:txBody>
      </p:sp>
      <p:sp>
        <p:nvSpPr>
          <p:cNvPr id="6" name="TextBox 6"/>
          <p:cNvSpPr txBox="1"/>
          <p:nvPr/>
        </p:nvSpPr>
        <p:spPr>
          <a:xfrm>
            <a:off x="8386066" y="3276058"/>
            <a:ext cx="924506" cy="369332"/>
          </a:xfrm>
          <a:prstGeom prst="rect">
            <a:avLst/>
          </a:prstGeom>
          <a:noFill/>
          <a:ln w="25400">
            <a:solidFill>
              <a:schemeClr val="tx1"/>
            </a:solidFill>
          </a:ln>
        </p:spPr>
        <p:txBody>
          <a:bodyPr wrap="square" lIns="36000" rIns="36000" rtlCol="0">
            <a:spAutoFit/>
          </a:bodyPr>
          <a:lstStyle/>
          <a:p>
            <a:pPr algn="ctr"/>
            <a:r>
              <a:rPr lang="en-US" altLang="zh-CN" dirty="0">
                <a:latin typeface="Times New Roman" panose="02020603050405020304" pitchFamily="18" charset="0"/>
                <a:cs typeface="Times New Roman" panose="02020603050405020304" pitchFamily="18" charset="0"/>
              </a:rPr>
              <a:t>E(K,   )</a:t>
            </a:r>
            <a:endParaRPr lang="zh-CN" altLang="en-US" dirty="0">
              <a:latin typeface="Times New Roman" panose="02020603050405020304" pitchFamily="18" charset="0"/>
              <a:cs typeface="Times New Roman" panose="02020603050405020304" pitchFamily="18" charset="0"/>
            </a:endParaRPr>
          </a:p>
        </p:txBody>
      </p:sp>
      <p:sp>
        <p:nvSpPr>
          <p:cNvPr id="7" name="TextBox 7"/>
          <p:cNvSpPr txBox="1"/>
          <p:nvPr/>
        </p:nvSpPr>
        <p:spPr>
          <a:xfrm>
            <a:off x="10009698" y="1961656"/>
            <a:ext cx="928694" cy="369332"/>
          </a:xfrm>
          <a:prstGeom prst="rect">
            <a:avLst/>
          </a:prstGeom>
          <a:noFill/>
          <a:ln w="25400">
            <a:solidFill>
              <a:schemeClr val="tx1"/>
            </a:solidFill>
          </a:ln>
        </p:spPr>
        <p:txBody>
          <a:bodyPr wrap="square" lIns="36000" rIns="36000" rtlCol="0">
            <a:spAutoFit/>
          </a:bodyPr>
          <a:lstStyle/>
          <a:p>
            <a:pPr algn="ctr"/>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 t</a:t>
            </a:r>
            <a:endParaRPr lang="zh-CN" altLang="en-US" dirty="0">
              <a:latin typeface="Times New Roman" panose="02020603050405020304" pitchFamily="18" charset="0"/>
              <a:cs typeface="Times New Roman" panose="02020603050405020304" pitchFamily="18" charset="0"/>
            </a:endParaRPr>
          </a:p>
        </p:txBody>
      </p:sp>
      <p:sp>
        <p:nvSpPr>
          <p:cNvPr id="8" name="TextBox 8"/>
          <p:cNvSpPr txBox="1"/>
          <p:nvPr/>
        </p:nvSpPr>
        <p:spPr>
          <a:xfrm>
            <a:off x="8603129" y="3815617"/>
            <a:ext cx="490377" cy="369332"/>
          </a:xfrm>
          <a:prstGeom prst="rect">
            <a:avLst/>
          </a:prstGeom>
          <a:noFill/>
          <a:ln w="25400">
            <a:noFill/>
          </a:ln>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t</a:t>
            </a:r>
            <a:endParaRPr lang="en-US" altLang="zh-CN" dirty="0">
              <a:latin typeface="Times New Roman" panose="02020603050405020304" pitchFamily="18" charset="0"/>
              <a:cs typeface="Times New Roman" panose="02020603050405020304" pitchFamily="18" charset="0"/>
            </a:endParaRPr>
          </a:p>
        </p:txBody>
      </p:sp>
      <p:sp>
        <p:nvSpPr>
          <p:cNvPr id="9" name="流程图: 或者 8"/>
          <p:cNvSpPr/>
          <p:nvPr/>
        </p:nvSpPr>
        <p:spPr>
          <a:xfrm>
            <a:off x="10329776" y="2676036"/>
            <a:ext cx="285752" cy="285752"/>
          </a:xfrm>
          <a:prstGeom prst="flowChar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TextBox 10"/>
          <p:cNvSpPr txBox="1"/>
          <p:nvPr/>
        </p:nvSpPr>
        <p:spPr>
          <a:xfrm>
            <a:off x="10009698" y="3247540"/>
            <a:ext cx="928694" cy="369332"/>
          </a:xfrm>
          <a:prstGeom prst="rect">
            <a:avLst/>
          </a:prstGeom>
          <a:noFill/>
          <a:ln w="25400">
            <a:solidFill>
              <a:schemeClr val="tx1"/>
            </a:solidFill>
          </a:ln>
        </p:spPr>
        <p:txBody>
          <a:bodyPr wrap="square" lIns="36000" rIns="36000" rtlCol="0">
            <a:spAutoFit/>
          </a:bodyPr>
          <a:lstStyle/>
          <a:p>
            <a:pPr algn="ctr"/>
            <a:r>
              <a:rPr lang="en-US" altLang="zh-CN" dirty="0">
                <a:latin typeface="Times New Roman" panose="02020603050405020304" pitchFamily="18" charset="0"/>
                <a:cs typeface="Times New Roman" panose="02020603050405020304" pitchFamily="18" charset="0"/>
              </a:rPr>
              <a:t>E(K,   )</a:t>
            </a:r>
            <a:endParaRPr lang="zh-CN" altLang="en-US" dirty="0">
              <a:latin typeface="Times New Roman" panose="02020603050405020304" pitchFamily="18" charset="0"/>
              <a:cs typeface="Times New Roman" panose="02020603050405020304" pitchFamily="18" charset="0"/>
            </a:endParaRPr>
          </a:p>
        </p:txBody>
      </p:sp>
      <p:cxnSp>
        <p:nvCxnSpPr>
          <p:cNvPr id="11" name="肘形连接符 12"/>
          <p:cNvCxnSpPr>
            <a:stCxn id="5" idx="2"/>
            <a:endCxn id="20" idx="0"/>
          </p:cNvCxnSpPr>
          <p:nvPr/>
        </p:nvCxnSpPr>
        <p:spPr>
          <a:xfrm rot="16200000" flipH="1">
            <a:off x="8665355" y="2516046"/>
            <a:ext cx="371746" cy="1630"/>
          </a:xfrm>
          <a:prstGeom prst="bentConnector3">
            <a:avLst>
              <a:gd name="adj1" fmla="val 50000"/>
            </a:avLst>
          </a:prstGeom>
          <a:ln w="254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2" name="肘形连接符 13"/>
          <p:cNvCxnSpPr>
            <a:stCxn id="6" idx="2"/>
            <a:endCxn id="9" idx="2"/>
          </p:cNvCxnSpPr>
          <p:nvPr/>
        </p:nvCxnSpPr>
        <p:spPr>
          <a:xfrm rot="5400000" flipH="1" flipV="1">
            <a:off x="9175808" y="2491422"/>
            <a:ext cx="826478" cy="1481457"/>
          </a:xfrm>
          <a:prstGeom prst="bentConnector4">
            <a:avLst>
              <a:gd name="adj1" fmla="val -27660"/>
              <a:gd name="adj2" fmla="val 65601"/>
            </a:avLst>
          </a:prstGeom>
          <a:ln w="254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3" name="肘形连接符 16"/>
          <p:cNvCxnSpPr>
            <a:stCxn id="7" idx="2"/>
            <a:endCxn id="9" idx="0"/>
          </p:cNvCxnSpPr>
          <p:nvPr/>
        </p:nvCxnSpPr>
        <p:spPr>
          <a:xfrm rot="5400000">
            <a:off x="10300825" y="2502816"/>
            <a:ext cx="345048" cy="1393"/>
          </a:xfrm>
          <a:prstGeom prst="bentConnector3">
            <a:avLst>
              <a:gd name="adj1" fmla="val 50000"/>
            </a:avLst>
          </a:prstGeom>
          <a:ln w="254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4" name="肘形连接符 19"/>
          <p:cNvCxnSpPr>
            <a:stCxn id="9" idx="4"/>
            <a:endCxn id="10" idx="0"/>
          </p:cNvCxnSpPr>
          <p:nvPr/>
        </p:nvCxnSpPr>
        <p:spPr>
          <a:xfrm rot="16200000" flipH="1">
            <a:off x="10330472" y="3103967"/>
            <a:ext cx="285752" cy="1393"/>
          </a:xfrm>
          <a:prstGeom prst="bentConnector3">
            <a:avLst>
              <a:gd name="adj1" fmla="val 50000"/>
            </a:avLst>
          </a:prstGeom>
          <a:ln w="254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0" name="流程图: 或者 19"/>
          <p:cNvSpPr/>
          <p:nvPr/>
        </p:nvSpPr>
        <p:spPr>
          <a:xfrm>
            <a:off x="8709167" y="2702734"/>
            <a:ext cx="285752" cy="285752"/>
          </a:xfrm>
          <a:prstGeom prst="flowChar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1" name="肘形连接符 12"/>
          <p:cNvCxnSpPr>
            <a:stCxn id="20" idx="4"/>
            <a:endCxn id="6" idx="0"/>
          </p:cNvCxnSpPr>
          <p:nvPr/>
        </p:nvCxnSpPr>
        <p:spPr>
          <a:xfrm rot="5400000">
            <a:off x="8706395" y="3130410"/>
            <a:ext cx="287572" cy="3724"/>
          </a:xfrm>
          <a:prstGeom prst="bentConnector3">
            <a:avLst>
              <a:gd name="adj1" fmla="val 50000"/>
            </a:avLst>
          </a:prstGeom>
          <a:ln w="254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2" name="肘形连接符 21"/>
          <p:cNvCxnSpPr/>
          <p:nvPr/>
        </p:nvCxnSpPr>
        <p:spPr>
          <a:xfrm>
            <a:off x="8284539" y="2850074"/>
            <a:ext cx="436786" cy="2"/>
          </a:xfrm>
          <a:prstGeom prst="bentConnector3">
            <a:avLst>
              <a:gd name="adj1" fmla="val 50000"/>
            </a:avLst>
          </a:prstGeom>
          <a:ln w="2540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6" name="肘形连接符 13"/>
          <p:cNvCxnSpPr>
            <a:stCxn id="10" idx="2"/>
          </p:cNvCxnSpPr>
          <p:nvPr/>
        </p:nvCxnSpPr>
        <p:spPr>
          <a:xfrm rot="5400000" flipH="1" flipV="1">
            <a:off x="10574814" y="2718143"/>
            <a:ext cx="797960" cy="999498"/>
          </a:xfrm>
          <a:prstGeom prst="bentConnector4">
            <a:avLst>
              <a:gd name="adj1" fmla="val -28648"/>
              <a:gd name="adj2" fmla="val 73229"/>
            </a:avLst>
          </a:prstGeom>
          <a:ln w="254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34" name="TextBox 8"/>
          <p:cNvSpPr txBox="1"/>
          <p:nvPr/>
        </p:nvSpPr>
        <p:spPr>
          <a:xfrm>
            <a:off x="10489805" y="2845610"/>
            <a:ext cx="490377" cy="369332"/>
          </a:xfrm>
          <a:prstGeom prst="rect">
            <a:avLst/>
          </a:prstGeom>
          <a:noFill/>
          <a:ln w="25400">
            <a:noFill/>
          </a:ln>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CMAC</a:t>
            </a:r>
            <a:r>
              <a:rPr lang="zh-CN" altLang="en-US" dirty="0"/>
              <a:t>总体结构</a:t>
            </a:r>
            <a:endParaRPr lang="zh-CN" altLang="en-US" dirty="0"/>
          </a:p>
        </p:txBody>
      </p:sp>
      <p:sp>
        <p:nvSpPr>
          <p:cNvPr id="3" name="文本占位符 2"/>
          <p:cNvSpPr>
            <a:spLocks noGrp="1"/>
          </p:cNvSpPr>
          <p:nvPr>
            <p:ph type="body" sz="quarter" idx="10"/>
          </p:nvPr>
        </p:nvSpPr>
        <p:spPr>
          <a:xfrm>
            <a:off x="327298" y="938213"/>
            <a:ext cx="10707506" cy="5552394"/>
          </a:xfrm>
        </p:spPr>
        <p:txBody>
          <a:bodyPr/>
          <a:lstStyle/>
          <a:p>
            <a:r>
              <a:rPr lang="zh-CN" altLang="en-US" dirty="0"/>
              <a:t>常数</a:t>
            </a:r>
            <a:r>
              <a:rPr lang="en-US" altLang="zh-CN" dirty="0"/>
              <a:t>K</a:t>
            </a:r>
            <a:r>
              <a:rPr lang="en-US" altLang="zh-CN" baseline="-25000" dirty="0"/>
              <a:t>1</a:t>
            </a:r>
            <a:r>
              <a:rPr lang="en-US" altLang="zh-CN" dirty="0"/>
              <a:t>,K</a:t>
            </a:r>
            <a:r>
              <a:rPr lang="en-US" altLang="zh-CN" baseline="-25000" dirty="0"/>
              <a:t>2</a:t>
            </a:r>
            <a:r>
              <a:rPr lang="zh-CN" altLang="en-US" dirty="0"/>
              <a:t>的长度：分组长度</a:t>
            </a:r>
            <a:r>
              <a:rPr lang="en-US" altLang="zh-CN" dirty="0"/>
              <a:t>n</a:t>
            </a:r>
            <a:endParaRPr lang="en-US" altLang="zh-CN" dirty="0"/>
          </a:p>
          <a:p>
            <a:r>
              <a:rPr lang="zh-CN" altLang="en-US" dirty="0"/>
              <a:t>常数</a:t>
            </a:r>
            <a:r>
              <a:rPr lang="en-US" altLang="zh-CN" dirty="0"/>
              <a:t>K</a:t>
            </a:r>
            <a:r>
              <a:rPr lang="en-US" altLang="zh-CN" baseline="-25000" dirty="0"/>
              <a:t>1</a:t>
            </a:r>
            <a:r>
              <a:rPr lang="en-US" altLang="zh-CN" dirty="0"/>
              <a:t>,K</a:t>
            </a:r>
            <a:r>
              <a:rPr lang="en-US" altLang="zh-CN" baseline="-25000" dirty="0"/>
              <a:t>2</a:t>
            </a:r>
            <a:r>
              <a:rPr lang="zh-CN" altLang="en-US" dirty="0"/>
              <a:t>的计算：</a:t>
            </a:r>
            <a:endParaRPr lang="en-US" altLang="zh-CN" dirty="0"/>
          </a:p>
          <a:p>
            <a:pPr lvl="1">
              <a:buNone/>
            </a:pPr>
            <a:r>
              <a:rPr lang="en-US" altLang="zh-CN" dirty="0"/>
              <a:t>	L=E</a:t>
            </a:r>
            <a:r>
              <a:rPr lang="en-US" altLang="zh-CN" baseline="-25000" dirty="0"/>
              <a:t>K</a:t>
            </a:r>
            <a:r>
              <a:rPr lang="en-US" altLang="zh-CN" dirty="0"/>
              <a:t>(0</a:t>
            </a:r>
            <a:r>
              <a:rPr lang="en-US" altLang="zh-CN" baseline="30000" dirty="0"/>
              <a:t>n</a:t>
            </a:r>
            <a:r>
              <a:rPr lang="en-US" altLang="zh-CN" dirty="0"/>
              <a:t>)</a:t>
            </a:r>
            <a:endParaRPr lang="en-US" altLang="zh-CN" dirty="0"/>
          </a:p>
          <a:p>
            <a:pPr lvl="1">
              <a:buNone/>
            </a:pPr>
            <a:r>
              <a:rPr lang="en-US" altLang="zh-CN" dirty="0"/>
              <a:t>	K</a:t>
            </a:r>
            <a:r>
              <a:rPr lang="en-US" altLang="zh-CN" baseline="-25000" dirty="0"/>
              <a:t>1</a:t>
            </a:r>
            <a:r>
              <a:rPr lang="en-US" altLang="zh-CN" dirty="0"/>
              <a:t>=</a:t>
            </a:r>
            <a:r>
              <a:rPr lang="en-US" altLang="zh-CN" dirty="0" err="1"/>
              <a:t>L·x</a:t>
            </a:r>
            <a:endParaRPr lang="en-US" altLang="zh-CN" dirty="0"/>
          </a:p>
          <a:p>
            <a:pPr lvl="1">
              <a:buNone/>
            </a:pPr>
            <a:r>
              <a:rPr lang="en-US" altLang="zh-CN" dirty="0"/>
              <a:t>	K</a:t>
            </a:r>
            <a:r>
              <a:rPr lang="en-US" altLang="zh-CN" baseline="-25000" dirty="0"/>
              <a:t>2</a:t>
            </a:r>
            <a:r>
              <a:rPr lang="en-US" altLang="zh-CN" dirty="0"/>
              <a:t>=L·x</a:t>
            </a:r>
            <a:r>
              <a:rPr lang="en-US" altLang="zh-CN" baseline="30000" dirty="0"/>
              <a:t>2</a:t>
            </a:r>
            <a:r>
              <a:rPr lang="en-US" altLang="zh-CN" dirty="0"/>
              <a:t>=(</a:t>
            </a:r>
            <a:r>
              <a:rPr lang="en-US" altLang="zh-CN" dirty="0" err="1"/>
              <a:t>L·x</a:t>
            </a:r>
            <a:r>
              <a:rPr lang="en-US" altLang="zh-CN" dirty="0"/>
              <a:t>)·x</a:t>
            </a:r>
            <a:endParaRPr lang="en-US" altLang="zh-CN" dirty="0"/>
          </a:p>
          <a:p>
            <a:pPr lvl="1"/>
            <a:r>
              <a:rPr lang="zh-CN" altLang="en-US" dirty="0"/>
              <a:t>在域</a:t>
            </a:r>
            <a:r>
              <a:rPr lang="en-US" altLang="zh-CN" dirty="0"/>
              <a:t>GF(2</a:t>
            </a:r>
            <a:r>
              <a:rPr lang="en-US" altLang="zh-CN" baseline="30000" dirty="0"/>
              <a:t>n</a:t>
            </a:r>
            <a:r>
              <a:rPr lang="en-US" altLang="zh-CN" dirty="0"/>
              <a:t>)</a:t>
            </a:r>
            <a:r>
              <a:rPr lang="zh-CN" altLang="en-US" dirty="0"/>
              <a:t>中运算，</a:t>
            </a:r>
            <a:r>
              <a:rPr lang="zh-CN" altLang="en-US" dirty="0"/>
              <a:t>不可约多项式</a:t>
            </a:r>
            <a:r>
              <a:rPr lang="en-US" altLang="zh-CN" dirty="0"/>
              <a:t>p(x)</a:t>
            </a:r>
            <a:r>
              <a:rPr lang="zh-CN" altLang="en-US" dirty="0"/>
              <a:t>为：</a:t>
            </a:r>
            <a:endParaRPr lang="en-US" altLang="zh-CN" dirty="0"/>
          </a:p>
          <a:p>
            <a:pPr lvl="1">
              <a:buNone/>
            </a:pPr>
            <a:r>
              <a:rPr lang="en-US" altLang="zh-CN" dirty="0"/>
              <a:t>	64</a:t>
            </a:r>
            <a:r>
              <a:rPr lang="zh-CN" altLang="en-US" dirty="0"/>
              <a:t>位分组：</a:t>
            </a:r>
            <a:r>
              <a:rPr lang="en-US" altLang="zh-CN" dirty="0"/>
              <a:t>x</a:t>
            </a:r>
            <a:r>
              <a:rPr lang="en-US" altLang="zh-CN" baseline="30000" dirty="0"/>
              <a:t>64</a:t>
            </a:r>
            <a:r>
              <a:rPr lang="en-US" altLang="zh-CN" dirty="0"/>
              <a:t>+x</a:t>
            </a:r>
            <a:r>
              <a:rPr lang="en-US" altLang="zh-CN" baseline="30000" dirty="0"/>
              <a:t>4</a:t>
            </a:r>
            <a:r>
              <a:rPr lang="en-US" altLang="zh-CN" dirty="0"/>
              <a:t>+x</a:t>
            </a:r>
            <a:r>
              <a:rPr lang="en-US" altLang="zh-CN" baseline="30000" dirty="0"/>
              <a:t>3</a:t>
            </a:r>
            <a:r>
              <a:rPr lang="en-US" altLang="zh-CN" dirty="0"/>
              <a:t>+x+1</a:t>
            </a:r>
            <a:endParaRPr lang="en-US" altLang="zh-CN" dirty="0"/>
          </a:p>
          <a:p>
            <a:pPr lvl="1">
              <a:buNone/>
            </a:pPr>
            <a:r>
              <a:rPr lang="en-US" altLang="zh-CN" dirty="0"/>
              <a:t>	128</a:t>
            </a:r>
            <a:r>
              <a:rPr lang="zh-CN" altLang="en-US" dirty="0"/>
              <a:t>位分组：</a:t>
            </a:r>
            <a:r>
              <a:rPr lang="en-US" altLang="zh-CN" dirty="0"/>
              <a:t>x</a:t>
            </a:r>
            <a:r>
              <a:rPr lang="en-US" altLang="zh-CN" baseline="30000" dirty="0"/>
              <a:t>128</a:t>
            </a:r>
            <a:r>
              <a:rPr lang="en-US" altLang="zh-CN" dirty="0"/>
              <a:t>+x</a:t>
            </a:r>
            <a:r>
              <a:rPr lang="en-US" altLang="zh-CN" baseline="30000" dirty="0"/>
              <a:t>7</a:t>
            </a:r>
            <a:r>
              <a:rPr lang="en-US" altLang="zh-CN" dirty="0"/>
              <a:t>+x</a:t>
            </a:r>
            <a:r>
              <a:rPr lang="en-US" altLang="zh-CN" baseline="30000" dirty="0"/>
              <a:t>2</a:t>
            </a:r>
            <a:r>
              <a:rPr lang="en-US" altLang="zh-CN" dirty="0"/>
              <a:t>+x+1</a:t>
            </a:r>
            <a:endParaRPr lang="en-US" altLang="zh-CN" dirty="0"/>
          </a:p>
          <a:p>
            <a:endParaRPr lang="zh-CN" altLang="en-US" dirty="0"/>
          </a:p>
        </p:txBody>
      </p:sp>
      <p:pic>
        <p:nvPicPr>
          <p:cNvPr id="5" name="Picture 2"/>
          <p:cNvPicPr>
            <a:picLocks noChangeAspect="1" noChangeArrowheads="1"/>
          </p:cNvPicPr>
          <p:nvPr/>
        </p:nvPicPr>
        <p:blipFill>
          <a:blip r:embed="rId1" cstate="print"/>
          <a:srcRect/>
          <a:stretch>
            <a:fillRect/>
          </a:stretch>
        </p:blipFill>
        <p:spPr bwMode="auto">
          <a:xfrm>
            <a:off x="5788696" y="938213"/>
            <a:ext cx="6084676" cy="4844022"/>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075" y="213028"/>
            <a:ext cx="5844926" cy="423787"/>
          </a:xfrm>
        </p:spPr>
        <p:txBody>
          <a:bodyPr/>
          <a:lstStyle/>
          <a:p>
            <a:r>
              <a:rPr lang="zh-CN" altLang="en-US" dirty="0"/>
              <a:t>常用的既加密又认证的模式</a:t>
            </a:r>
            <a:endParaRPr lang="zh-CN" altLang="en-US" dirty="0"/>
          </a:p>
        </p:txBody>
      </p:sp>
      <p:sp>
        <p:nvSpPr>
          <p:cNvPr id="3" name="文本占位符 2"/>
          <p:cNvSpPr>
            <a:spLocks noGrp="1"/>
          </p:cNvSpPr>
          <p:nvPr>
            <p:ph type="body" sz="quarter" idx="10"/>
          </p:nvPr>
        </p:nvSpPr>
        <p:spPr/>
        <p:txBody>
          <a:bodyPr/>
          <a:lstStyle/>
          <a:p>
            <a:r>
              <a:rPr lang="zh-CN" altLang="en-US" dirty="0"/>
              <a:t>先</a:t>
            </a:r>
            <a:r>
              <a:rPr lang="en-US" altLang="zh-CN" dirty="0"/>
              <a:t>Hash</a:t>
            </a:r>
            <a:r>
              <a:rPr lang="zh-CN" altLang="en-US" dirty="0"/>
              <a:t>再加密</a:t>
            </a:r>
            <a:r>
              <a:rPr lang="en-US" altLang="zh-CN" dirty="0"/>
              <a:t>(</a:t>
            </a:r>
            <a:r>
              <a:rPr lang="en-US" altLang="zh-CN" dirty="0">
                <a:solidFill>
                  <a:srgbClr val="0070C0"/>
                </a:solidFill>
              </a:rPr>
              <a:t>H</a:t>
            </a:r>
            <a:r>
              <a:rPr lang="en-US" altLang="zh-CN" dirty="0">
                <a:solidFill>
                  <a:srgbClr val="0070C0"/>
                </a:solidFill>
                <a:sym typeface="Wingdings" panose="05000000000000000000" pitchFamily="2" charset="2"/>
              </a:rPr>
              <a:t>E</a:t>
            </a:r>
            <a:r>
              <a:rPr lang="en-US" altLang="zh-CN" dirty="0">
                <a:sym typeface="Wingdings" panose="05000000000000000000" pitchFamily="2" charset="2"/>
              </a:rPr>
              <a:t>)</a:t>
            </a:r>
            <a:endParaRPr lang="en-US" altLang="zh-CN" dirty="0"/>
          </a:p>
          <a:p>
            <a:pPr lvl="1"/>
            <a:r>
              <a:rPr lang="en-US" altLang="zh-CN" dirty="0"/>
              <a:t>E(K, M||H(M))</a:t>
            </a:r>
            <a:endParaRPr lang="en-US" altLang="zh-CN" dirty="0"/>
          </a:p>
          <a:p>
            <a:r>
              <a:rPr lang="zh-CN" altLang="en-US" dirty="0"/>
              <a:t>先认证再加密</a:t>
            </a:r>
            <a:r>
              <a:rPr lang="en-US" altLang="zh-CN" dirty="0"/>
              <a:t>(</a:t>
            </a:r>
            <a:r>
              <a:rPr lang="en-US" altLang="zh-CN" dirty="0">
                <a:solidFill>
                  <a:srgbClr val="0070C0"/>
                </a:solidFill>
              </a:rPr>
              <a:t>A</a:t>
            </a:r>
            <a:r>
              <a:rPr lang="en-US" altLang="zh-CN" dirty="0">
                <a:solidFill>
                  <a:srgbClr val="0070C0"/>
                </a:solidFill>
                <a:sym typeface="Wingdings" panose="05000000000000000000" pitchFamily="2" charset="2"/>
              </a:rPr>
              <a:t>E</a:t>
            </a:r>
            <a:r>
              <a:rPr lang="en-US" altLang="zh-CN" dirty="0">
                <a:sym typeface="Wingdings" panose="05000000000000000000" pitchFamily="2" charset="2"/>
              </a:rPr>
              <a:t>)</a:t>
            </a:r>
            <a:endParaRPr lang="en-US" altLang="zh-CN" dirty="0"/>
          </a:p>
          <a:p>
            <a:pPr lvl="1"/>
            <a:r>
              <a:rPr lang="en-US" altLang="zh-CN" dirty="0"/>
              <a:t>E(K</a:t>
            </a:r>
            <a:r>
              <a:rPr lang="en-US" altLang="zh-CN" baseline="-25000" dirty="0"/>
              <a:t>2</a:t>
            </a:r>
            <a:r>
              <a:rPr lang="en-US" altLang="zh-CN" dirty="0"/>
              <a:t>, M||MAC(K</a:t>
            </a:r>
            <a:r>
              <a:rPr lang="en-US" altLang="zh-CN" baseline="-25000" dirty="0"/>
              <a:t>1</a:t>
            </a:r>
            <a:r>
              <a:rPr lang="en-US" altLang="zh-CN" dirty="0"/>
              <a:t>, M))</a:t>
            </a:r>
            <a:endParaRPr lang="en-US" altLang="zh-CN" dirty="0"/>
          </a:p>
          <a:p>
            <a:r>
              <a:rPr lang="zh-CN" altLang="en-US" dirty="0"/>
              <a:t>先加密再认证</a:t>
            </a:r>
            <a:r>
              <a:rPr lang="en-US" altLang="zh-CN" dirty="0"/>
              <a:t>(</a:t>
            </a:r>
            <a:r>
              <a:rPr lang="en-US" altLang="zh-CN" dirty="0">
                <a:solidFill>
                  <a:srgbClr val="0070C0"/>
                </a:solidFill>
              </a:rPr>
              <a:t>E</a:t>
            </a:r>
            <a:r>
              <a:rPr lang="en-US" altLang="zh-CN" dirty="0">
                <a:solidFill>
                  <a:srgbClr val="0070C0"/>
                </a:solidFill>
                <a:sym typeface="Wingdings" panose="05000000000000000000" pitchFamily="2" charset="2"/>
              </a:rPr>
              <a:t>A</a:t>
            </a:r>
            <a:r>
              <a:rPr lang="en-US" altLang="zh-CN" dirty="0">
                <a:sym typeface="Wingdings" panose="05000000000000000000" pitchFamily="2" charset="2"/>
              </a:rPr>
              <a:t>)</a:t>
            </a:r>
            <a:endParaRPr lang="en-US" altLang="zh-CN" dirty="0"/>
          </a:p>
          <a:p>
            <a:pPr lvl="1"/>
            <a:r>
              <a:rPr lang="en-US" altLang="zh-CN" dirty="0"/>
              <a:t>MAC(K</a:t>
            </a:r>
            <a:r>
              <a:rPr lang="en-US" altLang="zh-CN" baseline="-25000" dirty="0"/>
              <a:t>1</a:t>
            </a:r>
            <a:r>
              <a:rPr lang="en-US" altLang="zh-CN" dirty="0"/>
              <a:t>, E(K</a:t>
            </a:r>
            <a:r>
              <a:rPr lang="en-US" altLang="zh-CN" baseline="-25000" dirty="0"/>
              <a:t>2</a:t>
            </a:r>
            <a:r>
              <a:rPr lang="en-US" altLang="zh-CN" dirty="0"/>
              <a:t>, M))</a:t>
            </a:r>
            <a:endParaRPr lang="en-US" altLang="zh-CN" dirty="0"/>
          </a:p>
          <a:p>
            <a:r>
              <a:rPr lang="zh-CN" altLang="en-US" dirty="0"/>
              <a:t>独立加密和认证</a:t>
            </a:r>
            <a:r>
              <a:rPr lang="en-US" altLang="zh-CN" dirty="0"/>
              <a:t>(</a:t>
            </a:r>
            <a:r>
              <a:rPr lang="en-US" altLang="zh-CN" dirty="0">
                <a:solidFill>
                  <a:srgbClr val="0070C0"/>
                </a:solidFill>
              </a:rPr>
              <a:t>E+A</a:t>
            </a:r>
            <a:r>
              <a:rPr lang="en-US" altLang="zh-CN" dirty="0"/>
              <a:t>)</a:t>
            </a:r>
            <a:endParaRPr lang="en-US" altLang="zh-CN" dirty="0"/>
          </a:p>
          <a:p>
            <a:pPr lvl="1"/>
            <a:r>
              <a:rPr lang="en-US" altLang="zh-CN" dirty="0"/>
              <a:t>E(K</a:t>
            </a:r>
            <a:r>
              <a:rPr lang="en-US" altLang="zh-CN" baseline="-25000" dirty="0"/>
              <a:t>2</a:t>
            </a:r>
            <a:r>
              <a:rPr lang="en-US" altLang="zh-CN" dirty="0"/>
              <a:t>, M) || MAC(K</a:t>
            </a:r>
            <a:r>
              <a:rPr lang="en-US" altLang="zh-CN" baseline="-25000" dirty="0"/>
              <a:t>1</a:t>
            </a:r>
            <a:r>
              <a:rPr lang="en-US" altLang="zh-CN" dirty="0"/>
              <a:t>, M)</a:t>
            </a:r>
            <a:endParaRPr lang="en-US" altLang="zh-CN" dirty="0"/>
          </a:p>
          <a:p>
            <a:pPr lvl="2"/>
            <a:endParaRPr lang="en-US" altLang="zh-CN" dirty="0"/>
          </a:p>
          <a:p>
            <a:r>
              <a:rPr lang="zh-CN" altLang="en-US" dirty="0"/>
              <a:t>不恰当的使用会导致安全漏洞</a:t>
            </a:r>
            <a:endParaRPr lang="en-US" altLang="zh-CN" dirty="0"/>
          </a:p>
          <a:p>
            <a:pPr lvl="1"/>
            <a:r>
              <a:rPr lang="zh-CN" altLang="en-US" dirty="0"/>
              <a:t>例如</a:t>
            </a:r>
            <a:r>
              <a:rPr lang="en-US" altLang="zh-CN" dirty="0"/>
              <a:t>WEP</a:t>
            </a:r>
            <a:r>
              <a:rPr lang="zh-CN" altLang="en-US" dirty="0"/>
              <a:t>协议使用</a:t>
            </a:r>
            <a:r>
              <a:rPr lang="en-US" altLang="zh-CN" dirty="0"/>
              <a:t>H</a:t>
            </a:r>
            <a:r>
              <a:rPr lang="en-US" altLang="zh-CN" dirty="0">
                <a:sym typeface="Wingdings" panose="05000000000000000000" pitchFamily="2" charset="2"/>
              </a:rPr>
              <a:t>E</a:t>
            </a:r>
            <a:r>
              <a:rPr lang="zh-CN" altLang="en-US" dirty="0">
                <a:sym typeface="Wingdings" panose="05000000000000000000" pitchFamily="2" charset="2"/>
              </a:rPr>
              <a:t>方案</a:t>
            </a:r>
            <a:r>
              <a:rPr lang="zh-CN" altLang="en-US" dirty="0"/>
              <a:t>，密钥固定且初始向量仅为</a:t>
            </a:r>
            <a:r>
              <a:rPr lang="en-US" altLang="zh-CN" dirty="0"/>
              <a:t>24</a:t>
            </a:r>
            <a:r>
              <a:rPr lang="zh-CN" altLang="en-US" dirty="0"/>
              <a:t>位</a:t>
            </a:r>
            <a:endParaRPr lang="zh-CN" altLang="en-US" dirty="0"/>
          </a:p>
          <a:p>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常用的既加密又认证的模式</a:t>
            </a:r>
            <a:endParaRPr lang="zh-CN" altLang="en-US" dirty="0"/>
          </a:p>
        </p:txBody>
      </p:sp>
      <p:sp>
        <p:nvSpPr>
          <p:cNvPr id="3" name="文本占位符 2"/>
          <p:cNvSpPr>
            <a:spLocks noGrp="1"/>
          </p:cNvSpPr>
          <p:nvPr>
            <p:ph type="body" sz="quarter" idx="10"/>
          </p:nvPr>
        </p:nvSpPr>
        <p:spPr/>
        <p:txBody>
          <a:bodyPr/>
          <a:lstStyle/>
          <a:p>
            <a:r>
              <a:rPr lang="zh-CN" altLang="en-US" dirty="0"/>
              <a:t>分组密码链</a:t>
            </a:r>
            <a:r>
              <a:rPr lang="en-US" altLang="zh-CN" dirty="0"/>
              <a:t>-</a:t>
            </a:r>
            <a:r>
              <a:rPr lang="zh-CN" altLang="en-US" dirty="0"/>
              <a:t>消息认证码模式</a:t>
            </a:r>
            <a:r>
              <a:rPr lang="en-US" altLang="zh-CN" dirty="0"/>
              <a:t>CCM</a:t>
            </a:r>
            <a:endParaRPr lang="en-US" altLang="zh-CN" dirty="0"/>
          </a:p>
          <a:p>
            <a:pPr lvl="1"/>
            <a:r>
              <a:rPr lang="en-US" altLang="zh-CN" dirty="0"/>
              <a:t>NIST SP 800-38C</a:t>
            </a:r>
            <a:r>
              <a:rPr lang="zh-CN" altLang="en-US" dirty="0"/>
              <a:t>，</a:t>
            </a:r>
            <a:r>
              <a:rPr lang="en-US" altLang="zh-CN" dirty="0"/>
              <a:t>E+A</a:t>
            </a:r>
            <a:r>
              <a:rPr lang="zh-CN" altLang="en-US" dirty="0"/>
              <a:t>方案的改进</a:t>
            </a:r>
            <a:endParaRPr lang="en-US" altLang="zh-CN" dirty="0"/>
          </a:p>
          <a:p>
            <a:r>
              <a:rPr lang="zh-CN" altLang="en-US" dirty="0"/>
              <a:t>用于</a:t>
            </a:r>
            <a:r>
              <a:rPr lang="en-US" altLang="zh-CN" dirty="0"/>
              <a:t>IEEE 802.11 </a:t>
            </a:r>
            <a:r>
              <a:rPr lang="en-US" altLang="zh-CN" dirty="0" err="1"/>
              <a:t>WiFi</a:t>
            </a:r>
            <a:r>
              <a:rPr lang="zh-CN" altLang="en-US" dirty="0"/>
              <a:t>无线局域网安全</a:t>
            </a:r>
            <a:endParaRPr lang="zh-CN" altLang="en-US" dirty="0"/>
          </a:p>
          <a:p>
            <a:endParaRPr lang="zh-CN" altLang="en-US" dirty="0"/>
          </a:p>
        </p:txBody>
      </p:sp>
      <p:grpSp>
        <p:nvGrpSpPr>
          <p:cNvPr id="4" name="组合 3"/>
          <p:cNvGrpSpPr/>
          <p:nvPr/>
        </p:nvGrpSpPr>
        <p:grpSpPr>
          <a:xfrm>
            <a:off x="1789256" y="2330661"/>
            <a:ext cx="8565909" cy="3954609"/>
            <a:chOff x="323528" y="2354711"/>
            <a:chExt cx="8565909" cy="3954609"/>
          </a:xfrm>
        </p:grpSpPr>
        <p:sp>
          <p:nvSpPr>
            <p:cNvPr id="5" name="矩形 4"/>
            <p:cNvSpPr/>
            <p:nvPr/>
          </p:nvSpPr>
          <p:spPr>
            <a:xfrm>
              <a:off x="323528" y="2366389"/>
              <a:ext cx="720080" cy="26940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临时量</a:t>
              </a: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N</a:t>
              </a:r>
              <a:endPar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1043608" y="2366389"/>
              <a:ext cx="1008112" cy="26940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认证数据</a:t>
              </a: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endPar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2051720" y="2366389"/>
              <a:ext cx="1800199" cy="26940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明文</a:t>
              </a: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P</a:t>
              </a:r>
              <a:endPar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p:cNvSpPr/>
            <p:nvPr/>
          </p:nvSpPr>
          <p:spPr>
            <a:xfrm>
              <a:off x="327276" y="3536301"/>
              <a:ext cx="653851" cy="26804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B</a:t>
              </a:r>
              <a:r>
                <a:rPr lang="en-US" altLang="zh-CN"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0</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8"/>
            <p:cNvSpPr/>
            <p:nvPr/>
          </p:nvSpPr>
          <p:spPr>
            <a:xfrm>
              <a:off x="975347" y="3534941"/>
              <a:ext cx="653851" cy="26940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B</a:t>
              </a:r>
              <a:r>
                <a:rPr lang="en-US" altLang="zh-CN"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矩形 9"/>
            <p:cNvSpPr/>
            <p:nvPr/>
          </p:nvSpPr>
          <p:spPr>
            <a:xfrm>
              <a:off x="1623419" y="3534941"/>
              <a:ext cx="653851" cy="26940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B</a:t>
              </a:r>
              <a:r>
                <a:rPr lang="en-US" altLang="zh-CN"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矩形 10"/>
            <p:cNvSpPr/>
            <p:nvPr/>
          </p:nvSpPr>
          <p:spPr>
            <a:xfrm>
              <a:off x="3198068" y="3549868"/>
              <a:ext cx="653851" cy="26940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B</a:t>
              </a:r>
              <a:r>
                <a:rPr lang="en-US" altLang="zh-CN"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r</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矩形 11"/>
            <p:cNvSpPr/>
            <p:nvPr/>
          </p:nvSpPr>
          <p:spPr>
            <a:xfrm>
              <a:off x="2480423" y="3549868"/>
              <a:ext cx="792088" cy="269407"/>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 •</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左大括号 12"/>
            <p:cNvSpPr/>
            <p:nvPr/>
          </p:nvSpPr>
          <p:spPr>
            <a:xfrm rot="16200000">
              <a:off x="2042110" y="973582"/>
              <a:ext cx="101892" cy="3528393"/>
            </a:xfrm>
            <a:prstGeom prst="leftBrace">
              <a:avLst>
                <a:gd name="adj1" fmla="val 5919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左大括号 13"/>
            <p:cNvSpPr/>
            <p:nvPr/>
          </p:nvSpPr>
          <p:spPr>
            <a:xfrm rot="5400000">
              <a:off x="2038138" y="1671656"/>
              <a:ext cx="107679" cy="3528391"/>
            </a:xfrm>
            <a:prstGeom prst="leftBrace">
              <a:avLst>
                <a:gd name="adj1" fmla="val 5919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5" name="直接箭头连接符 14"/>
            <p:cNvCxnSpPr>
              <a:stCxn id="13" idx="1"/>
              <a:endCxn id="16" idx="0"/>
            </p:cNvCxnSpPr>
            <p:nvPr/>
          </p:nvCxnSpPr>
          <p:spPr>
            <a:xfrm flipH="1">
              <a:off x="2091978" y="2788725"/>
              <a:ext cx="1079" cy="172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95934" y="2961078"/>
              <a:ext cx="792088" cy="269407"/>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格式函数</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7" name="直接箭头连接符 16"/>
            <p:cNvCxnSpPr>
              <a:stCxn id="16" idx="2"/>
              <a:endCxn id="14" idx="1"/>
            </p:cNvCxnSpPr>
            <p:nvPr/>
          </p:nvCxnSpPr>
          <p:spPr>
            <a:xfrm flipH="1">
              <a:off x="2091977" y="3230485"/>
              <a:ext cx="1" cy="1515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609130" y="4163756"/>
              <a:ext cx="955154" cy="269407"/>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CMAC</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左大括号 18"/>
            <p:cNvSpPr/>
            <p:nvPr/>
          </p:nvSpPr>
          <p:spPr>
            <a:xfrm rot="16200000">
              <a:off x="2042178" y="2134570"/>
              <a:ext cx="91093" cy="3528389"/>
            </a:xfrm>
            <a:prstGeom prst="leftBrace">
              <a:avLst>
                <a:gd name="adj1" fmla="val 5919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20" name="直接箭头连接符 19"/>
            <p:cNvCxnSpPr>
              <a:stCxn id="19" idx="1"/>
              <a:endCxn id="18" idx="0"/>
            </p:cNvCxnSpPr>
            <p:nvPr/>
          </p:nvCxnSpPr>
          <p:spPr>
            <a:xfrm flipH="1">
              <a:off x="2086707" y="3944311"/>
              <a:ext cx="1018" cy="219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endCxn id="18" idx="1"/>
            </p:cNvCxnSpPr>
            <p:nvPr/>
          </p:nvCxnSpPr>
          <p:spPr>
            <a:xfrm>
              <a:off x="1200524" y="4298459"/>
              <a:ext cx="40860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181253" y="4048408"/>
              <a:ext cx="223574" cy="269407"/>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K</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矩形 22"/>
            <p:cNvSpPr/>
            <p:nvPr/>
          </p:nvSpPr>
          <p:spPr>
            <a:xfrm>
              <a:off x="1787054" y="5190083"/>
              <a:ext cx="600902" cy="26940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Tag</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24" name="直接箭头连接符 23"/>
            <p:cNvCxnSpPr>
              <a:stCxn id="18" idx="2"/>
              <a:endCxn id="26" idx="0"/>
            </p:cNvCxnSpPr>
            <p:nvPr/>
          </p:nvCxnSpPr>
          <p:spPr>
            <a:xfrm>
              <a:off x="2086707" y="4433163"/>
              <a:ext cx="0" cy="256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4877485" y="2374477"/>
              <a:ext cx="600902" cy="269407"/>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Ctr</a:t>
              </a:r>
              <a:r>
                <a:rPr lang="en-US" altLang="zh-CN"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0</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矩形 25"/>
            <p:cNvSpPr/>
            <p:nvPr/>
          </p:nvSpPr>
          <p:spPr>
            <a:xfrm>
              <a:off x="1609130" y="4689270"/>
              <a:ext cx="955154" cy="269407"/>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MSB(</a:t>
              </a:r>
              <a:r>
                <a:rPr lang="en-US" altLang="zh-CN" sz="14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Tlen</a:t>
              </a: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27" name="直接箭头连接符 26"/>
            <p:cNvCxnSpPr>
              <a:stCxn id="26" idx="2"/>
              <a:endCxn id="23" idx="0"/>
            </p:cNvCxnSpPr>
            <p:nvPr/>
          </p:nvCxnSpPr>
          <p:spPr>
            <a:xfrm>
              <a:off x="2086707" y="4958677"/>
              <a:ext cx="798" cy="231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4706234" y="3552649"/>
              <a:ext cx="955154" cy="269407"/>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MSB(</a:t>
              </a:r>
              <a:r>
                <a:rPr lang="en-US" altLang="zh-CN" sz="14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Tlen</a:t>
              </a: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9" name="矩形 28"/>
            <p:cNvSpPr/>
            <p:nvPr/>
          </p:nvSpPr>
          <p:spPr>
            <a:xfrm>
              <a:off x="4706234" y="2958032"/>
              <a:ext cx="955154" cy="269407"/>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AES</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0" name="流程图: 或者 29"/>
            <p:cNvSpPr/>
            <p:nvPr/>
          </p:nvSpPr>
          <p:spPr>
            <a:xfrm>
              <a:off x="5033920" y="5182805"/>
              <a:ext cx="288032" cy="279928"/>
            </a:xfrm>
            <a:prstGeom prst="flowChartOr">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31" name="直接箭头连接符 30"/>
            <p:cNvCxnSpPr>
              <a:stCxn id="23" idx="3"/>
              <a:endCxn id="30" idx="2"/>
            </p:cNvCxnSpPr>
            <p:nvPr/>
          </p:nvCxnSpPr>
          <p:spPr>
            <a:xfrm flipV="1">
              <a:off x="2387956" y="5322769"/>
              <a:ext cx="2645964" cy="2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8" idx="2"/>
              <a:endCxn id="30" idx="0"/>
            </p:cNvCxnSpPr>
            <p:nvPr/>
          </p:nvCxnSpPr>
          <p:spPr>
            <a:xfrm flipH="1">
              <a:off x="5177936" y="3822056"/>
              <a:ext cx="5875" cy="1360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29" idx="2"/>
              <a:endCxn id="28" idx="0"/>
            </p:cNvCxnSpPr>
            <p:nvPr/>
          </p:nvCxnSpPr>
          <p:spPr>
            <a:xfrm>
              <a:off x="5183811" y="3227439"/>
              <a:ext cx="0" cy="325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endCxn id="29" idx="0"/>
            </p:cNvCxnSpPr>
            <p:nvPr/>
          </p:nvCxnSpPr>
          <p:spPr>
            <a:xfrm>
              <a:off x="5177936" y="2632822"/>
              <a:ext cx="5875" cy="325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endCxn id="29" idx="1"/>
            </p:cNvCxnSpPr>
            <p:nvPr/>
          </p:nvCxnSpPr>
          <p:spPr>
            <a:xfrm>
              <a:off x="4318821" y="3092735"/>
              <a:ext cx="38741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30" idx="4"/>
              <a:endCxn id="49" idx="0"/>
            </p:cNvCxnSpPr>
            <p:nvPr/>
          </p:nvCxnSpPr>
          <p:spPr>
            <a:xfrm>
              <a:off x="5177936" y="5462733"/>
              <a:ext cx="0" cy="217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4283968" y="2848452"/>
              <a:ext cx="223574" cy="269407"/>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K</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 name="矩形 37"/>
            <p:cNvSpPr/>
            <p:nvPr/>
          </p:nvSpPr>
          <p:spPr>
            <a:xfrm>
              <a:off x="6253306" y="2955166"/>
              <a:ext cx="955154" cy="269407"/>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CTR-AES</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 name="左大括号 38"/>
            <p:cNvSpPr/>
            <p:nvPr/>
          </p:nvSpPr>
          <p:spPr>
            <a:xfrm rot="16200000">
              <a:off x="7933266" y="3417817"/>
              <a:ext cx="112141" cy="1800200"/>
            </a:xfrm>
            <a:prstGeom prst="leftBrace">
              <a:avLst>
                <a:gd name="adj1" fmla="val 5919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40" name="直接箭头连接符 39"/>
            <p:cNvCxnSpPr>
              <a:endCxn id="38" idx="1"/>
            </p:cNvCxnSpPr>
            <p:nvPr/>
          </p:nvCxnSpPr>
          <p:spPr>
            <a:xfrm>
              <a:off x="5865893" y="3089869"/>
              <a:ext cx="38741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5829755" y="2848392"/>
              <a:ext cx="223574" cy="269407"/>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K</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42" name="直接箭头连接符 41"/>
            <p:cNvCxnSpPr/>
            <p:nvPr/>
          </p:nvCxnSpPr>
          <p:spPr>
            <a:xfrm>
              <a:off x="6739017" y="2624118"/>
              <a:ext cx="678" cy="331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5993751" y="2354711"/>
              <a:ext cx="1503683" cy="269407"/>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Ctr</a:t>
              </a:r>
              <a:r>
                <a:rPr lang="en-US" altLang="zh-CN"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Ctr</a:t>
              </a:r>
              <a:r>
                <a:rPr lang="en-US" altLang="zh-CN"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sz="14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Ctr</a:t>
              </a:r>
              <a:r>
                <a:rPr lang="en-US" altLang="zh-CN" sz="1400" baseline="-250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m</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4" name="流程图: 或者 43"/>
            <p:cNvSpPr/>
            <p:nvPr/>
          </p:nvSpPr>
          <p:spPr>
            <a:xfrm>
              <a:off x="6586867" y="5182805"/>
              <a:ext cx="288032" cy="279928"/>
            </a:xfrm>
            <a:prstGeom prst="flowChartOr">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45" name="直接箭头连接符 44"/>
            <p:cNvCxnSpPr>
              <a:stCxn id="38" idx="2"/>
              <a:endCxn id="44" idx="0"/>
            </p:cNvCxnSpPr>
            <p:nvPr/>
          </p:nvCxnSpPr>
          <p:spPr>
            <a:xfrm>
              <a:off x="6730883" y="3224573"/>
              <a:ext cx="0" cy="1958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7089236" y="3950565"/>
              <a:ext cx="1800199" cy="26940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明文</a:t>
              </a: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P</a:t>
              </a:r>
              <a:endPar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47" name="肘形连接符 141"/>
            <p:cNvCxnSpPr>
              <a:stCxn id="39" idx="1"/>
              <a:endCxn id="44" idx="6"/>
            </p:cNvCxnSpPr>
            <p:nvPr/>
          </p:nvCxnSpPr>
          <p:spPr>
            <a:xfrm rot="5400000">
              <a:off x="6957728" y="4291159"/>
              <a:ext cx="948781" cy="111443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44" idx="4"/>
              <a:endCxn id="50" idx="0"/>
            </p:cNvCxnSpPr>
            <p:nvPr/>
          </p:nvCxnSpPr>
          <p:spPr>
            <a:xfrm>
              <a:off x="6730883" y="5462733"/>
              <a:ext cx="7941" cy="216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4877485" y="5679873"/>
              <a:ext cx="600902" cy="26940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密文</a:t>
              </a: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C</a:t>
              </a:r>
              <a:r>
                <a:rPr lang="en-US" altLang="zh-CN"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0" name="矩形 49"/>
            <p:cNvSpPr/>
            <p:nvPr/>
          </p:nvSpPr>
          <p:spPr>
            <a:xfrm>
              <a:off x="5838724" y="5678757"/>
              <a:ext cx="1800199" cy="26940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密文</a:t>
              </a:r>
              <a:r>
                <a:rPr lang="en-US" altLang="zh-CN" sz="1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C</a:t>
              </a:r>
              <a:r>
                <a:rPr lang="en-US" altLang="zh-CN"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1400"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1" name="直接连接符 50"/>
            <p:cNvCxnSpPr/>
            <p:nvPr/>
          </p:nvCxnSpPr>
          <p:spPr>
            <a:xfrm>
              <a:off x="4139952" y="2366389"/>
              <a:ext cx="0" cy="3870923"/>
            </a:xfrm>
            <a:prstGeom prst="line">
              <a:avLst/>
            </a:prstGeom>
            <a:ln w="19050">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1602762" y="6039913"/>
              <a:ext cx="1024151" cy="269407"/>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认证部分</a:t>
              </a:r>
              <a:endParaRPr lang="zh-CN" altLang="en-US" baseline="-25000"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53" name="矩形 52"/>
            <p:cNvSpPr/>
            <p:nvPr/>
          </p:nvSpPr>
          <p:spPr>
            <a:xfrm>
              <a:off x="5924112" y="6039912"/>
              <a:ext cx="1024151" cy="269407"/>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加密部分</a:t>
              </a:r>
              <a:endParaRPr lang="zh-CN" altLang="en-US" baseline="-25000"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Galois/</a:t>
            </a:r>
            <a:r>
              <a:rPr lang="zh-CN" altLang="en-US" dirty="0"/>
              <a:t>计数器模式</a:t>
            </a:r>
            <a:r>
              <a:rPr lang="en-US" altLang="zh-CN" dirty="0"/>
              <a:t>GCM</a:t>
            </a:r>
            <a:endParaRPr lang="zh-CN" altLang="en-US" dirty="0"/>
          </a:p>
        </p:txBody>
      </p:sp>
      <p:sp>
        <p:nvSpPr>
          <p:cNvPr id="3" name="文本占位符 2"/>
          <p:cNvSpPr>
            <a:spLocks noGrp="1"/>
          </p:cNvSpPr>
          <p:nvPr>
            <p:ph type="body" sz="quarter" idx="10"/>
          </p:nvPr>
        </p:nvSpPr>
        <p:spPr/>
        <p:txBody>
          <a:bodyPr/>
          <a:lstStyle/>
          <a:p>
            <a:r>
              <a:rPr lang="en-US" altLang="zh-CN" sz="2400" dirty="0"/>
              <a:t>NIST SP 800-38D</a:t>
            </a:r>
            <a:r>
              <a:rPr lang="zh-CN" altLang="en-US" sz="2400" dirty="0"/>
              <a:t>，</a:t>
            </a:r>
            <a:r>
              <a:rPr lang="en-US" altLang="zh-CN" sz="2400" dirty="0"/>
              <a:t>E</a:t>
            </a:r>
            <a:r>
              <a:rPr lang="en-US" altLang="zh-CN" sz="2400" dirty="0">
                <a:sym typeface="Wingdings" panose="05000000000000000000" pitchFamily="2" charset="2"/>
              </a:rPr>
              <a:t>A</a:t>
            </a:r>
            <a:r>
              <a:rPr lang="zh-CN" altLang="en-US" sz="2400" dirty="0">
                <a:sym typeface="Wingdings" panose="05000000000000000000" pitchFamily="2" charset="2"/>
              </a:rPr>
              <a:t>方案的改进</a:t>
            </a:r>
            <a:endParaRPr lang="en-US" altLang="zh-CN" sz="2400" dirty="0">
              <a:sym typeface="Wingdings" panose="05000000000000000000" pitchFamily="2" charset="2"/>
            </a:endParaRPr>
          </a:p>
          <a:p>
            <a:r>
              <a:rPr lang="zh-CN" altLang="en-US" sz="2400" dirty="0"/>
              <a:t>并行化设计，高吞吐率</a:t>
            </a:r>
            <a:r>
              <a:rPr lang="zh-CN" altLang="en-US" dirty="0"/>
              <a:t>，低成本，低延迟</a:t>
            </a:r>
            <a:r>
              <a:rPr lang="zh-CN" altLang="en-US" sz="2400" dirty="0"/>
              <a:t>，适于高速网络</a:t>
            </a:r>
            <a:endParaRPr lang="en-US" altLang="zh-CN" sz="2400" dirty="0"/>
          </a:p>
          <a:p>
            <a:r>
              <a:rPr lang="zh-CN" altLang="en-US" sz="2400" dirty="0"/>
              <a:t>包含</a:t>
            </a:r>
            <a:r>
              <a:rPr lang="en-US" altLang="zh-CN" sz="2400" dirty="0"/>
              <a:t>GHASH</a:t>
            </a:r>
            <a:r>
              <a:rPr lang="zh-CN" altLang="en-US" sz="2400" dirty="0"/>
              <a:t>函数</a:t>
            </a:r>
            <a:r>
              <a:rPr lang="zh-CN" altLang="en-US" dirty="0"/>
              <a:t>（由比特串</a:t>
            </a:r>
            <a:r>
              <a:rPr lang="en-US" altLang="zh-CN" dirty="0"/>
              <a:t>X</a:t>
            </a:r>
            <a:r>
              <a:rPr lang="zh-CN" altLang="en-US" dirty="0"/>
              <a:t>和密钥</a:t>
            </a:r>
            <a:r>
              <a:rPr lang="en-US" altLang="zh-CN" dirty="0"/>
              <a:t>H</a:t>
            </a:r>
            <a:r>
              <a:rPr lang="zh-CN" altLang="en-US" dirty="0"/>
              <a:t>得到</a:t>
            </a:r>
            <a:r>
              <a:rPr lang="en-US" altLang="zh-CN" dirty="0"/>
              <a:t>MAC</a:t>
            </a:r>
            <a:r>
              <a:rPr lang="zh-CN" altLang="en-US" dirty="0"/>
              <a:t>值</a:t>
            </a:r>
            <a:r>
              <a:rPr lang="en-US" altLang="zh-CN" dirty="0" err="1"/>
              <a:t>Y</a:t>
            </a:r>
            <a:r>
              <a:rPr lang="en-US" altLang="zh-CN" baseline="-25000" dirty="0" err="1"/>
              <a:t>m</a:t>
            </a:r>
            <a:r>
              <a:rPr lang="zh-CN" altLang="en-US" dirty="0"/>
              <a:t>）</a:t>
            </a:r>
            <a:r>
              <a:rPr lang="zh-CN" altLang="en-US" sz="2400" dirty="0"/>
              <a:t>和</a:t>
            </a:r>
            <a:r>
              <a:rPr lang="en-US" altLang="zh-CN" sz="2400" dirty="0"/>
              <a:t>GCRT</a:t>
            </a:r>
            <a:r>
              <a:rPr lang="zh-CN" altLang="en-US" sz="2400" dirty="0"/>
              <a:t>函数（使用密钥</a:t>
            </a:r>
            <a:r>
              <a:rPr lang="en-US" altLang="zh-CN" sz="2400" dirty="0"/>
              <a:t>k</a:t>
            </a:r>
            <a:r>
              <a:rPr lang="zh-CN" altLang="en-US" sz="2400" dirty="0"/>
              <a:t>加密比特串</a:t>
            </a:r>
            <a:r>
              <a:rPr lang="en-US" altLang="zh-CN" sz="2400" dirty="0"/>
              <a:t>X</a:t>
            </a:r>
            <a:r>
              <a:rPr lang="zh-CN" altLang="en-US" sz="2400" dirty="0"/>
              <a:t>得到</a:t>
            </a:r>
            <a:r>
              <a:rPr lang="zh-CN" altLang="en-US" sz="2400" dirty="0"/>
              <a:t>比特串</a:t>
            </a:r>
            <a:r>
              <a:rPr lang="en-US" altLang="zh-CN" sz="2400" dirty="0"/>
              <a:t>Y</a:t>
            </a:r>
            <a:r>
              <a:rPr lang="zh-CN" altLang="en-US" sz="2400" dirty="0"/>
              <a:t>）</a:t>
            </a:r>
            <a:endParaRPr lang="en-US" altLang="zh-CN" sz="24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sz="2400" dirty="0" err="1"/>
              <a:t>X</a:t>
            </a:r>
            <a:r>
              <a:rPr lang="en-US" altLang="zh-CN" sz="2400" baseline="-25000" dirty="0" err="1"/>
              <a:t>i</a:t>
            </a:r>
            <a:r>
              <a:rPr lang="en-US" altLang="zh-CN" sz="2400" dirty="0" err="1"/>
              <a:t>•H</a:t>
            </a:r>
            <a:r>
              <a:rPr lang="zh-CN" altLang="en-US" sz="2400" dirty="0"/>
              <a:t>是</a:t>
            </a:r>
            <a:r>
              <a:rPr lang="en-US" altLang="zh-CN" sz="2400" dirty="0"/>
              <a:t>GF(2</a:t>
            </a:r>
            <a:r>
              <a:rPr lang="en-US" altLang="zh-CN" sz="2400" baseline="30000" dirty="0"/>
              <a:t>128</a:t>
            </a:r>
            <a:r>
              <a:rPr lang="en-US" altLang="zh-CN" sz="2400" dirty="0"/>
              <a:t>)</a:t>
            </a:r>
            <a:r>
              <a:rPr lang="zh-CN" altLang="en-US" sz="2400" dirty="0"/>
              <a:t>上的乘法，</a:t>
            </a:r>
            <a:r>
              <a:rPr lang="en-US" altLang="zh-CN" sz="2400" dirty="0"/>
              <a:t>ICB</a:t>
            </a:r>
            <a:r>
              <a:rPr lang="zh-CN" altLang="en-US" sz="2400"/>
              <a:t>是初始值</a:t>
            </a:r>
            <a:endParaRPr lang="zh-CN" altLang="en-US" dirty="0"/>
          </a:p>
        </p:txBody>
      </p:sp>
      <p:pic>
        <p:nvPicPr>
          <p:cNvPr id="5" name="图片 4"/>
          <p:cNvPicPr>
            <a:picLocks noChangeAspect="1"/>
          </p:cNvPicPr>
          <p:nvPr/>
        </p:nvPicPr>
        <p:blipFill>
          <a:blip r:embed="rId1"/>
          <a:stretch>
            <a:fillRect/>
          </a:stretch>
        </p:blipFill>
        <p:spPr>
          <a:xfrm>
            <a:off x="766036" y="2789642"/>
            <a:ext cx="3842325" cy="2858123"/>
          </a:xfrm>
          <a:prstGeom prst="rect">
            <a:avLst/>
          </a:prstGeom>
        </p:spPr>
      </p:pic>
      <p:pic>
        <p:nvPicPr>
          <p:cNvPr id="9" name="图片 8"/>
          <p:cNvPicPr>
            <a:picLocks noChangeAspect="1"/>
          </p:cNvPicPr>
          <p:nvPr/>
        </p:nvPicPr>
        <p:blipFill>
          <a:blip r:embed="rId2"/>
          <a:stretch>
            <a:fillRect/>
          </a:stretch>
        </p:blipFill>
        <p:spPr>
          <a:xfrm>
            <a:off x="5008359" y="2789642"/>
            <a:ext cx="6327685" cy="2858123"/>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Galois/</a:t>
            </a:r>
            <a:r>
              <a:rPr lang="zh-CN" altLang="en-US" dirty="0"/>
              <a:t>计数器模式</a:t>
            </a:r>
            <a:r>
              <a:rPr lang="en-US" altLang="zh-CN" dirty="0"/>
              <a:t>GCM</a:t>
            </a:r>
            <a:endParaRPr lang="zh-CN" altLang="en-US" dirty="0"/>
          </a:p>
        </p:txBody>
      </p:sp>
      <p:sp>
        <p:nvSpPr>
          <p:cNvPr id="3" name="文本占位符 2"/>
          <p:cNvSpPr>
            <a:spLocks noGrp="1"/>
          </p:cNvSpPr>
          <p:nvPr>
            <p:ph type="body" sz="quarter" idx="10"/>
          </p:nvPr>
        </p:nvSpPr>
        <p:spPr/>
        <p:txBody>
          <a:bodyPr/>
          <a:lstStyle/>
          <a:p>
            <a:r>
              <a:rPr lang="zh-CN" altLang="en-US" dirty="0"/>
              <a:t>认证加密算法</a:t>
            </a:r>
            <a:endParaRPr lang="zh-CN" altLang="en-US" dirty="0"/>
          </a:p>
        </p:txBody>
      </p:sp>
      <p:pic>
        <p:nvPicPr>
          <p:cNvPr id="5" name="图片 4"/>
          <p:cNvPicPr>
            <a:picLocks noChangeAspect="1"/>
          </p:cNvPicPr>
          <p:nvPr/>
        </p:nvPicPr>
        <p:blipFill>
          <a:blip r:embed="rId1"/>
          <a:stretch>
            <a:fillRect/>
          </a:stretch>
        </p:blipFill>
        <p:spPr>
          <a:xfrm>
            <a:off x="2994864" y="938212"/>
            <a:ext cx="6936545" cy="5706759"/>
          </a:xfrm>
          <a:prstGeom prst="rect">
            <a:avLst/>
          </a:prstGeom>
        </p:spPr>
      </p:pic>
      <p:sp>
        <p:nvSpPr>
          <p:cNvPr id="6" name="矩形: 圆角 5"/>
          <p:cNvSpPr/>
          <p:nvPr/>
        </p:nvSpPr>
        <p:spPr>
          <a:xfrm>
            <a:off x="5459506" y="2814919"/>
            <a:ext cx="1855694" cy="412376"/>
          </a:xfrm>
          <a:prstGeom prst="round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p:cNvSpPr/>
          <p:nvPr/>
        </p:nvSpPr>
        <p:spPr>
          <a:xfrm>
            <a:off x="6096001" y="6310331"/>
            <a:ext cx="959224" cy="360552"/>
          </a:xfrm>
          <a:prstGeom prst="round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密钥封装</a:t>
            </a:r>
            <a:endParaRPr lang="zh-CN" altLang="en-US" dirty="0"/>
          </a:p>
        </p:txBody>
      </p:sp>
      <p:sp>
        <p:nvSpPr>
          <p:cNvPr id="3" name="文本占位符 2"/>
          <p:cNvSpPr>
            <a:spLocks noGrp="1"/>
          </p:cNvSpPr>
          <p:nvPr>
            <p:ph type="body" sz="quarter" idx="10"/>
          </p:nvPr>
        </p:nvSpPr>
        <p:spPr/>
        <p:txBody>
          <a:bodyPr/>
          <a:lstStyle/>
          <a:p>
            <a:r>
              <a:rPr lang="en-US" altLang="zh-CN" sz="2400" dirty="0"/>
              <a:t>NIST SP 800-38F</a:t>
            </a:r>
            <a:endParaRPr lang="en-US" altLang="zh-CN" sz="2400" dirty="0"/>
          </a:p>
          <a:p>
            <a:r>
              <a:rPr lang="zh-CN" altLang="en-US" sz="2400" dirty="0">
                <a:solidFill>
                  <a:srgbClr val="0070C0"/>
                </a:solidFill>
              </a:rPr>
              <a:t>新的分组密码工作模式</a:t>
            </a:r>
            <a:r>
              <a:rPr lang="zh-CN" altLang="en-US" sz="2400" dirty="0"/>
              <a:t>：密钥封装模式</a:t>
            </a:r>
            <a:endParaRPr lang="en-US" altLang="zh-CN" sz="2400" dirty="0"/>
          </a:p>
          <a:p>
            <a:r>
              <a:rPr lang="zh-CN" altLang="en-US" sz="2400" dirty="0"/>
              <a:t>用途：通过事先共享的对称密钥（密钥加密密钥</a:t>
            </a:r>
            <a:r>
              <a:rPr lang="en-US" altLang="zh-CN" sz="2400" dirty="0"/>
              <a:t>KEK</a:t>
            </a:r>
            <a:r>
              <a:rPr lang="zh-CN" altLang="en-US" sz="2400" dirty="0"/>
              <a:t>）交换新的对称密钥，并认证完整性</a:t>
            </a:r>
            <a:endParaRPr lang="en-US" altLang="zh-CN" sz="2400" dirty="0"/>
          </a:p>
          <a:p>
            <a:r>
              <a:rPr lang="zh-CN" altLang="en-US" sz="2400" dirty="0"/>
              <a:t>鲁棒的加密模式，输出的每一比特都无规律地受到输入每一</a:t>
            </a:r>
            <a:r>
              <a:rPr lang="zh-CN" altLang="en-US" sz="2400" dirty="0"/>
              <a:t>比特的值的影响</a:t>
            </a:r>
            <a:endParaRPr lang="en-US" altLang="zh-CN" sz="2400" dirty="0"/>
          </a:p>
          <a:p>
            <a:endParaRPr lang="en-US" altLang="zh-CN" sz="2400" dirty="0"/>
          </a:p>
          <a:p>
            <a:r>
              <a:rPr lang="zh-CN" altLang="en-US" sz="2400" dirty="0"/>
              <a:t>使用</a:t>
            </a:r>
            <a:r>
              <a:rPr lang="en-US" altLang="zh-CN" sz="2400" dirty="0"/>
              <a:t>AES</a:t>
            </a:r>
            <a:r>
              <a:rPr lang="zh-CN" altLang="en-US" sz="2400" dirty="0"/>
              <a:t>或</a:t>
            </a:r>
            <a:r>
              <a:rPr lang="en-US" altLang="zh-CN" sz="2400" dirty="0"/>
              <a:t>3DES</a:t>
            </a:r>
            <a:r>
              <a:rPr lang="zh-CN" altLang="en-US" sz="2400" dirty="0"/>
              <a:t>作为底层加密算法</a:t>
            </a:r>
            <a:endParaRPr lang="zh-CN" altLang="en-US" sz="2400" dirty="0"/>
          </a:p>
          <a:p>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密钥封装</a:t>
            </a:r>
            <a:endParaRPr lang="zh-CN" altLang="en-US" dirty="0"/>
          </a:p>
        </p:txBody>
      </p:sp>
      <p:sp>
        <p:nvSpPr>
          <p:cNvPr id="3" name="文本占位符 2"/>
          <p:cNvSpPr>
            <a:spLocks noGrp="1"/>
          </p:cNvSpPr>
          <p:nvPr>
            <p:ph type="body" sz="quarter" idx="10"/>
          </p:nvPr>
        </p:nvSpPr>
        <p:spPr/>
        <p:txBody>
          <a:bodyPr/>
          <a:lstStyle/>
          <a:p>
            <a:r>
              <a:rPr lang="zh-CN" altLang="en-US" sz="2400" dirty="0"/>
              <a:t>用于处理长度大于分组长度的密钥，明文密钥数据以</a:t>
            </a:r>
            <a:r>
              <a:rPr lang="en-US" altLang="zh-CN" sz="2400" dirty="0"/>
              <a:t>64</a:t>
            </a:r>
            <a:r>
              <a:rPr lang="zh-CN" altLang="en-US" sz="2400" dirty="0"/>
              <a:t>比特进行分组</a:t>
            </a:r>
            <a:endParaRPr lang="en-US" altLang="zh-CN" sz="2400" dirty="0"/>
          </a:p>
          <a:p>
            <a:r>
              <a:rPr lang="zh-CN" altLang="en-US" sz="2400" dirty="0"/>
              <a:t>初始化</a:t>
            </a:r>
            <a:r>
              <a:rPr lang="en-US" altLang="zh-CN" sz="2400" dirty="0"/>
              <a:t>ICV=A6A6A6A6A6A6A6A6; R()=</a:t>
            </a:r>
            <a:r>
              <a:rPr lang="zh-CN" altLang="en-US" sz="2400" dirty="0"/>
              <a:t>明文密钥数据分组</a:t>
            </a:r>
            <a:endParaRPr lang="en-US" altLang="zh-CN" sz="2400" dirty="0"/>
          </a:p>
          <a:p>
            <a:r>
              <a:rPr lang="zh-CN" altLang="en-US" sz="2400" dirty="0"/>
              <a:t>执行</a:t>
            </a:r>
            <a:r>
              <a:rPr lang="en-US" altLang="zh-CN" sz="2400" dirty="0"/>
              <a:t>6n</a:t>
            </a:r>
            <a:r>
              <a:rPr lang="zh-CN" altLang="en-US" sz="2400" dirty="0"/>
              <a:t>个阶段，</a:t>
            </a:r>
            <a:r>
              <a:rPr lang="en-US" altLang="zh-CN" sz="2400" dirty="0"/>
              <a:t>t=1,2,…,6n</a:t>
            </a:r>
            <a:endParaRPr lang="en-US" altLang="zh-CN" sz="2400" dirty="0"/>
          </a:p>
          <a:p>
            <a:r>
              <a:rPr lang="zh-CN" altLang="en-US" sz="2400" dirty="0"/>
              <a:t>密文</a:t>
            </a:r>
            <a:r>
              <a:rPr lang="en-US" altLang="zh-CN" sz="2400" dirty="0"/>
              <a:t>C={A</a:t>
            </a:r>
            <a:r>
              <a:rPr lang="en-US" altLang="zh-CN" sz="2400" baseline="30000" dirty="0"/>
              <a:t>6n</a:t>
            </a:r>
            <a:r>
              <a:rPr lang="en-US" altLang="zh-CN" sz="2400" dirty="0"/>
              <a:t>,R(1),R(2),…,R(n)}</a:t>
            </a:r>
            <a:endParaRPr lang="en-US" altLang="zh-CN" sz="2400" dirty="0"/>
          </a:p>
          <a:p>
            <a:pPr lvl="1"/>
            <a:endParaRPr lang="en-US" altLang="zh-CN" sz="2000" dirty="0"/>
          </a:p>
          <a:p>
            <a:pPr lvl="1"/>
            <a:endParaRPr lang="en-US" altLang="zh-CN" sz="2000" dirty="0"/>
          </a:p>
          <a:p>
            <a:pPr lvl="1"/>
            <a:endParaRPr lang="en-US" altLang="zh-CN" sz="2000" dirty="0"/>
          </a:p>
          <a:p>
            <a:pPr lvl="1"/>
            <a:endParaRPr lang="en-US" altLang="zh-CN" sz="2000" dirty="0"/>
          </a:p>
          <a:p>
            <a:pPr lvl="1"/>
            <a:endParaRPr lang="en-US" altLang="zh-CN" sz="2000" dirty="0"/>
          </a:p>
          <a:p>
            <a:endParaRPr lang="en-US" altLang="zh-CN" sz="2400" dirty="0"/>
          </a:p>
          <a:p>
            <a:endParaRPr lang="en-US" altLang="zh-CN" sz="2400" dirty="0"/>
          </a:p>
          <a:p>
            <a:r>
              <a:rPr lang="zh-CN" altLang="en-US" sz="2400" dirty="0"/>
              <a:t>若解密得到的</a:t>
            </a:r>
            <a:r>
              <a:rPr lang="zh-CN" altLang="en-US" dirty="0"/>
              <a:t>不等于</a:t>
            </a:r>
            <a:r>
              <a:rPr lang="en-US" altLang="zh-CN" sz="2400" dirty="0"/>
              <a:t>ICV</a:t>
            </a:r>
            <a:r>
              <a:rPr lang="zh-CN" altLang="en-US" sz="2400" dirty="0"/>
              <a:t>，认证失败，拒绝新密钥</a:t>
            </a:r>
            <a:endParaRPr lang="zh-CN" altLang="en-US" sz="2400" dirty="0"/>
          </a:p>
        </p:txBody>
      </p:sp>
      <p:grpSp>
        <p:nvGrpSpPr>
          <p:cNvPr id="4" name="组合 3"/>
          <p:cNvGrpSpPr/>
          <p:nvPr/>
        </p:nvGrpSpPr>
        <p:grpSpPr>
          <a:xfrm>
            <a:off x="3253282" y="3088616"/>
            <a:ext cx="5078270" cy="2474601"/>
            <a:chOff x="1907704" y="3374890"/>
            <a:chExt cx="5078270" cy="2474601"/>
          </a:xfrm>
        </p:grpSpPr>
        <p:sp>
          <p:nvSpPr>
            <p:cNvPr id="5" name="矩形 4"/>
            <p:cNvSpPr/>
            <p:nvPr/>
          </p:nvSpPr>
          <p:spPr>
            <a:xfrm>
              <a:off x="3505558" y="3784604"/>
              <a:ext cx="1728192" cy="504056"/>
            </a:xfrm>
            <a:prstGeom prst="rect">
              <a:avLst/>
            </a:prstGeom>
            <a:ln w="19050">
              <a:solidFill>
                <a:srgbClr val="00B050"/>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加密</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 name="直接箭头连接符 5"/>
            <p:cNvCxnSpPr>
              <a:endCxn id="5" idx="1"/>
            </p:cNvCxnSpPr>
            <p:nvPr/>
          </p:nvCxnSpPr>
          <p:spPr>
            <a:xfrm>
              <a:off x="2929494" y="4036632"/>
              <a:ext cx="57606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878972" y="3667300"/>
              <a:ext cx="370614" cy="400110"/>
            </a:xfrm>
            <a:prstGeom prst="rect">
              <a:avLst/>
            </a:prstGeom>
            <a:noFill/>
            <a:ln w="19050">
              <a:noFill/>
            </a:ln>
          </p:spPr>
          <p:txBody>
            <a:bodyPr wrap="non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K</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p:cNvSpPr/>
            <p:nvPr/>
          </p:nvSpPr>
          <p:spPr>
            <a:xfrm>
              <a:off x="3505558" y="4622123"/>
              <a:ext cx="864096" cy="367940"/>
            </a:xfrm>
            <a:prstGeom prst="rect">
              <a:avLst/>
            </a:prstGeom>
            <a:noFill/>
            <a:ln w="19050">
              <a:solidFill>
                <a:schemeClr val="tx1"/>
              </a:solidFill>
            </a:ln>
          </p:spPr>
          <p:style>
            <a:lnRef idx="1">
              <a:schemeClr val="accent3"/>
            </a:lnRef>
            <a:fillRef idx="2">
              <a:schemeClr val="accent3"/>
            </a:fillRef>
            <a:effectRef idx="1">
              <a:schemeClr val="accent3"/>
            </a:effectRef>
            <a:fontRef idx="minor">
              <a:schemeClr val="dk1"/>
            </a:fontRef>
          </p:style>
          <p:txBody>
            <a:bodyPr lIns="36000" rIns="36000" rtlCol="0" anchor="ct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MSB</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64</a:t>
              </a:r>
              <a:endParaRPr lang="zh-CN" altLang="en-US" sz="2000" baseline="-25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8"/>
            <p:cNvSpPr/>
            <p:nvPr/>
          </p:nvSpPr>
          <p:spPr>
            <a:xfrm>
              <a:off x="4369654" y="4622123"/>
              <a:ext cx="864096" cy="367940"/>
            </a:xfrm>
            <a:prstGeom prst="rect">
              <a:avLst/>
            </a:prstGeom>
            <a:noFill/>
            <a:ln w="19050">
              <a:solidFill>
                <a:schemeClr val="tx1"/>
              </a:solidFill>
            </a:ln>
          </p:spPr>
          <p:style>
            <a:lnRef idx="1">
              <a:schemeClr val="accent3"/>
            </a:lnRef>
            <a:fillRef idx="2">
              <a:schemeClr val="accent3"/>
            </a:fillRef>
            <a:effectRef idx="1">
              <a:schemeClr val="accent3"/>
            </a:effectRef>
            <a:fontRef idx="minor">
              <a:schemeClr val="dk1"/>
            </a:fontRef>
          </p:style>
          <p:txBody>
            <a:bodyPr lIns="36000" rIns="36000" rtlCol="0" anchor="ct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LSB</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64</a:t>
              </a:r>
              <a:endParaRPr lang="zh-CN" altLang="en-US" sz="2000" baseline="-25000"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0" name="肘形连接符 18"/>
            <p:cNvCxnSpPr>
              <a:stCxn id="5" idx="2"/>
              <a:endCxn id="8" idx="0"/>
            </p:cNvCxnSpPr>
            <p:nvPr/>
          </p:nvCxnSpPr>
          <p:spPr>
            <a:xfrm rot="5400000">
              <a:off x="3986899" y="4239367"/>
              <a:ext cx="333463" cy="432048"/>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肘形连接符 20"/>
            <p:cNvCxnSpPr>
              <a:stCxn id="5" idx="2"/>
              <a:endCxn id="9" idx="0"/>
            </p:cNvCxnSpPr>
            <p:nvPr/>
          </p:nvCxnSpPr>
          <p:spPr>
            <a:xfrm rot="16200000" flipH="1">
              <a:off x="4418947" y="4239367"/>
              <a:ext cx="333463" cy="432048"/>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流程图: 或者 11"/>
            <p:cNvSpPr/>
            <p:nvPr/>
          </p:nvSpPr>
          <p:spPr>
            <a:xfrm>
              <a:off x="2785478" y="4662661"/>
              <a:ext cx="284957" cy="276785"/>
            </a:xfrm>
            <a:prstGeom prst="flowChartOr">
              <a:avLst/>
            </a:prstGeom>
            <a:ln w="19050">
              <a:solidFill>
                <a:srgbClr val="00B050"/>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3" name="直接箭头连接符 12"/>
            <p:cNvCxnSpPr>
              <a:stCxn id="8" idx="1"/>
            </p:cNvCxnSpPr>
            <p:nvPr/>
          </p:nvCxnSpPr>
          <p:spPr>
            <a:xfrm flipH="1">
              <a:off x="3070435" y="4806093"/>
              <a:ext cx="43512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2314634" y="4806093"/>
              <a:ext cx="47084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2273024" y="4483034"/>
              <a:ext cx="255198" cy="400110"/>
            </a:xfrm>
            <a:prstGeom prst="rect">
              <a:avLst/>
            </a:prstGeom>
            <a:noFill/>
            <a:ln w="19050">
              <a:noFill/>
            </a:ln>
          </p:spPr>
          <p:txBody>
            <a:bodyPr wrap="non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t</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矩形 15"/>
            <p:cNvSpPr/>
            <p:nvPr/>
          </p:nvSpPr>
          <p:spPr>
            <a:xfrm>
              <a:off x="2497446" y="5260466"/>
              <a:ext cx="864096" cy="367940"/>
            </a:xfrm>
            <a:prstGeom prst="rect">
              <a:avLst/>
            </a:prstGeom>
            <a:noFill/>
            <a:ln w="1905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t</a:t>
              </a:r>
              <a:endParaRPr lang="zh-CN" altLang="en-US" sz="2000" baseline="-25000"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7" name="肘形连接符 40"/>
            <p:cNvCxnSpPr>
              <a:stCxn id="12" idx="4"/>
              <a:endCxn id="16" idx="0"/>
            </p:cNvCxnSpPr>
            <p:nvPr/>
          </p:nvCxnSpPr>
          <p:spPr>
            <a:xfrm rot="16200000" flipH="1">
              <a:off x="2768215" y="5099187"/>
              <a:ext cx="321020" cy="1537"/>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3671407" y="5260467"/>
              <a:ext cx="864096" cy="367940"/>
            </a:xfrm>
            <a:prstGeom prst="rect">
              <a:avLst/>
            </a:prstGeom>
            <a:noFill/>
            <a:ln w="1905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R(1)</a:t>
              </a:r>
              <a:endParaRPr lang="zh-CN" altLang="en-US" sz="2000" baseline="-25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矩形 18"/>
            <p:cNvSpPr/>
            <p:nvPr/>
          </p:nvSpPr>
          <p:spPr>
            <a:xfrm>
              <a:off x="4535503" y="5260467"/>
              <a:ext cx="864096" cy="367940"/>
            </a:xfrm>
            <a:prstGeom prst="rect">
              <a:avLst/>
            </a:prstGeom>
            <a:noFill/>
            <a:ln w="1905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R(2)</a:t>
              </a:r>
              <a:endParaRPr lang="zh-CN" altLang="en-US" sz="2000" baseline="-25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矩形 19"/>
            <p:cNvSpPr/>
            <p:nvPr/>
          </p:nvSpPr>
          <p:spPr>
            <a:xfrm>
              <a:off x="5831647" y="5260467"/>
              <a:ext cx="864096" cy="367940"/>
            </a:xfrm>
            <a:prstGeom prst="rect">
              <a:avLst/>
            </a:prstGeom>
            <a:noFill/>
            <a:ln w="1905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R(n)</a:t>
              </a:r>
              <a:endParaRPr lang="zh-CN" altLang="en-US" sz="2000" baseline="-25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1" name="文本框 20"/>
            <p:cNvSpPr txBox="1"/>
            <p:nvPr/>
          </p:nvSpPr>
          <p:spPr>
            <a:xfrm>
              <a:off x="5390500" y="5182447"/>
              <a:ext cx="441146" cy="400110"/>
            </a:xfrm>
            <a:prstGeom prst="rect">
              <a:avLst/>
            </a:prstGeom>
            <a:noFill/>
            <a:ln w="19050">
              <a:noFill/>
            </a:ln>
          </p:spPr>
          <p:txBody>
            <a:bodyPr wrap="non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文本框 21"/>
            <p:cNvSpPr txBox="1"/>
            <p:nvPr/>
          </p:nvSpPr>
          <p:spPr>
            <a:xfrm>
              <a:off x="4219248" y="3374890"/>
              <a:ext cx="287258" cy="400110"/>
            </a:xfrm>
            <a:prstGeom prst="rect">
              <a:avLst/>
            </a:prstGeom>
            <a:noFill/>
            <a:ln w="19050">
              <a:noFill/>
            </a:ln>
          </p:spPr>
          <p:txBody>
            <a:bodyPr wrap="non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23" name="肘形连接符 50"/>
            <p:cNvCxnSpPr>
              <a:stCxn id="9" idx="3"/>
              <a:endCxn id="20" idx="0"/>
            </p:cNvCxnSpPr>
            <p:nvPr/>
          </p:nvCxnSpPr>
          <p:spPr>
            <a:xfrm>
              <a:off x="5233750" y="4806093"/>
              <a:ext cx="1029945" cy="454374"/>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肘形连接符 100"/>
            <p:cNvCxnSpPr/>
            <p:nvPr/>
          </p:nvCxnSpPr>
          <p:spPr>
            <a:xfrm rot="16200000" flipH="1">
              <a:off x="4599535" y="3625844"/>
              <a:ext cx="315981" cy="1537"/>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肘形连接符 101"/>
            <p:cNvCxnSpPr/>
            <p:nvPr/>
          </p:nvCxnSpPr>
          <p:spPr>
            <a:xfrm rot="16200000" flipH="1">
              <a:off x="3778847" y="3609556"/>
              <a:ext cx="315981" cy="1537"/>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1907704" y="3452334"/>
              <a:ext cx="202836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4755523" y="3468621"/>
              <a:ext cx="223045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917231" y="3452334"/>
              <a:ext cx="345" cy="199710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6" idx="1"/>
            </p:cNvCxnSpPr>
            <p:nvPr/>
          </p:nvCxnSpPr>
          <p:spPr>
            <a:xfrm flipH="1">
              <a:off x="1928877" y="5444436"/>
              <a:ext cx="56856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18" idx="2"/>
            </p:cNvCxnSpPr>
            <p:nvPr/>
          </p:nvCxnSpPr>
          <p:spPr>
            <a:xfrm flipV="1">
              <a:off x="4103455" y="5628407"/>
              <a:ext cx="0" cy="21272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4094838" y="5843364"/>
              <a:ext cx="2880319" cy="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6984876" y="3459331"/>
              <a:ext cx="1098" cy="239016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H="1">
              <a:off x="4903818" y="5733256"/>
              <a:ext cx="720080"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基于认证算法的</a:t>
            </a:r>
            <a:r>
              <a:rPr lang="en-US" altLang="zh-CN" dirty="0"/>
              <a:t>PRNG</a:t>
            </a:r>
            <a:endParaRPr lang="zh-CN" altLang="en-US" dirty="0"/>
          </a:p>
        </p:txBody>
      </p:sp>
      <p:sp>
        <p:nvSpPr>
          <p:cNvPr id="3" name="文本占位符 2"/>
          <p:cNvSpPr>
            <a:spLocks noGrp="1"/>
          </p:cNvSpPr>
          <p:nvPr>
            <p:ph type="body" sz="quarter" idx="10"/>
          </p:nvPr>
        </p:nvSpPr>
        <p:spPr/>
        <p:txBody>
          <a:bodyPr/>
          <a:lstStyle/>
          <a:p>
            <a:r>
              <a:rPr lang="zh-CN" altLang="en-US" dirty="0"/>
              <a:t>基于</a:t>
            </a:r>
            <a:r>
              <a:rPr lang="en-US" altLang="zh-CN" dirty="0"/>
              <a:t>Hash</a:t>
            </a:r>
            <a:r>
              <a:rPr lang="zh-CN" altLang="en-US" dirty="0"/>
              <a:t>函数的</a:t>
            </a:r>
            <a:r>
              <a:rPr lang="en-US" altLang="zh-CN" dirty="0"/>
              <a:t>PRNG</a:t>
            </a:r>
            <a:endParaRPr lang="en-US" altLang="zh-CN" dirty="0"/>
          </a:p>
          <a:p>
            <a:pPr lvl="1"/>
            <a:r>
              <a:rPr lang="en-US" altLang="zh-CN" dirty="0"/>
              <a:t>data=V</a:t>
            </a:r>
            <a:r>
              <a:rPr lang="zh-CN" altLang="en-US" dirty="0"/>
              <a:t>种子</a:t>
            </a:r>
            <a:endParaRPr lang="en-US" altLang="zh-CN" dirty="0"/>
          </a:p>
          <a:p>
            <a:pPr lvl="1"/>
            <a:r>
              <a:rPr lang="en-US" altLang="zh-CN" dirty="0"/>
              <a:t>repeat</a:t>
            </a:r>
            <a:endParaRPr lang="en-US" altLang="zh-CN" dirty="0"/>
          </a:p>
          <a:p>
            <a:pPr lvl="2"/>
            <a:r>
              <a:rPr lang="en-US" altLang="zh-CN" dirty="0"/>
              <a:t>W</a:t>
            </a:r>
            <a:r>
              <a:rPr lang="en-US" altLang="zh-CN" baseline="-25000" dirty="0"/>
              <a:t>i</a:t>
            </a:r>
            <a:r>
              <a:rPr lang="en-US" altLang="zh-CN" dirty="0"/>
              <a:t>=H(data)</a:t>
            </a:r>
            <a:endParaRPr lang="en-US" altLang="zh-CN" dirty="0"/>
          </a:p>
          <a:p>
            <a:pPr lvl="2"/>
            <a:r>
              <a:rPr lang="en-US" altLang="zh-CN" dirty="0"/>
              <a:t>data=(data+1)mod 2</a:t>
            </a:r>
            <a:r>
              <a:rPr lang="en-US" altLang="zh-CN" baseline="30000" dirty="0"/>
              <a:t>len</a:t>
            </a:r>
            <a:endParaRPr lang="en-US" altLang="zh-CN" baseline="30000" dirty="0"/>
          </a:p>
          <a:p>
            <a:endParaRPr lang="en-US" altLang="zh-CN" dirty="0"/>
          </a:p>
          <a:p>
            <a:r>
              <a:rPr lang="zh-CN" altLang="en-US" dirty="0"/>
              <a:t>基于</a:t>
            </a:r>
            <a:r>
              <a:rPr lang="en-US" altLang="zh-CN" dirty="0"/>
              <a:t>MAC</a:t>
            </a:r>
            <a:r>
              <a:rPr lang="zh-CN" altLang="en-US" dirty="0"/>
              <a:t>的</a:t>
            </a:r>
            <a:r>
              <a:rPr lang="en-US" altLang="zh-CN" dirty="0"/>
              <a:t>PRNG</a:t>
            </a:r>
            <a:endParaRPr lang="en-US" altLang="zh-CN" dirty="0"/>
          </a:p>
          <a:p>
            <a:pPr lvl="1"/>
            <a:r>
              <a:rPr lang="en-US" altLang="zh-CN" dirty="0"/>
              <a:t>SP 800-90</a:t>
            </a:r>
            <a:r>
              <a:rPr lang="zh-CN" altLang="en-US" dirty="0"/>
              <a:t>：</a:t>
            </a:r>
            <a:r>
              <a:rPr lang="en-US" altLang="zh-CN" dirty="0"/>
              <a:t>W</a:t>
            </a:r>
            <a:r>
              <a:rPr lang="en-US" altLang="zh-CN" baseline="-25000" dirty="0"/>
              <a:t>i</a:t>
            </a:r>
            <a:r>
              <a:rPr lang="en-US" altLang="zh-CN" dirty="0"/>
              <a:t>=MAC(K,W</a:t>
            </a:r>
            <a:r>
              <a:rPr lang="en-US" altLang="zh-CN" baseline="-25000" dirty="0"/>
              <a:t>i-1</a:t>
            </a:r>
            <a:r>
              <a:rPr lang="en-US" altLang="zh-CN" dirty="0"/>
              <a:t>)</a:t>
            </a:r>
            <a:endParaRPr lang="en-US" altLang="zh-CN" dirty="0"/>
          </a:p>
          <a:p>
            <a:pPr lvl="1"/>
            <a:r>
              <a:rPr lang="en-US" altLang="zh-CN" dirty="0"/>
              <a:t>IEEE 802.11i</a:t>
            </a:r>
            <a:r>
              <a:rPr lang="zh-CN" altLang="en-US" dirty="0"/>
              <a:t>：</a:t>
            </a:r>
            <a:r>
              <a:rPr lang="en-US" altLang="zh-CN" dirty="0"/>
              <a:t>W</a:t>
            </a:r>
            <a:r>
              <a:rPr lang="en-US" altLang="zh-CN" baseline="-25000" dirty="0"/>
              <a:t>i</a:t>
            </a:r>
            <a:r>
              <a:rPr lang="en-US" altLang="zh-CN" dirty="0"/>
              <a:t>=MAC(K,V||</a:t>
            </a:r>
            <a:r>
              <a:rPr lang="en-US" altLang="zh-CN" dirty="0" err="1"/>
              <a:t>i</a:t>
            </a:r>
            <a:r>
              <a:rPr lang="en-US" altLang="zh-CN" dirty="0"/>
              <a:t>)</a:t>
            </a:r>
            <a:endParaRPr lang="en-US" altLang="zh-CN" dirty="0"/>
          </a:p>
          <a:p>
            <a:pPr lvl="1"/>
            <a:r>
              <a:rPr lang="en-US" altLang="zh-CN" dirty="0"/>
              <a:t>TLS/WTLS</a:t>
            </a:r>
            <a:r>
              <a:rPr lang="zh-CN" altLang="en-US" dirty="0"/>
              <a:t>：</a:t>
            </a:r>
            <a:r>
              <a:rPr lang="en-US" altLang="zh-CN" dirty="0"/>
              <a:t>A(</a:t>
            </a:r>
            <a:r>
              <a:rPr lang="en-US" altLang="zh-CN" dirty="0" err="1"/>
              <a:t>i</a:t>
            </a:r>
            <a:r>
              <a:rPr lang="en-US" altLang="zh-CN" dirty="0"/>
              <a:t>)=MAC(K, A(i-1)); W</a:t>
            </a:r>
            <a:r>
              <a:rPr lang="en-US" altLang="zh-CN" baseline="-25000" dirty="0"/>
              <a:t>i</a:t>
            </a:r>
            <a:r>
              <a:rPr lang="en-US" altLang="zh-CN" dirty="0"/>
              <a:t>=MAC(K, A(</a:t>
            </a:r>
            <a:r>
              <a:rPr lang="en-US" altLang="zh-CN" dirty="0" err="1"/>
              <a:t>i</a:t>
            </a:r>
            <a:r>
              <a:rPr lang="en-US" altLang="zh-CN" dirty="0"/>
              <a:t>)||V)</a:t>
            </a:r>
            <a:endParaRPr lang="zh-CN" altLang="en-US" dirty="0"/>
          </a:p>
          <a:p>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文本框 4"/>
          <p:cNvSpPr txBox="1">
            <a:spLocks noChangeArrowheads="1"/>
          </p:cNvSpPr>
          <p:nvPr/>
        </p:nvSpPr>
        <p:spPr bwMode="auto">
          <a:xfrm>
            <a:off x="5439411" y="2772149"/>
            <a:ext cx="131318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pPr algn="ctr" eaLnBrk="1" hangingPunct="1"/>
            <a:r>
              <a:rPr lang="zh-CN" altLang="en-US" sz="8800" dirty="0">
                <a:solidFill>
                  <a:schemeClr val="bg1"/>
                </a:solidFill>
                <a:latin typeface="楷体" panose="02010609060101010101" pitchFamily="49" charset="-122"/>
                <a:ea typeface="楷体" panose="02010609060101010101" pitchFamily="49" charset="-122"/>
              </a:rPr>
              <a:t>完</a:t>
            </a:r>
            <a:endParaRPr lang="zh-CN" altLang="en-US" sz="8800" dirty="0">
              <a:solidFill>
                <a:schemeClr val="bg1"/>
              </a:solidFill>
              <a:latin typeface="楷体" panose="02010609060101010101" pitchFamily="49" charset="-122"/>
              <a:ea typeface="楷体" panose="02010609060101010101" pitchFamily="49"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endParaRPr lang="zh-CN" altLang="en-US" dirty="0"/>
          </a:p>
        </p:txBody>
      </p:sp>
      <p:sp>
        <p:nvSpPr>
          <p:cNvPr id="3" name="文本占位符 2"/>
          <p:cNvSpPr>
            <a:spLocks noGrp="1"/>
          </p:cNvSpPr>
          <p:nvPr>
            <p:ph type="body" sz="quarter" idx="10"/>
          </p:nvPr>
        </p:nvSpPr>
        <p:spPr>
          <a:xfrm>
            <a:off x="532832" y="938213"/>
            <a:ext cx="10921231" cy="5552394"/>
          </a:xfrm>
        </p:spPr>
        <p:txBody>
          <a:bodyPr/>
          <a:lstStyle/>
          <a:p>
            <a:pPr marL="457200" indent="-457200">
              <a:buAutoNum type="arabicPeriod"/>
            </a:pPr>
            <a:r>
              <a:rPr lang="zh-CN" altLang="zh-CN" sz="2000" dirty="0"/>
              <a:t>可以利用</a:t>
            </a:r>
            <a:r>
              <a:rPr lang="zh-CN" altLang="en-US" sz="2000" dirty="0"/>
              <a:t>杂凑</a:t>
            </a:r>
            <a:r>
              <a:rPr lang="zh-CN" altLang="zh-CN" sz="2000" dirty="0"/>
              <a:t>函数构造类似</a:t>
            </a:r>
            <a:r>
              <a:rPr lang="en-US" altLang="zh-CN" sz="2000" dirty="0"/>
              <a:t>DES</a:t>
            </a:r>
            <a:r>
              <a:rPr lang="zh-CN" altLang="zh-CN" sz="2000" dirty="0"/>
              <a:t>结构的分组密码。但</a:t>
            </a:r>
            <a:r>
              <a:rPr lang="zh-CN" altLang="en-US" sz="2000" dirty="0"/>
              <a:t>杂凑</a:t>
            </a:r>
            <a:r>
              <a:rPr lang="zh-CN" altLang="zh-CN" sz="2000" dirty="0"/>
              <a:t>是单向的，而分组密码</a:t>
            </a:r>
            <a:r>
              <a:rPr lang="zh-CN" altLang="en-US" sz="2000" dirty="0"/>
              <a:t>要求</a:t>
            </a:r>
            <a:r>
              <a:rPr lang="zh-CN" altLang="zh-CN" sz="2000" dirty="0"/>
              <a:t>是可逆的（解密），那么如何利用</a:t>
            </a:r>
            <a:r>
              <a:rPr lang="zh-CN" altLang="en-US" sz="2000"/>
              <a:t>杂凑函数</a:t>
            </a:r>
            <a:r>
              <a:rPr lang="zh-CN" altLang="zh-CN" sz="2000"/>
              <a:t>构造</a:t>
            </a:r>
            <a:r>
              <a:rPr lang="zh-CN" altLang="zh-CN" sz="2000" dirty="0"/>
              <a:t>分组密码呢？</a:t>
            </a:r>
            <a:endParaRPr lang="en-US" altLang="zh-CN" sz="2000" dirty="0"/>
          </a:p>
          <a:p>
            <a:pPr marL="457200" indent="-457200">
              <a:buAutoNum type="arabicPeriod"/>
            </a:pPr>
            <a:r>
              <a:rPr lang="zh-CN" altLang="en-US" sz="2000" dirty="0"/>
              <a:t>请针对方案</a:t>
            </a:r>
            <a:r>
              <a:rPr lang="en-AU" altLang="zh-CN" sz="2000" dirty="0" err="1">
                <a:cs typeface="Times New Roman" panose="02020603050405020304" pitchFamily="18" charset="0"/>
              </a:rPr>
              <a:t>KeyedHash</a:t>
            </a:r>
            <a:r>
              <a:rPr lang="en-AU" altLang="zh-CN" sz="2000" dirty="0">
                <a:cs typeface="Times New Roman" panose="02020603050405020304" pitchFamily="18" charset="0"/>
              </a:rPr>
              <a:t> = Hash(</a:t>
            </a:r>
            <a:r>
              <a:rPr lang="en-AU" altLang="zh-CN" sz="2000" dirty="0" err="1">
                <a:cs typeface="Times New Roman" panose="02020603050405020304" pitchFamily="18" charset="0"/>
              </a:rPr>
              <a:t>Key|Message</a:t>
            </a:r>
            <a:r>
              <a:rPr lang="en-AU" altLang="zh-CN" sz="2000" dirty="0">
                <a:cs typeface="Times New Roman" panose="02020603050405020304" pitchFamily="18" charset="0"/>
              </a:rPr>
              <a:t>)</a:t>
            </a:r>
            <a:r>
              <a:rPr lang="zh-CN" altLang="en-US" sz="2000" dirty="0">
                <a:cs typeface="Times New Roman" panose="02020603050405020304" pitchFamily="18" charset="0"/>
              </a:rPr>
              <a:t>给出攻击方法。</a:t>
            </a:r>
            <a:endParaRPr lang="zh-CN" altLang="en-US" sz="2000" dirty="0">
              <a:cs typeface="Times New Roman" panose="02020603050405020304" pitchFamily="18" charset="0"/>
            </a:endParaRPr>
          </a:p>
          <a:p>
            <a:pPr marL="457200" indent="-457200">
              <a:buAutoNum type="arabicPeriod"/>
            </a:pPr>
            <a:r>
              <a:rPr lang="zh-CN" altLang="en-US" sz="2000" dirty="0">
                <a:sym typeface="+mn-ea"/>
              </a:rPr>
              <a:t>请针对另一种方案</a:t>
            </a:r>
            <a:r>
              <a:rPr lang="en-AU" altLang="zh-CN" sz="2000" dirty="0" err="1">
                <a:cs typeface="Times New Roman" panose="02020603050405020304" pitchFamily="18" charset="0"/>
                <a:sym typeface="+mn-ea"/>
              </a:rPr>
              <a:t>KeyedHash</a:t>
            </a:r>
            <a:r>
              <a:rPr lang="en-AU" altLang="zh-CN" sz="2000" dirty="0">
                <a:cs typeface="Times New Roman" panose="02020603050405020304" pitchFamily="18" charset="0"/>
                <a:sym typeface="+mn-ea"/>
              </a:rPr>
              <a:t> = Hash(</a:t>
            </a:r>
            <a:r>
              <a:rPr lang="en-AU" altLang="zh-CN" sz="2000" dirty="0" err="1">
                <a:cs typeface="Times New Roman" panose="02020603050405020304" pitchFamily="18" charset="0"/>
                <a:sym typeface="+mn-ea"/>
              </a:rPr>
              <a:t>Message</a:t>
            </a:r>
            <a:r>
              <a:rPr lang="en-US" altLang="en-AU" sz="2000" dirty="0" err="1">
                <a:cs typeface="Times New Roman" panose="02020603050405020304" pitchFamily="18" charset="0"/>
                <a:sym typeface="+mn-ea"/>
              </a:rPr>
              <a:t>|</a:t>
            </a:r>
            <a:r>
              <a:rPr lang="en-AU" altLang="zh-CN" sz="2000" dirty="0" err="1">
                <a:cs typeface="Times New Roman" panose="02020603050405020304" pitchFamily="18" charset="0"/>
                <a:sym typeface="+mn-ea"/>
              </a:rPr>
              <a:t>Key</a:t>
            </a:r>
            <a:r>
              <a:rPr lang="en-AU" altLang="zh-CN" sz="2000" dirty="0">
                <a:cs typeface="Times New Roman" panose="02020603050405020304" pitchFamily="18" charset="0"/>
                <a:sym typeface="+mn-ea"/>
              </a:rPr>
              <a:t>)</a:t>
            </a:r>
            <a:r>
              <a:rPr lang="zh-CN" altLang="en-US" sz="2000" dirty="0">
                <a:cs typeface="Times New Roman" panose="02020603050405020304" pitchFamily="18" charset="0"/>
                <a:sym typeface="+mn-ea"/>
              </a:rPr>
              <a:t>给出攻击方法。</a:t>
            </a:r>
            <a:endParaRPr lang="en-US" altLang="zh-CN" sz="2000" dirty="0"/>
          </a:p>
          <a:p>
            <a:pPr marL="357505" indent="-357505">
              <a:buNone/>
            </a:pPr>
            <a:r>
              <a:rPr lang="en-US" altLang="zh-CN" sz="2000" dirty="0"/>
              <a:t>4.	</a:t>
            </a:r>
            <a:r>
              <a:rPr lang="zh-CN" altLang="en-US" sz="2000" dirty="0"/>
              <a:t>假设用户</a:t>
            </a:r>
            <a:r>
              <a:rPr lang="en-US" altLang="zh-CN" sz="2000" dirty="0"/>
              <a:t>A</a:t>
            </a:r>
            <a:r>
              <a:rPr lang="zh-CN" altLang="en-US" sz="2000" dirty="0"/>
              <a:t>准备向用户</a:t>
            </a:r>
            <a:r>
              <a:rPr lang="en-US" altLang="zh-CN" sz="2000" dirty="0"/>
              <a:t>B</a:t>
            </a:r>
            <a:r>
              <a:rPr lang="en-US" altLang="zh-CN" sz="2000" baseline="-25000" dirty="0"/>
              <a:t>i</a:t>
            </a:r>
            <a:r>
              <a:rPr lang="en-US" altLang="zh-CN" sz="2000" dirty="0"/>
              <a:t>(</a:t>
            </a:r>
            <a:r>
              <a:rPr lang="en-US" altLang="zh-CN" sz="2000" dirty="0" err="1"/>
              <a:t>i</a:t>
            </a:r>
            <a:r>
              <a:rPr lang="en-US" altLang="zh-CN" sz="2000" dirty="0"/>
              <a:t>=1,2,…,n)</a:t>
            </a:r>
            <a:r>
              <a:rPr lang="zh-CN" altLang="en-US" sz="2000" dirty="0"/>
              <a:t>广播消息。这里保密性并不重要，但所有用户</a:t>
            </a:r>
            <a:r>
              <a:rPr lang="en-US" altLang="zh-CN" sz="2000" dirty="0"/>
              <a:t>B</a:t>
            </a:r>
            <a:r>
              <a:rPr lang="en-US" altLang="zh-CN" sz="2000" baseline="-25000" dirty="0"/>
              <a:t>i</a:t>
            </a:r>
            <a:r>
              <a:rPr lang="zh-CN" altLang="en-US" sz="2000" dirty="0"/>
              <a:t>需要能够验证消息来自</a:t>
            </a:r>
            <a:r>
              <a:rPr lang="en-US" altLang="zh-CN" sz="2000" dirty="0"/>
              <a:t>A</a:t>
            </a:r>
            <a:r>
              <a:rPr lang="zh-CN" altLang="en-US" sz="2000" dirty="0"/>
              <a:t>。</a:t>
            </a:r>
            <a:r>
              <a:rPr lang="en-US" altLang="zh-CN" sz="2000" dirty="0"/>
              <a:t>A</a:t>
            </a:r>
            <a:r>
              <a:rPr lang="zh-CN" altLang="en-US" sz="2000" dirty="0"/>
              <a:t>决定使用</a:t>
            </a:r>
            <a:r>
              <a:rPr lang="en-US" altLang="zh-CN" sz="2000" dirty="0"/>
              <a:t>MAC</a:t>
            </a:r>
            <a:r>
              <a:rPr lang="zh-CN" altLang="en-US" sz="2000" dirty="0"/>
              <a:t>。问：</a:t>
            </a:r>
            <a:endParaRPr lang="zh-CN" altLang="en-US" sz="2000" dirty="0"/>
          </a:p>
          <a:p>
            <a:pPr marL="803275" lvl="1" indent="-346075">
              <a:buNone/>
            </a:pPr>
            <a:r>
              <a:rPr lang="en-US" altLang="zh-CN" dirty="0"/>
              <a:t>a)	</a:t>
            </a:r>
            <a:r>
              <a:rPr lang="zh-CN" altLang="en-US" dirty="0"/>
              <a:t>若</a:t>
            </a:r>
            <a:r>
              <a:rPr lang="en-US" altLang="zh-CN" dirty="0"/>
              <a:t>A</a:t>
            </a:r>
            <a:r>
              <a:rPr lang="zh-CN" altLang="en-US" dirty="0"/>
              <a:t>和所有的</a:t>
            </a:r>
            <a:r>
              <a:rPr lang="en-US" altLang="zh-CN" dirty="0"/>
              <a:t>B</a:t>
            </a:r>
            <a:r>
              <a:rPr lang="en-US" altLang="zh-CN" baseline="-25000" dirty="0"/>
              <a:t>i</a:t>
            </a:r>
            <a:r>
              <a:rPr lang="zh-CN" altLang="en-US" dirty="0"/>
              <a:t>共享一个密钥</a:t>
            </a:r>
            <a:r>
              <a:rPr lang="en-US" altLang="zh-CN" dirty="0"/>
              <a:t>k</a:t>
            </a:r>
            <a:r>
              <a:rPr lang="zh-CN" altLang="en-US" dirty="0"/>
              <a:t>，用户</a:t>
            </a:r>
            <a:r>
              <a:rPr lang="en-US" altLang="zh-CN" dirty="0"/>
              <a:t>A</a:t>
            </a:r>
            <a:r>
              <a:rPr lang="zh-CN" altLang="en-US" dirty="0"/>
              <a:t>使用密钥</a:t>
            </a:r>
            <a:r>
              <a:rPr lang="en-US" altLang="zh-CN" dirty="0"/>
              <a:t>k</a:t>
            </a:r>
            <a:r>
              <a:rPr lang="zh-CN" altLang="en-US" dirty="0"/>
              <a:t>计算消息的</a:t>
            </a:r>
            <a:r>
              <a:rPr lang="en-US" altLang="zh-CN" dirty="0"/>
              <a:t>MAC</a:t>
            </a:r>
            <a:r>
              <a:rPr lang="zh-CN" altLang="en-US" dirty="0"/>
              <a:t>值，并发送给所有</a:t>
            </a:r>
            <a:r>
              <a:rPr lang="en-US" altLang="zh-CN" dirty="0"/>
              <a:t>B</a:t>
            </a:r>
            <a:r>
              <a:rPr lang="en-US" altLang="zh-CN" baseline="-25000" dirty="0"/>
              <a:t>i</a:t>
            </a:r>
            <a:r>
              <a:rPr lang="zh-CN" altLang="en-US" dirty="0"/>
              <a:t>。于是，所有的</a:t>
            </a:r>
            <a:r>
              <a:rPr lang="en-US" altLang="zh-CN" dirty="0"/>
              <a:t>B</a:t>
            </a:r>
            <a:r>
              <a:rPr lang="en-US" altLang="zh-CN" baseline="-25000" dirty="0"/>
              <a:t>i</a:t>
            </a:r>
            <a:r>
              <a:rPr lang="zh-CN" altLang="en-US" dirty="0"/>
              <a:t>都可以验证</a:t>
            </a:r>
            <a:r>
              <a:rPr lang="en-US" altLang="zh-CN" dirty="0"/>
              <a:t>MAC</a:t>
            </a:r>
            <a:r>
              <a:rPr lang="zh-CN" altLang="en-US" dirty="0"/>
              <a:t>值。为什么这个方案是不安全的？</a:t>
            </a:r>
            <a:endParaRPr lang="zh-CN" altLang="en-US" dirty="0"/>
          </a:p>
          <a:p>
            <a:pPr marL="803275" lvl="1" indent="-346075">
              <a:buNone/>
            </a:pPr>
            <a:r>
              <a:rPr lang="en-US" altLang="zh-CN" dirty="0"/>
              <a:t>b)	</a:t>
            </a:r>
            <a:r>
              <a:rPr lang="zh-CN" altLang="en-US" dirty="0"/>
              <a:t>假设用户</a:t>
            </a:r>
            <a:r>
              <a:rPr lang="en-US" altLang="zh-CN" dirty="0"/>
              <a:t>A</a:t>
            </a:r>
            <a:r>
              <a:rPr lang="zh-CN" altLang="en-US" dirty="0"/>
              <a:t>有密钥集</a:t>
            </a:r>
            <a:r>
              <a:rPr lang="en-US" altLang="zh-CN" dirty="0"/>
              <a:t>S={k</a:t>
            </a:r>
            <a:r>
              <a:rPr lang="en-US" altLang="zh-CN" baseline="-25000" dirty="0"/>
              <a:t>1</a:t>
            </a:r>
            <a:r>
              <a:rPr lang="en-US" altLang="zh-CN" dirty="0"/>
              <a:t>,k</a:t>
            </a:r>
            <a:r>
              <a:rPr lang="en-US" altLang="zh-CN" baseline="-25000" dirty="0"/>
              <a:t>2</a:t>
            </a:r>
            <a:r>
              <a:rPr lang="en-US" altLang="zh-CN" dirty="0"/>
              <a:t>,…,k</a:t>
            </a:r>
            <a:r>
              <a:rPr lang="en-US" altLang="zh-CN" baseline="-25000" dirty="0"/>
              <a:t>m</a:t>
            </a:r>
            <a:r>
              <a:rPr lang="en-US" altLang="zh-CN" dirty="0"/>
              <a:t>}</a:t>
            </a:r>
            <a:r>
              <a:rPr lang="zh-CN" altLang="en-US" dirty="0"/>
              <a:t>，每个用户拥有</a:t>
            </a:r>
            <a:r>
              <a:rPr lang="en-US" altLang="zh-CN" dirty="0"/>
              <a:t>S</a:t>
            </a:r>
            <a:r>
              <a:rPr lang="zh-CN" altLang="en-US" dirty="0"/>
              <a:t>的一个子集</a:t>
            </a:r>
            <a:r>
              <a:rPr lang="en-US" altLang="zh-CN" dirty="0" err="1"/>
              <a:t>S</a:t>
            </a:r>
            <a:r>
              <a:rPr lang="en-US" altLang="zh-CN" baseline="-25000" dirty="0" err="1"/>
              <a:t>i</a:t>
            </a:r>
            <a:r>
              <a:rPr lang="en-US" altLang="zh-CN" dirty="0" err="1"/>
              <a:t>⸦S</a:t>
            </a:r>
            <a:r>
              <a:rPr lang="zh-CN" altLang="en-US" dirty="0"/>
              <a:t>。当用户</a:t>
            </a:r>
            <a:r>
              <a:rPr lang="en-US" altLang="zh-CN" dirty="0"/>
              <a:t>A</a:t>
            </a:r>
            <a:r>
              <a:rPr lang="zh-CN" altLang="en-US" dirty="0"/>
              <a:t>广播消息时，她使用每个密钥分别计算一个</a:t>
            </a:r>
            <a:r>
              <a:rPr lang="en-US" altLang="zh-CN" dirty="0"/>
              <a:t>MAC</a:t>
            </a:r>
            <a:r>
              <a:rPr lang="zh-CN" altLang="en-US" dirty="0"/>
              <a:t>值，并将这</a:t>
            </a:r>
            <a:r>
              <a:rPr lang="en-US" altLang="zh-CN" dirty="0"/>
              <a:t>m</a:t>
            </a:r>
            <a:r>
              <a:rPr lang="zh-CN" altLang="en-US" dirty="0"/>
              <a:t>个</a:t>
            </a:r>
            <a:r>
              <a:rPr lang="en-US" altLang="zh-CN" dirty="0"/>
              <a:t>MAC</a:t>
            </a:r>
            <a:r>
              <a:rPr lang="zh-CN" altLang="en-US" dirty="0"/>
              <a:t>值附加在消息后面。当用户</a:t>
            </a:r>
            <a:r>
              <a:rPr lang="en-US" altLang="zh-CN" dirty="0"/>
              <a:t>B</a:t>
            </a:r>
            <a:r>
              <a:rPr lang="en-US" altLang="zh-CN" baseline="-25000" dirty="0"/>
              <a:t>i</a:t>
            </a:r>
            <a:r>
              <a:rPr lang="zh-CN" altLang="en-US" dirty="0"/>
              <a:t>收到消息后，他验证他的密钥子集</a:t>
            </a:r>
            <a:r>
              <a:rPr lang="en-US" altLang="zh-CN" dirty="0"/>
              <a:t>S</a:t>
            </a:r>
            <a:r>
              <a:rPr lang="en-US" altLang="zh-CN" baseline="-25000" dirty="0"/>
              <a:t>i</a:t>
            </a:r>
            <a:r>
              <a:rPr lang="zh-CN" altLang="en-US" dirty="0"/>
              <a:t>中每个密钥对应的</a:t>
            </a:r>
            <a:r>
              <a:rPr lang="en-US" altLang="zh-CN" dirty="0"/>
              <a:t>MAC</a:t>
            </a:r>
            <a:r>
              <a:rPr lang="zh-CN" altLang="en-US" dirty="0"/>
              <a:t>值，若都正确则确认消息来自用户</a:t>
            </a:r>
            <a:r>
              <a:rPr lang="en-US" altLang="zh-CN" dirty="0"/>
              <a:t>A</a:t>
            </a:r>
            <a:r>
              <a:rPr lang="zh-CN" altLang="en-US" dirty="0"/>
              <a:t>。问</a:t>
            </a:r>
            <a:r>
              <a:rPr lang="en-US" altLang="zh-CN" dirty="0"/>
              <a:t>S</a:t>
            </a:r>
            <a:r>
              <a:rPr lang="en-US" altLang="zh-CN" baseline="-25000" dirty="0"/>
              <a:t>i </a:t>
            </a:r>
            <a:r>
              <a:rPr lang="zh-CN" altLang="en-US" dirty="0"/>
              <a:t>应满足什么条件，才能保证该方案不会受到问题</a:t>
            </a:r>
            <a:r>
              <a:rPr lang="en-US" altLang="zh-CN" dirty="0"/>
              <a:t>a)</a:t>
            </a:r>
            <a:r>
              <a:rPr lang="zh-CN" altLang="en-US" dirty="0"/>
              <a:t>中的攻击。（假设所有</a:t>
            </a:r>
            <a:r>
              <a:rPr lang="en-US" altLang="zh-CN" dirty="0"/>
              <a:t>B</a:t>
            </a:r>
            <a:r>
              <a:rPr lang="en-US" altLang="zh-CN" baseline="-25000" dirty="0"/>
              <a:t>i</a:t>
            </a:r>
            <a:r>
              <a:rPr lang="zh-CN" altLang="en-US" dirty="0"/>
              <a:t>不会共谋）</a:t>
            </a:r>
            <a:endParaRPr lang="zh-CN" altLang="en-US" dirty="0"/>
          </a:p>
          <a:p>
            <a:pPr marL="914400" lvl="1" indent="-457200">
              <a:buAutoNum type="alphaLcParenR" startAt="3"/>
            </a:pPr>
            <a:r>
              <a:rPr lang="zh-CN" altLang="en-US" dirty="0"/>
              <a:t>当</a:t>
            </a:r>
            <a:r>
              <a:rPr lang="en-US" altLang="zh-CN" dirty="0"/>
              <a:t>n=7</a:t>
            </a:r>
            <a:r>
              <a:rPr lang="zh-CN" altLang="en-US" dirty="0"/>
              <a:t>时，用户</a:t>
            </a:r>
            <a:r>
              <a:rPr lang="en-US" altLang="zh-CN" dirty="0"/>
              <a:t>A</a:t>
            </a:r>
            <a:r>
              <a:rPr lang="zh-CN" altLang="en-US" dirty="0"/>
              <a:t>的密钥集</a:t>
            </a:r>
            <a:r>
              <a:rPr lang="en-US" altLang="zh-CN" dirty="0"/>
              <a:t>S</a:t>
            </a:r>
            <a:r>
              <a:rPr lang="zh-CN" altLang="en-US" dirty="0"/>
              <a:t>中最少应包含几个密钥？构造此时的</a:t>
            </a:r>
            <a:r>
              <a:rPr lang="en-US" altLang="zh-CN" dirty="0"/>
              <a:t>S</a:t>
            </a:r>
            <a:r>
              <a:rPr lang="en-US" altLang="zh-CN" baseline="-25000" dirty="0"/>
              <a:t>1</a:t>
            </a:r>
            <a:r>
              <a:rPr lang="en-US" altLang="zh-CN" dirty="0"/>
              <a:t>~S</a:t>
            </a:r>
            <a:r>
              <a:rPr lang="en-US" altLang="zh-CN" baseline="-25000" dirty="0"/>
              <a:t>7</a:t>
            </a:r>
            <a:r>
              <a:rPr lang="zh-CN" altLang="en-US" dirty="0"/>
              <a:t>。</a:t>
            </a:r>
            <a:endParaRPr lang="en-US" altLang="zh-CN" dirty="0"/>
          </a:p>
          <a:p>
            <a:pPr marL="457200" lvl="1" indent="0">
              <a:buNone/>
            </a:pPr>
            <a:endParaRPr lang="zh-CN" altLang="en-US" dirty="0"/>
          </a:p>
          <a:p>
            <a:endParaRPr lang="zh-CN" altLang="en-US" dirty="0"/>
          </a:p>
        </p:txBody>
      </p:sp>
    </p:spTree>
  </p:cSld>
  <p:clrMapOvr>
    <a:masterClrMapping/>
  </p:clrMapOvr>
</p:sld>
</file>

<file path=ppt/theme/theme1.xml><?xml version="1.0" encoding="utf-8"?>
<a:theme xmlns:a="http://schemas.openxmlformats.org/drawingml/2006/main" name="1">
  <a:themeElements>
    <a:clrScheme name="自定义 5">
      <a:dk1>
        <a:sysClr val="windowText" lastClr="000000"/>
      </a:dk1>
      <a:lt1>
        <a:sysClr val="window" lastClr="FFFFFF"/>
      </a:lt1>
      <a:dk2>
        <a:srgbClr val="44546A"/>
      </a:dk2>
      <a:lt2>
        <a:srgbClr val="E7E6E6"/>
      </a:lt2>
      <a:accent1>
        <a:srgbClr val="00B0F0"/>
      </a:accent1>
      <a:accent2>
        <a:srgbClr val="0070C0"/>
      </a:accent2>
      <a:accent3>
        <a:srgbClr val="92D050"/>
      </a:accent3>
      <a:accent4>
        <a:srgbClr val="FFC000"/>
      </a:accent4>
      <a:accent5>
        <a:srgbClr val="ED7D31"/>
      </a:accent5>
      <a:accent6>
        <a:srgbClr val="954F72"/>
      </a:accent6>
      <a:hlink>
        <a:srgbClr val="0563C1"/>
      </a:hlink>
      <a:folHlink>
        <a:srgbClr val="954F72"/>
      </a:folHlink>
    </a:clrScheme>
    <a:fontScheme name="标准字体">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12951</Words>
  <Application>WPS 演示</Application>
  <PresentationFormat>宽屏</PresentationFormat>
  <Paragraphs>1435</Paragraphs>
  <Slides>85</Slides>
  <Notes>4</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85</vt:i4>
      </vt:variant>
    </vt:vector>
  </HeadingPairs>
  <TitlesOfParts>
    <vt:vector size="104" baseType="lpstr">
      <vt:lpstr>Arial</vt:lpstr>
      <vt:lpstr>宋体</vt:lpstr>
      <vt:lpstr>Wingdings</vt:lpstr>
      <vt:lpstr>Calibri</vt:lpstr>
      <vt:lpstr>微软雅黑</vt:lpstr>
      <vt:lpstr>Times New Roman</vt:lpstr>
      <vt:lpstr>黑体</vt:lpstr>
      <vt:lpstr>楷体</vt:lpstr>
      <vt:lpstr>Arial Unicode MS</vt:lpstr>
      <vt:lpstr>等线</vt:lpstr>
      <vt:lpstr>Symbol</vt:lpstr>
      <vt:lpstr>Consolas</vt:lpstr>
      <vt:lpstr>Symbol</vt:lpstr>
      <vt:lpstr>CMSS10</vt:lpstr>
      <vt:lpstr>Segoe Print</vt:lpstr>
      <vt:lpstr>Times New Roman</vt:lpstr>
      <vt:lpstr>Cambria Math</vt:lpstr>
      <vt:lpstr>MS PGothic</vt:lpstr>
      <vt:lpstr>1</vt:lpstr>
      <vt:lpstr>PowerPoint 演示文稿</vt:lpstr>
      <vt:lpstr>PowerPoint 演示文稿</vt:lpstr>
      <vt:lpstr>PowerPoint 演示文稿</vt:lpstr>
      <vt:lpstr>网络环境中常见攻击</vt:lpstr>
      <vt:lpstr>认证服务</vt:lpstr>
      <vt:lpstr>例: TCP帧校验码</vt:lpstr>
      <vt:lpstr>例: TCP帧校验码</vt:lpstr>
      <vt:lpstr>PowerPoint 演示文稿</vt:lpstr>
      <vt:lpstr>消息认证服务的实现机制</vt:lpstr>
      <vt:lpstr>消息加密实现认证</vt:lpstr>
      <vt:lpstr>消息加密实现认证</vt:lpstr>
      <vt:lpstr>消息加密实现认证</vt:lpstr>
      <vt:lpstr>消息加密实现认证</vt:lpstr>
      <vt:lpstr>消息认证码MAC</vt:lpstr>
      <vt:lpstr>MAC的基本使用方式</vt:lpstr>
      <vt:lpstr>MAC的应用场合</vt:lpstr>
      <vt:lpstr>对MAC的攻击</vt:lpstr>
      <vt:lpstr>对MAC的要求</vt:lpstr>
      <vt:lpstr>数据认证算法(DAA)FIPS PUB 113</vt:lpstr>
      <vt:lpstr>杂凑函数Hash function</vt:lpstr>
      <vt:lpstr>杂凑函数的使用</vt:lpstr>
      <vt:lpstr>杂凑函数的使用</vt:lpstr>
      <vt:lpstr>杂凑函数的使用</vt:lpstr>
      <vt:lpstr>简单杂凑函数例子</vt:lpstr>
      <vt:lpstr>密码学对杂凑函数的要求</vt:lpstr>
      <vt:lpstr>不能抗弱碰撞的一种设计反例</vt:lpstr>
      <vt:lpstr>生日悖论</vt:lpstr>
      <vt:lpstr>生日悖论的推广</vt:lpstr>
      <vt:lpstr>生日悖论的推广</vt:lpstr>
      <vt:lpstr>基于生日悖论的攻击：制作假消息的生日攻击</vt:lpstr>
      <vt:lpstr>基于生日悖论的攻击：恶意程序的伪装</vt:lpstr>
      <vt:lpstr>基于生日悖论的攻击：恶意程序的伪装</vt:lpstr>
      <vt:lpstr>基于生日悖论的攻击：伪造电子签名文档</vt:lpstr>
      <vt:lpstr>基于生日攻击的“中间相遇”攻击</vt:lpstr>
      <vt:lpstr>PowerPoint 演示文稿</vt:lpstr>
      <vt:lpstr>典型的安全杂凑函数链接结构</vt:lpstr>
      <vt:lpstr>杂凑函数安全性</vt:lpstr>
      <vt:lpstr>信息摘要算法MD5(RFC 1321)</vt:lpstr>
      <vt:lpstr>MD5的压缩函数HMD5</vt:lpstr>
      <vt:lpstr>MD5单步操作(压缩函数)</vt:lpstr>
      <vt:lpstr>MD5单步操作的固定数</vt:lpstr>
      <vt:lpstr>MD5每步操作的abcd、k、s、i</vt:lpstr>
      <vt:lpstr>MD5的强度</vt:lpstr>
      <vt:lpstr>安全杂凑算法SHA</vt:lpstr>
      <vt:lpstr>安全杂凑算法SHA-1</vt:lpstr>
      <vt:lpstr>SHA-1的压缩函数</vt:lpstr>
      <vt:lpstr>SHA-1的消息扩展</vt:lpstr>
      <vt:lpstr>SHA-1单步操作</vt:lpstr>
      <vt:lpstr>SHA-1与MD-5的比较</vt:lpstr>
      <vt:lpstr>SHA修订版本</vt:lpstr>
      <vt:lpstr>SHA修订版本</vt:lpstr>
      <vt:lpstr>RipeMD-160</vt:lpstr>
      <vt:lpstr>RipeMD-160算法步骤</vt:lpstr>
      <vt:lpstr>RipeMD-160单步操作</vt:lpstr>
      <vt:lpstr>RipeMD-160单步操作</vt:lpstr>
      <vt:lpstr>RipeMD-160 vs. MD5 &amp; SHA-1</vt:lpstr>
      <vt:lpstr>Whirlpool</vt:lpstr>
      <vt:lpstr>Whirlpool整体结构</vt:lpstr>
      <vt:lpstr>Whirlpool单分组结构</vt:lpstr>
      <vt:lpstr>Whirlpool单分组结构</vt:lpstr>
      <vt:lpstr>Whirlpool单分组结构</vt:lpstr>
      <vt:lpstr>Whirlpool单分组结构</vt:lpstr>
      <vt:lpstr>Whirlpool单分组结构</vt:lpstr>
      <vt:lpstr>Whirlpool单分组结构</vt:lpstr>
      <vt:lpstr>Whirlpool性能与安全性</vt:lpstr>
      <vt:lpstr>SM3</vt:lpstr>
      <vt:lpstr>SM3算法步骤</vt:lpstr>
      <vt:lpstr>SM3单步操作</vt:lpstr>
      <vt:lpstr>SM3消息扩展</vt:lpstr>
      <vt:lpstr>消息验证码算法</vt:lpstr>
      <vt:lpstr>HMAC</vt:lpstr>
      <vt:lpstr>HMAC</vt:lpstr>
      <vt:lpstr>HMAC预运算</vt:lpstr>
      <vt:lpstr>HMAC安全性</vt:lpstr>
      <vt:lpstr>CMAC</vt:lpstr>
      <vt:lpstr>CMAC总体结构</vt:lpstr>
      <vt:lpstr>常用的既加密又认证的模式</vt:lpstr>
      <vt:lpstr>常用的既加密又认证的模式</vt:lpstr>
      <vt:lpstr>Galois/计数器模式GCM</vt:lpstr>
      <vt:lpstr>Galois/计数器模式GCM</vt:lpstr>
      <vt:lpstr>密钥封装</vt:lpstr>
      <vt:lpstr>密钥封装</vt:lpstr>
      <vt:lpstr>基于认证算法的PRNG</vt:lpstr>
      <vt:lpstr>PowerPoint 演示文稿</vt:lpstr>
      <vt:lpstr>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哎呀小小草</dc:title>
  <dc:creator>哎呀小小草</dc:creator>
  <cp:keywords>https:/800sucai.taobao.com</cp:keywords>
  <dc:description>https://800sucai.taobao.com</dc:description>
  <dc:subject>哎呀小小草</dc:subject>
  <cp:category>https://800sucai.taobao.com</cp:category>
  <cp:lastModifiedBy>h^2 g</cp:lastModifiedBy>
  <cp:revision>217</cp:revision>
  <dcterms:created xsi:type="dcterms:W3CDTF">2019-07-28T11:54:00Z</dcterms:created>
  <dcterms:modified xsi:type="dcterms:W3CDTF">2026-05-26T03:39:04Z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86F14BE6354D4A7EBDF79913B1CB0C9E_12</vt:lpwstr>
  </property>
</Properties>
</file>